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5486400" cy="548640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206240"/>
            <a:ext cx="5029200" cy="502920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463040"/>
            <a:ext cx="2743200" cy="2743200"/>
          </a:xfrm>
          <a:prstGeom prst="ellipse">
            <a:avLst/>
          </a:prstGeom>
          <a:solidFill>
            <a:srgbClr val="C9A15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HERBALANCE AI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Personalized Women's Wellness Companion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2011680" cy="0"/>
          </a:xfrm>
          <a:prstGeom prst="line">
            <a:avLst/>
          </a:prstGeom>
          <a:noFill/>
          <a:ln w="25400">
            <a:solidFill>
              <a:srgbClr val="C9A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P Santh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S Pooja Lekshmi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Jose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A Devinandana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health management is often fragmented — making it difficult to access personalized guidance for skincare, medicine safety, cycle tracking, and health records all in one place. Most existing tools solve only a single piece of the puzzle.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/home/claude/herbalance/icons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23660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185416"/>
            <a:ext cx="9692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products are often chosen based on ads or trends rather than individual skin type or allergies.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026664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/home/claude/herbalance/icons/p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3152394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971800"/>
            <a:ext cx="9692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are used without awareness of allergic reactions or personal health precautions.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813048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2" name="Image 2" descr="/home/claude/herbalance/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938778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758184"/>
            <a:ext cx="9692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Menstrual tracking apps predict dates but rarely offer personalized wellness guidance.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4599432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5" name="Image 3" descr="/home/claude/herbalance/icons/heartb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4725162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4544568"/>
            <a:ext cx="9692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like PCOS need customized lifestyle support most apps don't provide.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48640" y="5385816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8" name="Image 4" descr="/home/claude/herbalance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5511546"/>
            <a:ext cx="251460" cy="2514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5330952"/>
            <a:ext cx="9692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health information is scattered across many disconnected applications.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CHANGE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This Important?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617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informed decisions before using cosmetics or medicines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allergic reaction risk through personalized ingredient analysis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healthier choices across menstrual phases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AI recommendations tailored to each user's health profile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by combining multiple wellness services into one app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preventive healthcare and overall well-being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5623560" cy="4846320"/>
          </a:xfrm>
          <a:prstGeom prst="roundRect">
            <a:avLst>
              <a:gd name="adj" fmla="val 2264"/>
            </a:avLst>
          </a:prstGeom>
          <a:solidFill>
            <a:srgbClr val="6D2E46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Users: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app for personalized wellness guidance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276148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Professionals: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reliable health &amp; wellness recommendations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09360" y="341985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Dermatologists: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skincare and cosmetic ingredient analysis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4078224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Gynecologists: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menstrual health and reproductive expertise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4736592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Nutritionists &amp; Fitness Experts: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personalized diet and exercise plans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539496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Develop, maintain, and update the application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828800"/>
            <a:ext cx="731520" cy="73152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6" name="Image 0" descr="/home/claude/herbalance/icons/stakehol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51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of All Age Groups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06240" y="15544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54980" y="1828800"/>
            <a:ext cx="731520" cy="73152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0" name="Image 1" descr="/home/claude/herbalance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2651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Working Professionals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863840" y="15544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212580" y="1828800"/>
            <a:ext cx="731520" cy="73152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4" name="Image 2" descr="/home/claude/herbalance/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20116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0" y="26517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With Irregular Menstrual Cycles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897380" y="4069080"/>
            <a:ext cx="731520" cy="73152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8" name="Image 3" descr="/home/claude/herbalanc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260" y="425196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" y="48920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With Sensitive Skin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206240" y="37947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554980" y="4069080"/>
            <a:ext cx="731520" cy="73152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22" name="Image 4" descr="/home/claude/herbalance/icons/lea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860" y="425196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89120" y="48920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Seeking Safe Cosmetic Recommendations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863840" y="37947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9212580" y="4069080"/>
            <a:ext cx="731520" cy="73152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26" name="Image 5" descr="/home/claude/herbalance/icons/heartbea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5460" y="425196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46720" y="48920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Professionals Assisting Patients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HerBalance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HerBalance AI is a smart women's wellness companion that securely stores each user's personal health profile and delivers personalized recommendations using Artificial Intelligence — combining skin analysis, cosmetic and medicine safety, cycle prediction, and health records into a single platform.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542032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7" name="Image 0" descr="/home/claude/herbalance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6" y="267370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7744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Skin Type &amp; Skin Tone Detection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43600" y="237744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08192" y="2542032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1" descr="/home/claude/herbalance/icons/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866" y="267370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237744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Cosmetic Recommendations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447288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3232" y="361188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5" name="Image 2" descr="/home/claude/herbalance/icons/pil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6" y="37435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447288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Safety Checker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943600" y="3447288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08192" y="361188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9" name="Image 3" descr="/home/claude/herbalance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866" y="374355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3447288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Menstrual Cycle Prediction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48640" y="4517136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13232" y="4681728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3" name="Image 4" descr="/home/claude/herbalance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6" y="4813402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4517136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Digital Health Record Management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5943600" y="4517136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108192" y="4681728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7" name="Image 5" descr="/home/claude/herbalance/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9866" y="4813402"/>
            <a:ext cx="285293" cy="28529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12280" y="4517136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Health Insights &amp; Dashboard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/home/claude/herbalanc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741932"/>
            <a:ext cx="283464" cy="2834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25880" y="1618488"/>
            <a:ext cx="9692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08760" y="1618488"/>
            <a:ext cx="9326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AI-powered personalized healthcare assistant for women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9" name="Image 1" descr="/home/claude/herbalance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656332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25880" y="2532888"/>
            <a:ext cx="9692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508760" y="2532888"/>
            <a:ext cx="9326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skincare decisions through AI-based skin analysis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42900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2" descr="/home/claude/herbalanc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570732"/>
            <a:ext cx="283464" cy="28346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325880" y="3447288"/>
            <a:ext cx="9692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508760" y="3447288"/>
            <a:ext cx="9326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verify medicine safety before use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343400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7" name="Image 3" descr="/home/claude/herbalance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485132"/>
            <a:ext cx="283464" cy="28346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325880" y="4361688"/>
            <a:ext cx="9692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508760" y="4361688"/>
            <a:ext cx="9326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menstrual cycles accurately using AI models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257800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4" descr="/home/claude/herbalance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399532"/>
            <a:ext cx="283464" cy="28346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325880" y="5276088"/>
            <a:ext cx="9692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508760" y="5276088"/>
            <a:ext cx="9326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secure, unified digital health records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&amp; FUTURE 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Scope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women's healthcare platform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analysis using computer vision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recommendation system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information verification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health record storage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463040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6D2E4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0" y="1783080"/>
            <a:ext cx="640080" cy="64008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8" name="Image 0" descr="/home/claude/herbalance/icons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4818" y="192709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78040" y="18105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Integration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0" y="26060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hospitals for verified medical guidance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with wearable devices for real-time health data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services for direct professional consultation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&amp; Its Drawbacks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ECE2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Methods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6177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skincare consultation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cosmetic recommendation apps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period tracker applications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medical records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Internet-based medicine searches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463040"/>
            <a:ext cx="5623560" cy="4754880"/>
          </a:xfrm>
          <a:prstGeom prst="roundRect">
            <a:avLst>
              <a:gd name="adj" fmla="val 2308"/>
            </a:avLst>
          </a:prstGeom>
          <a:solidFill>
            <a:srgbClr val="4A1F30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Drawbacks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63640" y="21488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recommendations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 multiple applications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AI assistance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health record management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integrated healthcare support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1907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/ Login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95928" y="1554480"/>
            <a:ext cx="201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06240" y="155448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ECE2D0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71907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4370832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Face Image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53528" y="1554480"/>
            <a:ext cx="201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0" y="155448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28432" y="1719072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028432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0" y="16459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Skin Analysis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044952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ECE2D0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209544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209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3136392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Type &amp; Tone Detection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995928" y="3044952"/>
            <a:ext cx="201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206240" y="3044952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0832" y="3209544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4370832" y="3209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37760" y="3136392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Cosmetic Recommendations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653528" y="3044952"/>
            <a:ext cx="201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863840" y="3044952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ECE2D0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28432" y="3209544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0" name="Text 28"/>
          <p:cNvSpPr/>
          <p:nvPr/>
        </p:nvSpPr>
        <p:spPr>
          <a:xfrm>
            <a:off x="8028432" y="3209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95360" y="3136392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Safety Verification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535424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" y="4700016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80160" y="4626864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Prediction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995928" y="4535424"/>
            <a:ext cx="201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4206240" y="4535424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ECE2D0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70832" y="4700016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9" name="Text 37"/>
          <p:cNvSpPr/>
          <p:nvPr/>
        </p:nvSpPr>
        <p:spPr>
          <a:xfrm>
            <a:off x="4370832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937760" y="4626864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 Storage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653528" y="4535424"/>
            <a:ext cx="2011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863840" y="4535424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28432" y="4700016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4" name="Text 42"/>
          <p:cNvSpPr/>
          <p:nvPr/>
        </p:nvSpPr>
        <p:spPr>
          <a:xfrm>
            <a:off x="8028432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595360" y="4626864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Health Dashboard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06624" y="160020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16352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16352" y="2057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64608" y="160020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74336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74336" y="2057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Development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22592" y="160020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2057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Detection (Computer Vision)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80576" y="160020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90304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90304" y="2057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" y="3794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Verification Module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06624" y="33375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816352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816352" y="3794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Prediction Model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64608" y="33375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74336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74336" y="3794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22592" y="33375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32320" y="3794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180576" y="3337560"/>
            <a:ext cx="2048256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290304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290304" y="3794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48256" cy="100584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06624" y="1828800"/>
            <a:ext cx="2048256" cy="1005840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2798064" y="182880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64608" y="1828800"/>
            <a:ext cx="2048256" cy="100584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4956048" y="182880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22592" y="1828800"/>
            <a:ext cx="2048256" cy="1005840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/>
        </p:spPr>
      </p:sp>
      <p:sp>
        <p:nvSpPr>
          <p:cNvPr id="11" name="Text 9"/>
          <p:cNvSpPr/>
          <p:nvPr/>
        </p:nvSpPr>
        <p:spPr>
          <a:xfrm>
            <a:off x="7114032" y="182880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80576" y="1828800"/>
            <a:ext cx="2048256" cy="100584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9272016" y="182880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MongoDB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048256" cy="1005840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2048256" cy="100584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2798064" y="306324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 / Tesseract OCR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64608" y="3063240"/>
            <a:ext cx="2048256" cy="1005840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306324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22592" y="3063240"/>
            <a:ext cx="2048256" cy="100584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7114032" y="306324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80576" y="3063240"/>
            <a:ext cx="2048256" cy="1005840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/>
        </p:spPr>
      </p:sp>
      <p:sp>
        <p:nvSpPr>
          <p:cNvPr id="23" name="Text 21"/>
          <p:cNvSpPr/>
          <p:nvPr/>
        </p:nvSpPr>
        <p:spPr>
          <a:xfrm>
            <a:off x="9272016" y="306324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mobile, backend services, AI/ML, computer vision, and version control — a full-stack toolkit built for rapid, reliable development.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Benefits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/home/claude/herbalance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06288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skin analysis &amp; personalized cosmetic recommendations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43600" y="160020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26480" y="1920240"/>
            <a:ext cx="594360" cy="5943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0" name="Image 1" descr="/home/claude/herbalance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126" y="206288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0" y="169164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menstrual health tracking with phase-based insights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06324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3383280"/>
            <a:ext cx="594360" cy="5943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4" name="Image 2" descr="/home/claude/herbalanc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52592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15468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medicine safety awareness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0" y="306324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26480" y="3383280"/>
            <a:ext cx="594360" cy="5943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8" name="Image 3" descr="/home/claude/herbalance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126" y="352592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315468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unified health record management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31520" y="4846320"/>
            <a:ext cx="594360" cy="5943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2" name="Image 4" descr="/home/claude/herbalance/icons/lea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4988966"/>
            <a:ext cx="309067" cy="30906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461772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diet &amp; exercise recommendations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943600" y="452628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126480" y="4846320"/>
            <a:ext cx="594360" cy="5943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6" name="Image 5" descr="/home/claude/herbalanc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126" y="4988966"/>
            <a:ext cx="309067" cy="30906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58000" y="461772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healthcare decision-making through AI, improving quality of life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60704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66344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052560" y="1508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10607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659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965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1965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Finalized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2057400"/>
            <a:ext cx="1737360" cy="320040"/>
          </a:xfrm>
          <a:prstGeom prst="roundRect">
            <a:avLst>
              <a:gd name="adj" fmla="val 51429"/>
            </a:avLst>
          </a:prstGeom>
          <a:solidFill>
            <a:srgbClr val="3F7D4F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10607040" cy="50292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688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468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Ready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2560320"/>
            <a:ext cx="1737360" cy="320040"/>
          </a:xfrm>
          <a:prstGeom prst="roundRect">
            <a:avLst>
              <a:gd name="adj" fmla="val 51429"/>
            </a:avLst>
          </a:prstGeom>
          <a:solidFill>
            <a:srgbClr val="3F7D4F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10607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718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971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2971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Architecture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52560" y="3063240"/>
            <a:ext cx="1737360" cy="320040"/>
          </a:xfrm>
          <a:prstGeom prst="roundRect">
            <a:avLst>
              <a:gd name="adj" fmla="val 51429"/>
            </a:avLst>
          </a:prstGeom>
          <a:solidFill>
            <a:srgbClr val="3F7D4F"/>
          </a:solidFill>
          <a:ln/>
        </p:spPr>
      </p:sp>
      <p:sp>
        <p:nvSpPr>
          <p:cNvPr id="26" name="Text 24"/>
          <p:cNvSpPr/>
          <p:nvPr/>
        </p:nvSpPr>
        <p:spPr>
          <a:xfrm>
            <a:off x="9052560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474720"/>
            <a:ext cx="10607040" cy="50292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4747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Development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3474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3474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52560" y="3566160"/>
            <a:ext cx="1737360" cy="320040"/>
          </a:xfrm>
          <a:prstGeom prst="roundRect">
            <a:avLst>
              <a:gd name="adj" fmla="val 51429"/>
            </a:avLst>
          </a:prstGeom>
          <a:solidFill>
            <a:srgbClr val="C9A15A"/>
          </a:solidFill>
          <a:ln/>
        </p:spPr>
      </p:sp>
      <p:sp>
        <p:nvSpPr>
          <p:cNvPr id="32" name="Text 30"/>
          <p:cNvSpPr/>
          <p:nvPr/>
        </p:nvSpPr>
        <p:spPr>
          <a:xfrm>
            <a:off x="905256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3977640"/>
            <a:ext cx="10607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9776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3977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3977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052560" y="4069080"/>
            <a:ext cx="1737360" cy="320040"/>
          </a:xfrm>
          <a:prstGeom prst="roundRect">
            <a:avLst>
              <a:gd name="adj" fmla="val 51429"/>
            </a:avLst>
          </a:prstGeom>
          <a:solidFill>
            <a:srgbClr val="C9A15A"/>
          </a:solidFill>
          <a:ln/>
        </p:spPr>
      </p:sp>
      <p:sp>
        <p:nvSpPr>
          <p:cNvPr id="38" name="Text 36"/>
          <p:cNvSpPr/>
          <p:nvPr/>
        </p:nvSpPr>
        <p:spPr>
          <a:xfrm>
            <a:off x="9052560" y="4069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480560"/>
            <a:ext cx="10607040" cy="50292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480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63440" y="4480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75120" y="4480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Database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52560" y="4572000"/>
            <a:ext cx="1737360" cy="320040"/>
          </a:xfrm>
          <a:prstGeom prst="roundRect">
            <a:avLst>
              <a:gd name="adj" fmla="val 51429"/>
            </a:avLst>
          </a:prstGeom>
          <a:solidFill>
            <a:srgbClr val="C9A15A"/>
          </a:solidFill>
          <a:ln/>
        </p:spPr>
      </p:sp>
      <p:sp>
        <p:nvSpPr>
          <p:cNvPr id="44" name="Text 42"/>
          <p:cNvSpPr/>
          <p:nvPr/>
        </p:nvSpPr>
        <p:spPr>
          <a:xfrm>
            <a:off x="9052560" y="4572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4983480"/>
            <a:ext cx="10607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9834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63440" y="4983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75120" y="4983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052560" y="5074920"/>
            <a:ext cx="1737360" cy="320040"/>
          </a:xfrm>
          <a:prstGeom prst="roundRect">
            <a:avLst>
              <a:gd name="adj" fmla="val 51429"/>
            </a:avLst>
          </a:prstGeom>
          <a:solidFill>
            <a:srgbClr val="9A9A9A"/>
          </a:solidFill>
          <a:ln/>
        </p:spPr>
      </p:sp>
      <p:sp>
        <p:nvSpPr>
          <p:cNvPr id="50" name="Text 48"/>
          <p:cNvSpPr/>
          <p:nvPr/>
        </p:nvSpPr>
        <p:spPr>
          <a:xfrm>
            <a:off x="9052560" y="50749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5486400"/>
            <a:ext cx="10607040" cy="50292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5486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663440" y="5486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675120" y="5486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System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052560" y="5577840"/>
            <a:ext cx="1737360" cy="320040"/>
          </a:xfrm>
          <a:prstGeom prst="roundRect">
            <a:avLst>
              <a:gd name="adj" fmla="val 51429"/>
            </a:avLst>
          </a:prstGeom>
          <a:solidFill>
            <a:srgbClr val="9A9A9A"/>
          </a:solidFill>
          <a:ln/>
        </p:spPr>
      </p:sp>
      <p:sp>
        <p:nvSpPr>
          <p:cNvPr id="56" name="Text 54"/>
          <p:cNvSpPr/>
          <p:nvPr/>
        </p:nvSpPr>
        <p:spPr>
          <a:xfrm>
            <a:off x="9052560" y="5577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6D2E4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Women's Health Into One Intelligent Platform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HerBalance AI provides a comprehensive AI-powered healthcare platform designed specifically for women. By combining skin analysis, cosmetic recommendations, medicine verification, menstrual cycle prediction, and secure health record management into a single application, it enables users to make informed healthcare decisions and promotes better overall wellness.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504188" cy="411480"/>
          </a:xfrm>
          <a:prstGeom prst="roundRect">
            <a:avLst>
              <a:gd name="adj" fmla="val 48889"/>
            </a:avLst>
          </a:prstGeom>
          <a:solidFill>
            <a:srgbClr val="6D2E46"/>
          </a:solidFill>
          <a:ln w="12700">
            <a:solidFill>
              <a:srgbClr val="C9A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31920"/>
            <a:ext cx="15041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Analysis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35708" y="3931920"/>
            <a:ext cx="1696212" cy="411480"/>
          </a:xfrm>
          <a:prstGeom prst="roundRect">
            <a:avLst>
              <a:gd name="adj" fmla="val 48889"/>
            </a:avLst>
          </a:prstGeom>
          <a:solidFill>
            <a:srgbClr val="6D2E46"/>
          </a:solidFill>
          <a:ln w="12700">
            <a:solidFill>
              <a:srgbClr val="C9A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35708" y="3931920"/>
            <a:ext cx="16962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Safety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0" y="3931920"/>
            <a:ext cx="2272284" cy="411480"/>
          </a:xfrm>
          <a:prstGeom prst="roundRect">
            <a:avLst>
              <a:gd name="adj" fmla="val 48889"/>
            </a:avLst>
          </a:prstGeom>
          <a:solidFill>
            <a:srgbClr val="6D2E46"/>
          </a:solidFill>
          <a:ln w="12700">
            <a:solidFill>
              <a:srgbClr val="C9A1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3931920"/>
            <a:ext cx="22722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Verification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69964" y="3931920"/>
            <a:ext cx="1792224" cy="411480"/>
          </a:xfrm>
          <a:prstGeom prst="roundRect">
            <a:avLst>
              <a:gd name="adj" fmla="val 48889"/>
            </a:avLst>
          </a:prstGeom>
          <a:solidFill>
            <a:srgbClr val="6D2E46"/>
          </a:solidFill>
          <a:ln w="12700">
            <a:solidFill>
              <a:srgbClr val="C9A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9964" y="393192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Prediction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545068" y="393192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6D2E46"/>
          </a:solidFill>
          <a:ln w="12700">
            <a:solidFill>
              <a:srgbClr val="C9A1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5068" y="39319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51560" y="15544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A. Alkhodair, A. Alshammari, and H. Alqahtani, “Women's Health Recommendation System Using Large Language Models,” IEEE IATMSI, 2025.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Liu et al., “Machine Learning Based Menstrual Phase Identification Using Wearable Device Data,” npj Women's Health, vol. 2, 2025.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24688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 (WHO) – Women's Health Reports.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29260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Institutes of Health (NIH).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33832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Documentation.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38404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Documentation.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42976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Documentation.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47548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Documentation.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51560" y="52120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Documentation.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6692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56692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&amp; Machine Learning Resources.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474720"/>
            <a:ext cx="5486400" cy="548640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HerBalance AI — Group 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2026-07-20T15:26:32Z</dcterms:created>
  <dcterms:modified xsi:type="dcterms:W3CDTF">2026-07-20T15:26:32Z</dcterms:modified>
</cp:coreProperties>
</file>