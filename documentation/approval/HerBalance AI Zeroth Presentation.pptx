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ambria Bold" charset="1" panose="02040803050406030204"/>
      <p:regular r:id="rId18"/>
    </p:embeddedFont>
    <p:embeddedFont>
      <p:font typeface="Calibri (MS) Italics" charset="1" panose="020F05020202040A0204"/>
      <p:regular r:id="rId19"/>
    </p:embeddedFont>
    <p:embeddedFont>
      <p:font typeface="Calibri (MS) Bold" charset="1" panose="020F0702030404030204"/>
      <p:regular r:id="rId20"/>
    </p:embeddedFont>
    <p:embeddedFont>
      <p:font typeface="Calibri (MS)" charset="1" panose="020F0502020204030204"/>
      <p:regular r:id="rId21"/>
    </p:embeddedFont>
    <p:embeddedFont>
      <p:font typeface="Cambria Bold Italics" charset="1" panose="020408030504060A0204"/>
      <p:regular r:id="rId24"/>
    </p:embeddedFont>
    <p:embeddedFont>
      <p:font typeface="Cambria Italics" charset="1" panose="020405030504060A02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fonts/font24.fntdata" Type="http://schemas.openxmlformats.org/officeDocument/2006/relationships/font"/><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jpe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3.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 Id="rId4" Target="../media/image9.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jpe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jpeg" Type="http://schemas.openxmlformats.org/officeDocument/2006/relationships/image"/><Relationship Id="rId4" Target="../media/image12.png" Type="http://schemas.openxmlformats.org/officeDocument/2006/relationships/image"/><Relationship Id="rId5" Target="../media/image4.png" Type="http://schemas.openxmlformats.org/officeDocument/2006/relationships/image"/><Relationship Id="rId6" Target="../media/image13.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jpeg" Type="http://schemas.openxmlformats.org/officeDocument/2006/relationships/image"/><Relationship Id="rId4"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7.png" Type="http://schemas.openxmlformats.org/officeDocument/2006/relationships/image"/><Relationship Id="rId2" Target="../notesSlides/notesSlide8.xml" Type="http://schemas.openxmlformats.org/officeDocument/2006/relationships/notesSlide"/><Relationship Id="rId3" Target="../media/image2.jpe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 Id="rId9"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4A1F30"/>
        </a:solidFill>
      </p:bgPr>
    </p:bg>
    <p:spTree>
      <p:nvGrpSpPr>
        <p:cNvPr id="1" name=""/>
        <p:cNvGrpSpPr/>
        <p:nvPr/>
      </p:nvGrpSpPr>
      <p:grpSpPr>
        <a:xfrm>
          <a:off x="0" y="0"/>
          <a:ext cx="0" cy="0"/>
          <a:chOff x="0" y="0"/>
          <a:chExt cx="0" cy="0"/>
        </a:xfrm>
      </p:grpSpPr>
      <p:grpSp>
        <p:nvGrpSpPr>
          <p:cNvPr name="Group 2" id="2"/>
          <p:cNvGrpSpPr/>
          <p:nvPr/>
        </p:nvGrpSpPr>
        <p:grpSpPr>
          <a:xfrm rot="0">
            <a:off x="13167360" y="-301752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6400800"/>
                  </a:moveTo>
                  <a:cubicBezTo>
                    <a:pt x="0" y="2865755"/>
                    <a:pt x="2865755" y="0"/>
                    <a:pt x="6400800" y="0"/>
                  </a:cubicBezTo>
                  <a:cubicBezTo>
                    <a:pt x="9935845" y="0"/>
                    <a:pt x="12801600" y="2865755"/>
                    <a:pt x="12801600" y="6400800"/>
                  </a:cubicBezTo>
                  <a:cubicBezTo>
                    <a:pt x="12801600" y="9935845"/>
                    <a:pt x="9935845" y="12801600"/>
                    <a:pt x="6400800" y="12801600"/>
                  </a:cubicBezTo>
                  <a:cubicBezTo>
                    <a:pt x="2865755" y="12801600"/>
                    <a:pt x="0" y="9935845"/>
                    <a:pt x="0" y="6400800"/>
                  </a:cubicBezTo>
                  <a:close/>
                </a:path>
              </a:pathLst>
            </a:custGeom>
            <a:solidFill>
              <a:srgbClr val="6D2E46">
                <a:alpha val="35686"/>
              </a:srgbClr>
            </a:solidFill>
          </p:spPr>
        </p:sp>
      </p:grpSp>
      <p:grpSp>
        <p:nvGrpSpPr>
          <p:cNvPr name="Group 4" id="4"/>
          <p:cNvGrpSpPr/>
          <p:nvPr/>
        </p:nvGrpSpPr>
        <p:grpSpPr>
          <a:xfrm rot="0">
            <a:off x="14538960" y="-1371600"/>
            <a:ext cx="5760720" cy="5760720"/>
            <a:chOff x="0" y="0"/>
            <a:chExt cx="7680960" cy="7680960"/>
          </a:xfrm>
        </p:grpSpPr>
        <p:sp>
          <p:nvSpPr>
            <p:cNvPr name="Freeform 5" id="5"/>
            <p:cNvSpPr/>
            <p:nvPr/>
          </p:nvSpPr>
          <p:spPr>
            <a:xfrm flipH="false" flipV="false" rot="0">
              <a:off x="0" y="0"/>
              <a:ext cx="7680960" cy="7680960"/>
            </a:xfrm>
            <a:custGeom>
              <a:avLst/>
              <a:gdLst/>
              <a:ahLst/>
              <a:cxnLst/>
              <a:rect r="r" b="b" t="t" l="l"/>
              <a:pathLst>
                <a:path h="7680960" w="7680960">
                  <a:moveTo>
                    <a:pt x="0" y="3840480"/>
                  </a:moveTo>
                  <a:cubicBezTo>
                    <a:pt x="0" y="1719453"/>
                    <a:pt x="1719453" y="0"/>
                    <a:pt x="3840480" y="0"/>
                  </a:cubicBezTo>
                  <a:cubicBezTo>
                    <a:pt x="5961507" y="0"/>
                    <a:pt x="7680960" y="1719453"/>
                    <a:pt x="7680960" y="3840480"/>
                  </a:cubicBezTo>
                  <a:cubicBezTo>
                    <a:pt x="7680960" y="5961507"/>
                    <a:pt x="5961507" y="7680960"/>
                    <a:pt x="3840480" y="7680960"/>
                  </a:cubicBezTo>
                  <a:cubicBezTo>
                    <a:pt x="1719453" y="7680960"/>
                    <a:pt x="0" y="5961507"/>
                    <a:pt x="0" y="3840480"/>
                  </a:cubicBezTo>
                  <a:close/>
                </a:path>
              </a:pathLst>
            </a:custGeom>
            <a:solidFill>
              <a:srgbClr val="A26769">
                <a:alpha val="41961"/>
              </a:srgbClr>
            </a:solidFill>
          </p:spPr>
        </p:sp>
      </p:grpSp>
      <p:grpSp>
        <p:nvGrpSpPr>
          <p:cNvPr name="Group 6" id="6"/>
          <p:cNvGrpSpPr/>
          <p:nvPr/>
        </p:nvGrpSpPr>
        <p:grpSpPr>
          <a:xfrm rot="0">
            <a:off x="1028700" y="1028700"/>
            <a:ext cx="1165860" cy="1165860"/>
            <a:chOff x="0" y="0"/>
            <a:chExt cx="1554480" cy="1554480"/>
          </a:xfrm>
        </p:grpSpPr>
        <p:sp>
          <p:nvSpPr>
            <p:cNvPr name="Freeform 7" id="7"/>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A26769"/>
            </a:solidFill>
          </p:spPr>
        </p:sp>
      </p:grpSp>
      <p:grpSp>
        <p:nvGrpSpPr>
          <p:cNvPr name="Group 8" id="8"/>
          <p:cNvGrpSpPr/>
          <p:nvPr/>
        </p:nvGrpSpPr>
        <p:grpSpPr>
          <a:xfrm rot="0">
            <a:off x="1308506" y="1308506"/>
            <a:ext cx="606247" cy="606247"/>
            <a:chOff x="0" y="0"/>
            <a:chExt cx="808330" cy="808330"/>
          </a:xfrm>
        </p:grpSpPr>
        <p:sp>
          <p:nvSpPr>
            <p:cNvPr name="Freeform 9" id="9" descr="/home/claude/herbalance/icon_leaf.png"/>
            <p:cNvSpPr/>
            <p:nvPr/>
          </p:nvSpPr>
          <p:spPr>
            <a:xfrm flipH="false" flipV="false" rot="0">
              <a:off x="0" y="0"/>
              <a:ext cx="808355" cy="808355"/>
            </a:xfrm>
            <a:custGeom>
              <a:avLst/>
              <a:gdLst/>
              <a:ahLst/>
              <a:cxnLst/>
              <a:rect r="r" b="b" t="t" l="l"/>
              <a:pathLst>
                <a:path h="808355" w="808355">
                  <a:moveTo>
                    <a:pt x="0" y="0"/>
                  </a:moveTo>
                  <a:lnTo>
                    <a:pt x="808355" y="0"/>
                  </a:lnTo>
                  <a:lnTo>
                    <a:pt x="808355" y="808355"/>
                  </a:lnTo>
                  <a:lnTo>
                    <a:pt x="0" y="808355"/>
                  </a:lnTo>
                  <a:lnTo>
                    <a:pt x="0" y="0"/>
                  </a:lnTo>
                  <a:close/>
                </a:path>
              </a:pathLst>
            </a:custGeom>
            <a:blipFill>
              <a:blip r:embed="rId3"/>
              <a:stretch>
                <a:fillRect l="0" t="0" r="3" b="3"/>
              </a:stretch>
            </a:blipFill>
          </p:spPr>
        </p:sp>
      </p:grpSp>
      <p:grpSp>
        <p:nvGrpSpPr>
          <p:cNvPr name="Group 10" id="10"/>
          <p:cNvGrpSpPr/>
          <p:nvPr/>
        </p:nvGrpSpPr>
        <p:grpSpPr>
          <a:xfrm rot="0">
            <a:off x="960120" y="3497580"/>
            <a:ext cx="14401800" cy="1508760"/>
            <a:chOff x="0" y="0"/>
            <a:chExt cx="19202400" cy="2011680"/>
          </a:xfrm>
        </p:grpSpPr>
        <p:sp>
          <p:nvSpPr>
            <p:cNvPr name="Freeform 11" id="11"/>
            <p:cNvSpPr/>
            <p:nvPr/>
          </p:nvSpPr>
          <p:spPr>
            <a:xfrm flipH="false" flipV="false" rot="0">
              <a:off x="0" y="0"/>
              <a:ext cx="19202400" cy="2011680"/>
            </a:xfrm>
            <a:custGeom>
              <a:avLst/>
              <a:gdLst/>
              <a:ahLst/>
              <a:cxnLst/>
              <a:rect r="r" b="b" t="t" l="l"/>
              <a:pathLst>
                <a:path h="2011680" w="19202400">
                  <a:moveTo>
                    <a:pt x="0" y="0"/>
                  </a:moveTo>
                  <a:lnTo>
                    <a:pt x="19202400" y="0"/>
                  </a:lnTo>
                  <a:lnTo>
                    <a:pt x="19202400" y="2011680"/>
                  </a:lnTo>
                  <a:lnTo>
                    <a:pt x="0" y="2011680"/>
                  </a:lnTo>
                  <a:close/>
                </a:path>
              </a:pathLst>
            </a:custGeom>
            <a:blipFill>
              <a:blip r:embed="rId4">
                <a:alphaModFix amt="0"/>
              </a:blip>
              <a:stretch>
                <a:fillRect l="0" t="-135993" r="0" b="-135993"/>
              </a:stretch>
            </a:blipFill>
          </p:spPr>
        </p:sp>
        <p:sp>
          <p:nvSpPr>
            <p:cNvPr name="TextBox 12" id="12"/>
            <p:cNvSpPr txBox="true"/>
            <p:nvPr/>
          </p:nvSpPr>
          <p:spPr>
            <a:xfrm>
              <a:off x="0" y="-19050"/>
              <a:ext cx="19202400" cy="2030730"/>
            </a:xfrm>
            <a:prstGeom prst="rect">
              <a:avLst/>
            </a:prstGeom>
          </p:spPr>
          <p:txBody>
            <a:bodyPr anchor="ctr" rtlCol="false" tIns="0" lIns="0" bIns="0" rIns="0"/>
            <a:lstStyle/>
            <a:p>
              <a:pPr algn="l">
                <a:lnSpc>
                  <a:spcPts val="8640"/>
                </a:lnSpc>
              </a:pPr>
              <a:r>
                <a:rPr lang="en-US" sz="7200" b="true">
                  <a:solidFill>
                    <a:srgbClr val="FFFFFF"/>
                  </a:solidFill>
                  <a:latin typeface="Cambria Bold"/>
                  <a:ea typeface="Cambria Bold"/>
                  <a:cs typeface="Cambria Bold"/>
                  <a:sym typeface="Cambria Bold"/>
                </a:rPr>
                <a:t>HERBALANCE AI</a:t>
              </a:r>
            </a:p>
          </p:txBody>
        </p:sp>
      </p:grpSp>
      <p:grpSp>
        <p:nvGrpSpPr>
          <p:cNvPr name="Group 13" id="13"/>
          <p:cNvGrpSpPr/>
          <p:nvPr/>
        </p:nvGrpSpPr>
        <p:grpSpPr>
          <a:xfrm rot="0">
            <a:off x="1028700" y="4869180"/>
            <a:ext cx="13030200" cy="822960"/>
            <a:chOff x="0" y="0"/>
            <a:chExt cx="17373600" cy="1097280"/>
          </a:xfrm>
        </p:grpSpPr>
        <p:sp>
          <p:nvSpPr>
            <p:cNvPr name="Freeform 14" id="14"/>
            <p:cNvSpPr/>
            <p:nvPr/>
          </p:nvSpPr>
          <p:spPr>
            <a:xfrm flipH="false" flipV="false" rot="0">
              <a:off x="0" y="0"/>
              <a:ext cx="17373600" cy="1097280"/>
            </a:xfrm>
            <a:custGeom>
              <a:avLst/>
              <a:gdLst/>
              <a:ahLst/>
              <a:cxnLst/>
              <a:rect r="r" b="b" t="t" l="l"/>
              <a:pathLst>
                <a:path h="1097280" w="17373600">
                  <a:moveTo>
                    <a:pt x="0" y="0"/>
                  </a:moveTo>
                  <a:lnTo>
                    <a:pt x="17373600" y="0"/>
                  </a:lnTo>
                  <a:lnTo>
                    <a:pt x="17373600" y="1097280"/>
                  </a:lnTo>
                  <a:lnTo>
                    <a:pt x="0" y="1097280"/>
                  </a:lnTo>
                  <a:close/>
                </a:path>
              </a:pathLst>
            </a:custGeom>
            <a:blipFill>
              <a:blip r:embed="rId4">
                <a:alphaModFix amt="0"/>
              </a:blip>
              <a:stretch>
                <a:fillRect l="0" t="-258513" r="0" b="-258513"/>
              </a:stretch>
            </a:blipFill>
          </p:spPr>
        </p:sp>
        <p:sp>
          <p:nvSpPr>
            <p:cNvPr name="TextBox 15" id="15"/>
            <p:cNvSpPr txBox="true"/>
            <p:nvPr/>
          </p:nvSpPr>
          <p:spPr>
            <a:xfrm>
              <a:off x="0" y="-57150"/>
              <a:ext cx="17373600" cy="1154430"/>
            </a:xfrm>
            <a:prstGeom prst="rect">
              <a:avLst/>
            </a:prstGeom>
          </p:spPr>
          <p:txBody>
            <a:bodyPr anchor="ctr" rtlCol="false" tIns="0" lIns="0" bIns="0" rIns="0"/>
            <a:lstStyle/>
            <a:p>
              <a:pPr algn="l">
                <a:lnSpc>
                  <a:spcPts val="3240"/>
                </a:lnSpc>
              </a:pPr>
              <a:r>
                <a:rPr lang="en-US" sz="2700" i="true">
                  <a:solidFill>
                    <a:srgbClr val="ECE2D0"/>
                  </a:solidFill>
                  <a:latin typeface="Calibri (MS) Italics"/>
                  <a:ea typeface="Calibri (MS) Italics"/>
                  <a:cs typeface="Calibri (MS) Italics"/>
                  <a:sym typeface="Calibri (MS) Italics"/>
                </a:rPr>
                <a:t>An AI-Powered Women's Health &amp; Wellness Companion</a:t>
              </a:r>
            </a:p>
          </p:txBody>
        </p:sp>
      </p:grpSp>
      <p:grpSp>
        <p:nvGrpSpPr>
          <p:cNvPr name="Group 16" id="16"/>
          <p:cNvGrpSpPr/>
          <p:nvPr/>
        </p:nvGrpSpPr>
        <p:grpSpPr>
          <a:xfrm rot="0">
            <a:off x="1014412" y="5952172"/>
            <a:ext cx="4417695" cy="28575"/>
            <a:chOff x="0" y="0"/>
            <a:chExt cx="5890260" cy="38100"/>
          </a:xfrm>
        </p:grpSpPr>
        <p:sp>
          <p:nvSpPr>
            <p:cNvPr name="Freeform 17" id="17"/>
            <p:cNvSpPr/>
            <p:nvPr/>
          </p:nvSpPr>
          <p:spPr>
            <a:xfrm flipH="false" flipV="false" rot="0">
              <a:off x="0" y="0"/>
              <a:ext cx="5890260" cy="38100"/>
            </a:xfrm>
            <a:custGeom>
              <a:avLst/>
              <a:gdLst/>
              <a:ahLst/>
              <a:cxnLst/>
              <a:rect r="r" b="b" t="t" l="l"/>
              <a:pathLst>
                <a:path h="38100" w="5890260">
                  <a:moveTo>
                    <a:pt x="0" y="0"/>
                  </a:moveTo>
                  <a:lnTo>
                    <a:pt x="5890260" y="38100"/>
                  </a:lnTo>
                </a:path>
              </a:pathLst>
            </a:custGeom>
            <a:blipFill>
              <a:blip r:embed="rId4">
                <a:alphaModFix amt="0"/>
              </a:blip>
              <a:stretch>
                <a:fillRect l="0" t="-2962386" r="0" b="-2962386"/>
              </a:stretch>
            </a:blipFill>
            <a:ln w="28575" cap="sq">
              <a:solidFill>
                <a:srgbClr val="A26769"/>
              </a:solidFill>
              <a:prstDash val="solid"/>
              <a:miter/>
            </a:ln>
          </p:spPr>
        </p:sp>
      </p:grpSp>
      <p:sp>
        <p:nvSpPr>
          <p:cNvPr name="TextBox 18" id="18"/>
          <p:cNvSpPr txBox="true"/>
          <p:nvPr/>
        </p:nvSpPr>
        <p:spPr>
          <a:xfrm rot="0">
            <a:off x="1120140" y="6395085"/>
            <a:ext cx="7360920" cy="1914525"/>
          </a:xfrm>
          <a:prstGeom prst="rect">
            <a:avLst/>
          </a:prstGeom>
        </p:spPr>
        <p:txBody>
          <a:bodyPr anchor="t" rtlCol="false" tIns="0" lIns="0" bIns="0" rIns="0">
            <a:spAutoFit/>
          </a:bodyPr>
          <a:lstStyle/>
          <a:p>
            <a:pPr algn="l">
              <a:lnSpc>
                <a:spcPts val="1980"/>
              </a:lnSpc>
            </a:pPr>
            <a:r>
              <a:rPr lang="en-US" sz="1650" b="true">
                <a:solidFill>
                  <a:srgbClr val="C9B7BB"/>
                </a:solidFill>
                <a:latin typeface="Calibri (MS) Bold"/>
                <a:ea typeface="Calibri (MS) Bold"/>
                <a:cs typeface="Calibri (MS) Bold"/>
                <a:sym typeface="Calibri (MS) Bold"/>
              </a:rPr>
              <a:t>Presented by</a:t>
            </a:r>
          </a:p>
          <a:p>
            <a:pPr algn="l">
              <a:lnSpc>
                <a:spcPts val="2160"/>
              </a:lnSpc>
            </a:pPr>
          </a:p>
          <a:p>
            <a:pPr algn="l">
              <a:lnSpc>
                <a:spcPts val="2700"/>
              </a:lnSpc>
            </a:pPr>
            <a:r>
              <a:rPr lang="en-US" sz="2250">
                <a:solidFill>
                  <a:srgbClr val="FFFFFF"/>
                </a:solidFill>
                <a:latin typeface="Calibri (MS)"/>
                <a:ea typeface="Calibri (MS)"/>
                <a:cs typeface="Calibri (MS)"/>
                <a:sym typeface="Calibri (MS)"/>
              </a:rPr>
              <a:t>Ananya P. Santh</a:t>
            </a:r>
          </a:p>
          <a:p>
            <a:pPr algn="l">
              <a:lnSpc>
                <a:spcPts val="2700"/>
              </a:lnSpc>
            </a:pPr>
            <a:r>
              <a:rPr lang="en-US" sz="2250">
                <a:solidFill>
                  <a:srgbClr val="FFFFFF"/>
                </a:solidFill>
                <a:latin typeface="Calibri (MS)"/>
                <a:ea typeface="Calibri (MS)"/>
                <a:cs typeface="Calibri (MS)"/>
                <a:sym typeface="Calibri (MS)"/>
              </a:rPr>
              <a:t>L S Pooja lekshmi</a:t>
            </a:r>
          </a:p>
          <a:p>
            <a:pPr algn="l">
              <a:lnSpc>
                <a:spcPts val="2700"/>
              </a:lnSpc>
            </a:pPr>
            <a:r>
              <a:rPr lang="en-US" sz="2250">
                <a:solidFill>
                  <a:srgbClr val="FFFFFF"/>
                </a:solidFill>
                <a:latin typeface="Calibri (MS)"/>
                <a:ea typeface="Calibri (MS)"/>
                <a:cs typeface="Calibri (MS)"/>
                <a:sym typeface="Calibri (MS)"/>
              </a:rPr>
              <a:t>Neha Jose</a:t>
            </a:r>
          </a:p>
          <a:p>
            <a:pPr algn="l">
              <a:lnSpc>
                <a:spcPts val="2700"/>
              </a:lnSpc>
            </a:pPr>
            <a:r>
              <a:rPr lang="en-US" sz="2250">
                <a:solidFill>
                  <a:srgbClr val="FFFFFF"/>
                </a:solidFill>
                <a:latin typeface="Calibri (MS)"/>
                <a:ea typeface="Calibri (MS)"/>
                <a:cs typeface="Calibri (MS)"/>
                <a:sym typeface="Calibri (MS)"/>
              </a:rPr>
              <a:t>T A Devinandana</a:t>
            </a:r>
          </a:p>
        </p:txBody>
      </p:sp>
      <p:sp>
        <p:nvSpPr>
          <p:cNvPr name="TextBox 19" id="19"/>
          <p:cNvSpPr txBox="true"/>
          <p:nvPr/>
        </p:nvSpPr>
        <p:spPr>
          <a:xfrm rot="0">
            <a:off x="9144000" y="6395085"/>
            <a:ext cx="6675120" cy="962025"/>
          </a:xfrm>
          <a:prstGeom prst="rect">
            <a:avLst/>
          </a:prstGeom>
        </p:spPr>
        <p:txBody>
          <a:bodyPr anchor="t" rtlCol="false" tIns="0" lIns="0" bIns="0" rIns="0">
            <a:spAutoFit/>
          </a:bodyPr>
          <a:lstStyle/>
          <a:p>
            <a:pPr algn="l">
              <a:lnSpc>
                <a:spcPts val="1980"/>
              </a:lnSpc>
            </a:pPr>
            <a:r>
              <a:rPr lang="en-US" sz="1650" b="true">
                <a:solidFill>
                  <a:srgbClr val="C9B7BB"/>
                </a:solidFill>
                <a:latin typeface="Calibri (MS) Bold"/>
                <a:ea typeface="Calibri (MS) Bold"/>
                <a:cs typeface="Calibri (MS) Bold"/>
                <a:sym typeface="Calibri (MS) Bold"/>
              </a:rPr>
              <a:t>Project Guide</a:t>
            </a:r>
          </a:p>
          <a:p>
            <a:pPr algn="l">
              <a:lnSpc>
                <a:spcPts val="2700"/>
              </a:lnSpc>
            </a:pPr>
          </a:p>
          <a:p>
            <a:pPr algn="l">
              <a:lnSpc>
                <a:spcPts val="2700"/>
              </a:lnSpc>
            </a:pPr>
            <a:r>
              <a:rPr lang="en-US" sz="2250" b="true">
                <a:solidFill>
                  <a:srgbClr val="FFFFFF"/>
                </a:solidFill>
                <a:latin typeface="Calibri (MS) Bold"/>
                <a:ea typeface="Calibri (MS) Bold"/>
                <a:cs typeface="Calibri (MS) Bold"/>
                <a:sym typeface="Calibri (MS) Bold"/>
              </a:rPr>
              <a:t>Ms.Lintu Liz Thomas </a:t>
            </a:r>
          </a:p>
        </p:txBody>
      </p:sp>
      <p:grpSp>
        <p:nvGrpSpPr>
          <p:cNvPr name="Group 20" id="20"/>
          <p:cNvGrpSpPr/>
          <p:nvPr/>
        </p:nvGrpSpPr>
        <p:grpSpPr>
          <a:xfrm rot="0">
            <a:off x="1028700" y="9258300"/>
            <a:ext cx="15773400" cy="548640"/>
            <a:chOff x="0" y="0"/>
            <a:chExt cx="21031200" cy="731520"/>
          </a:xfrm>
        </p:grpSpPr>
        <p:sp>
          <p:nvSpPr>
            <p:cNvPr name="Freeform 21" id="21"/>
            <p:cNvSpPr/>
            <p:nvPr/>
          </p:nvSpPr>
          <p:spPr>
            <a:xfrm flipH="false" flipV="false" rot="0">
              <a:off x="0" y="0"/>
              <a:ext cx="21031200" cy="731520"/>
            </a:xfrm>
            <a:custGeom>
              <a:avLst/>
              <a:gdLst/>
              <a:ahLst/>
              <a:cxnLst/>
              <a:rect r="r" b="b" t="t" l="l"/>
              <a:pathLst>
                <a:path h="731520" w="21031200">
                  <a:moveTo>
                    <a:pt x="0" y="0"/>
                  </a:moveTo>
                  <a:lnTo>
                    <a:pt x="21031200" y="0"/>
                  </a:lnTo>
                  <a:lnTo>
                    <a:pt x="21031200" y="731520"/>
                  </a:lnTo>
                  <a:lnTo>
                    <a:pt x="0" y="731520"/>
                  </a:lnTo>
                  <a:close/>
                </a:path>
              </a:pathLst>
            </a:custGeom>
            <a:blipFill>
              <a:blip r:embed="rId4">
                <a:alphaModFix amt="0"/>
              </a:blip>
              <a:stretch>
                <a:fillRect l="0" t="-510194" r="0" b="-510194"/>
              </a:stretch>
            </a:blipFill>
          </p:spPr>
        </p:sp>
        <p:sp>
          <p:nvSpPr>
            <p:cNvPr name="TextBox 22" id="22"/>
            <p:cNvSpPr txBox="true"/>
            <p:nvPr/>
          </p:nvSpPr>
          <p:spPr>
            <a:xfrm>
              <a:off x="0" y="-38100"/>
              <a:ext cx="21031200" cy="769620"/>
            </a:xfrm>
            <a:prstGeom prst="rect">
              <a:avLst/>
            </a:prstGeom>
          </p:spPr>
          <p:txBody>
            <a:bodyPr anchor="ctr" rtlCol="false" tIns="0" lIns="0" bIns="0" rIns="0"/>
            <a:lstStyle/>
            <a:p>
              <a:pPr algn="l">
                <a:lnSpc>
                  <a:spcPts val="2160"/>
                </a:lnSpc>
              </a:pPr>
              <a:r>
                <a:rPr lang="en-US" sz="1800">
                  <a:solidFill>
                    <a:srgbClr val="ECE2D0"/>
                  </a:solidFill>
                  <a:latin typeface="Calibri (MS)"/>
                  <a:ea typeface="Calibri (MS)"/>
                  <a:cs typeface="Calibri (MS)"/>
                  <a:sym typeface="Calibri (MS)"/>
                </a:rPr>
                <a:t>Department of Computer Science and Engineering  •  College of Engineering Chengannur</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299">
                  <a:solidFill>
                    <a:srgbClr val="6D2E46"/>
                  </a:solidFill>
                  <a:latin typeface="Calibri (MS) Bold"/>
                  <a:ea typeface="Calibri (MS) Bold"/>
                  <a:cs typeface="Calibri (MS) Bold"/>
                  <a:sym typeface="Calibri (MS) Bold"/>
                </a:rPr>
                <a:t>PROJECT OVERVIEW</a:t>
              </a:r>
            </a:p>
          </p:txBody>
        </p:sp>
      </p:grpSp>
      <p:grpSp>
        <p:nvGrpSpPr>
          <p:cNvPr name="Group 5" id="5"/>
          <p:cNvGrpSpPr/>
          <p:nvPr/>
        </p:nvGrpSpPr>
        <p:grpSpPr>
          <a:xfrm rot="0">
            <a:off x="960120" y="1124712"/>
            <a:ext cx="10972800" cy="960120"/>
            <a:chOff x="0" y="0"/>
            <a:chExt cx="14630400" cy="1280160"/>
          </a:xfrm>
        </p:grpSpPr>
        <p:sp>
          <p:nvSpPr>
            <p:cNvPr name="Freeform 6" id="6"/>
            <p:cNvSpPr/>
            <p:nvPr/>
          </p:nvSpPr>
          <p:spPr>
            <a:xfrm flipH="false" flipV="false" rot="0">
              <a:off x="0" y="0"/>
              <a:ext cx="14630400" cy="1280160"/>
            </a:xfrm>
            <a:custGeom>
              <a:avLst/>
              <a:gdLst/>
              <a:ahLst/>
              <a:cxnLst/>
              <a:rect r="r" b="b" t="t" l="l"/>
              <a:pathLst>
                <a:path h="1280160" w="14630400">
                  <a:moveTo>
                    <a:pt x="0" y="0"/>
                  </a:moveTo>
                  <a:lnTo>
                    <a:pt x="14630400" y="0"/>
                  </a:lnTo>
                  <a:lnTo>
                    <a:pt x="14630400" y="1280160"/>
                  </a:lnTo>
                  <a:lnTo>
                    <a:pt x="0" y="1280160"/>
                  </a:lnTo>
                  <a:close/>
                </a:path>
              </a:pathLst>
            </a:custGeom>
            <a:blipFill>
              <a:blip r:embed="rId3">
                <a:alphaModFix amt="0"/>
              </a:blip>
              <a:stretch>
                <a:fillRect l="0" t="-172686" r="0" b="-172686"/>
              </a:stretch>
            </a:blipFill>
          </p:spPr>
        </p:sp>
        <p:sp>
          <p:nvSpPr>
            <p:cNvPr name="TextBox 7" id="7"/>
            <p:cNvSpPr txBox="true"/>
            <p:nvPr/>
          </p:nvSpPr>
          <p:spPr>
            <a:xfrm>
              <a:off x="0" y="-9525"/>
              <a:ext cx="14630400" cy="1289685"/>
            </a:xfrm>
            <a:prstGeom prst="rect">
              <a:avLst/>
            </a:prstGeom>
          </p:spPr>
          <p:txBody>
            <a:bodyPr anchor="ctr" rtlCol="false" tIns="0" lIns="0" bIns="0" rIns="0"/>
            <a:lstStyle/>
            <a:p>
              <a:pPr algn="l">
                <a:lnSpc>
                  <a:spcPts val="6120"/>
                </a:lnSpc>
              </a:pPr>
              <a:r>
                <a:rPr lang="en-US" sz="5100" b="true">
                  <a:solidFill>
                    <a:srgbClr val="3A2A2E"/>
                  </a:solidFill>
                  <a:latin typeface="Cambria Bold"/>
                  <a:ea typeface="Cambria Bold"/>
                  <a:cs typeface="Cambria Bold"/>
                  <a:sym typeface="Cambria Bold"/>
                </a:rPr>
                <a:t>Abstract</a:t>
              </a:r>
            </a:p>
          </p:txBody>
        </p:sp>
      </p:grpSp>
      <p:sp>
        <p:nvSpPr>
          <p:cNvPr name="TextBox 8" id="8"/>
          <p:cNvSpPr txBox="true"/>
          <p:nvPr/>
        </p:nvSpPr>
        <p:spPr>
          <a:xfrm rot="0">
            <a:off x="1051560" y="2331720"/>
            <a:ext cx="16139160" cy="2354580"/>
          </a:xfrm>
          <a:prstGeom prst="rect">
            <a:avLst/>
          </a:prstGeom>
        </p:spPr>
        <p:txBody>
          <a:bodyPr anchor="t" rtlCol="false" tIns="0" lIns="0" bIns="0" rIns="0">
            <a:spAutoFit/>
          </a:bodyPr>
          <a:lstStyle/>
          <a:p>
            <a:pPr algn="l">
              <a:lnSpc>
                <a:spcPts val="3375"/>
              </a:lnSpc>
            </a:pPr>
            <a:r>
              <a:rPr lang="en-US" sz="2250">
                <a:solidFill>
                  <a:srgbClr val="3A2A2E"/>
                </a:solidFill>
                <a:latin typeface="Calibri (MS)"/>
                <a:ea typeface="Calibri (MS)"/>
                <a:cs typeface="Calibri (MS)"/>
                <a:sym typeface="Calibri (MS)"/>
              </a:rPr>
              <a:t>HERBALANCE AI is an AI-powered web application designed to support women's health and wellness. The platform provides personalized health insights, menstrual cycle prediction, skincare analysis, cosmetic recommendations, medicine safety verification, and secure health record management. By integrating Artificial Intelligence and Machine Learning, HERBALANCE AI enables women to make informed health decisions while ensuring privacy, accessibility, and convenience.</a:t>
            </a:r>
          </a:p>
        </p:txBody>
      </p:sp>
      <p:grpSp>
        <p:nvGrpSpPr>
          <p:cNvPr name="Group 9" id="9"/>
          <p:cNvGrpSpPr/>
          <p:nvPr/>
        </p:nvGrpSpPr>
        <p:grpSpPr>
          <a:xfrm rot="0">
            <a:off x="960120" y="5280660"/>
            <a:ext cx="3771900" cy="3154680"/>
            <a:chOff x="0" y="0"/>
            <a:chExt cx="5029200" cy="4206240"/>
          </a:xfrm>
        </p:grpSpPr>
        <p:sp>
          <p:nvSpPr>
            <p:cNvPr name="Freeform 10" id="10"/>
            <p:cNvSpPr/>
            <p:nvPr/>
          </p:nvSpPr>
          <p:spPr>
            <a:xfrm flipH="false" flipV="false" rot="0">
              <a:off x="0" y="0"/>
              <a:ext cx="5029200" cy="4206240"/>
            </a:xfrm>
            <a:custGeom>
              <a:avLst/>
              <a:gdLst/>
              <a:ahLst/>
              <a:cxnLst/>
              <a:rect r="r" b="b" t="t" l="l"/>
              <a:pathLst>
                <a:path h="4206240" w="5029200">
                  <a:moveTo>
                    <a:pt x="0" y="182880"/>
                  </a:moveTo>
                  <a:cubicBezTo>
                    <a:pt x="0" y="81915"/>
                    <a:pt x="81915" y="0"/>
                    <a:pt x="182880" y="0"/>
                  </a:cubicBezTo>
                  <a:lnTo>
                    <a:pt x="4846320" y="0"/>
                  </a:lnTo>
                  <a:cubicBezTo>
                    <a:pt x="4947285" y="0"/>
                    <a:pt x="5029200" y="81915"/>
                    <a:pt x="5029200" y="182880"/>
                  </a:cubicBezTo>
                  <a:lnTo>
                    <a:pt x="5029200" y="4023360"/>
                  </a:lnTo>
                  <a:cubicBezTo>
                    <a:pt x="5029200" y="4124325"/>
                    <a:pt x="4947285" y="4206240"/>
                    <a:pt x="4846320" y="4206240"/>
                  </a:cubicBezTo>
                  <a:lnTo>
                    <a:pt x="182880" y="4206240"/>
                  </a:lnTo>
                  <a:cubicBezTo>
                    <a:pt x="81915" y="4206240"/>
                    <a:pt x="0" y="4124325"/>
                    <a:pt x="0" y="4023360"/>
                  </a:cubicBezTo>
                  <a:close/>
                </a:path>
              </a:pathLst>
            </a:custGeom>
            <a:solidFill>
              <a:srgbClr val="ECE2D0"/>
            </a:solidFill>
          </p:spPr>
        </p:sp>
      </p:grpSp>
      <p:grpSp>
        <p:nvGrpSpPr>
          <p:cNvPr name="Group 11" id="11"/>
          <p:cNvGrpSpPr/>
          <p:nvPr/>
        </p:nvGrpSpPr>
        <p:grpSpPr>
          <a:xfrm rot="0">
            <a:off x="2228850" y="5760720"/>
            <a:ext cx="1234440" cy="1234440"/>
            <a:chOff x="0" y="0"/>
            <a:chExt cx="1645920" cy="1645920"/>
          </a:xfrm>
        </p:grpSpPr>
        <p:sp>
          <p:nvSpPr>
            <p:cNvPr name="Freeform 12" id="12"/>
            <p:cNvSpPr/>
            <p:nvPr/>
          </p:nvSpPr>
          <p:spPr>
            <a:xfrm flipH="false" flipV="false" rot="0">
              <a:off x="0" y="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6D2E46"/>
            </a:solidFill>
          </p:spPr>
        </p:sp>
      </p:grpSp>
      <p:grpSp>
        <p:nvGrpSpPr>
          <p:cNvPr name="Group 13" id="13"/>
          <p:cNvGrpSpPr/>
          <p:nvPr/>
        </p:nvGrpSpPr>
        <p:grpSpPr>
          <a:xfrm rot="0">
            <a:off x="2525116" y="6056986"/>
            <a:ext cx="641909" cy="641909"/>
            <a:chOff x="0" y="0"/>
            <a:chExt cx="855878" cy="855878"/>
          </a:xfrm>
        </p:grpSpPr>
        <p:sp>
          <p:nvSpPr>
            <p:cNvPr name="Freeform 14" id="14" descr="/home/claude/herbalance/icon_brain.png"/>
            <p:cNvSpPr/>
            <p:nvPr/>
          </p:nvSpPr>
          <p:spPr>
            <a:xfrm flipH="false" flipV="false" rot="0">
              <a:off x="0" y="0"/>
              <a:ext cx="855853" cy="855853"/>
            </a:xfrm>
            <a:custGeom>
              <a:avLst/>
              <a:gdLst/>
              <a:ahLst/>
              <a:cxnLst/>
              <a:rect r="r" b="b" t="t" l="l"/>
              <a:pathLst>
                <a:path h="855853" w="855853">
                  <a:moveTo>
                    <a:pt x="0" y="0"/>
                  </a:moveTo>
                  <a:lnTo>
                    <a:pt x="855853" y="0"/>
                  </a:lnTo>
                  <a:lnTo>
                    <a:pt x="855853" y="855853"/>
                  </a:lnTo>
                  <a:lnTo>
                    <a:pt x="0" y="855853"/>
                  </a:lnTo>
                  <a:lnTo>
                    <a:pt x="0" y="0"/>
                  </a:lnTo>
                  <a:close/>
                </a:path>
              </a:pathLst>
            </a:custGeom>
            <a:blipFill>
              <a:blip r:embed="rId4"/>
              <a:stretch>
                <a:fillRect l="0" t="0" r="-2" b="-2"/>
              </a:stretch>
            </a:blipFill>
          </p:spPr>
        </p:sp>
      </p:grpSp>
      <p:sp>
        <p:nvSpPr>
          <p:cNvPr name="TextBox 15" id="15"/>
          <p:cNvSpPr txBox="true"/>
          <p:nvPr/>
        </p:nvSpPr>
        <p:spPr>
          <a:xfrm rot="0">
            <a:off x="1257300" y="7345680"/>
            <a:ext cx="3177540" cy="769620"/>
          </a:xfrm>
          <a:prstGeom prst="rect">
            <a:avLst/>
          </a:prstGeom>
        </p:spPr>
        <p:txBody>
          <a:bodyPr anchor="t" rtlCol="false" tIns="0" lIns="0" bIns="0" rIns="0">
            <a:spAutoFit/>
          </a:bodyPr>
          <a:lstStyle/>
          <a:p>
            <a:pPr algn="ctr">
              <a:lnSpc>
                <a:spcPts val="2430"/>
              </a:lnSpc>
            </a:pPr>
            <a:r>
              <a:rPr lang="en-US" sz="2025" b="true">
                <a:solidFill>
                  <a:srgbClr val="3A2A2E"/>
                </a:solidFill>
                <a:latin typeface="Calibri (MS) Bold"/>
                <a:ea typeface="Calibri (MS) Bold"/>
                <a:cs typeface="Calibri (MS) Bold"/>
                <a:sym typeface="Calibri (MS) Bold"/>
              </a:rPr>
              <a:t>AI &amp; ML Driven</a:t>
            </a:r>
          </a:p>
        </p:txBody>
      </p:sp>
      <p:grpSp>
        <p:nvGrpSpPr>
          <p:cNvPr name="Group 16" id="16"/>
          <p:cNvGrpSpPr/>
          <p:nvPr/>
        </p:nvGrpSpPr>
        <p:grpSpPr>
          <a:xfrm rot="0">
            <a:off x="5212080" y="5280660"/>
            <a:ext cx="3771900" cy="3154680"/>
            <a:chOff x="0" y="0"/>
            <a:chExt cx="5029200" cy="4206240"/>
          </a:xfrm>
        </p:grpSpPr>
        <p:sp>
          <p:nvSpPr>
            <p:cNvPr name="Freeform 17" id="17"/>
            <p:cNvSpPr/>
            <p:nvPr/>
          </p:nvSpPr>
          <p:spPr>
            <a:xfrm flipH="false" flipV="false" rot="0">
              <a:off x="0" y="0"/>
              <a:ext cx="5029200" cy="4206240"/>
            </a:xfrm>
            <a:custGeom>
              <a:avLst/>
              <a:gdLst/>
              <a:ahLst/>
              <a:cxnLst/>
              <a:rect r="r" b="b" t="t" l="l"/>
              <a:pathLst>
                <a:path h="4206240" w="5029200">
                  <a:moveTo>
                    <a:pt x="0" y="182880"/>
                  </a:moveTo>
                  <a:cubicBezTo>
                    <a:pt x="0" y="81915"/>
                    <a:pt x="81915" y="0"/>
                    <a:pt x="182880" y="0"/>
                  </a:cubicBezTo>
                  <a:lnTo>
                    <a:pt x="4846320" y="0"/>
                  </a:lnTo>
                  <a:cubicBezTo>
                    <a:pt x="4947285" y="0"/>
                    <a:pt x="5029200" y="81915"/>
                    <a:pt x="5029200" y="182880"/>
                  </a:cubicBezTo>
                  <a:lnTo>
                    <a:pt x="5029200" y="4023360"/>
                  </a:lnTo>
                  <a:cubicBezTo>
                    <a:pt x="5029200" y="4124325"/>
                    <a:pt x="4947285" y="4206240"/>
                    <a:pt x="4846320" y="4206240"/>
                  </a:cubicBezTo>
                  <a:lnTo>
                    <a:pt x="182880" y="4206240"/>
                  </a:lnTo>
                  <a:cubicBezTo>
                    <a:pt x="81915" y="4206240"/>
                    <a:pt x="0" y="4124325"/>
                    <a:pt x="0" y="4023360"/>
                  </a:cubicBezTo>
                  <a:close/>
                </a:path>
              </a:pathLst>
            </a:custGeom>
            <a:solidFill>
              <a:srgbClr val="ECE2D0"/>
            </a:solidFill>
          </p:spPr>
        </p:sp>
      </p:grpSp>
      <p:grpSp>
        <p:nvGrpSpPr>
          <p:cNvPr name="Group 18" id="18"/>
          <p:cNvGrpSpPr/>
          <p:nvPr/>
        </p:nvGrpSpPr>
        <p:grpSpPr>
          <a:xfrm rot="0">
            <a:off x="6480810" y="5760720"/>
            <a:ext cx="1234440" cy="1234440"/>
            <a:chOff x="0" y="0"/>
            <a:chExt cx="1645920" cy="1645920"/>
          </a:xfrm>
        </p:grpSpPr>
        <p:sp>
          <p:nvSpPr>
            <p:cNvPr name="Freeform 19" id="19"/>
            <p:cNvSpPr/>
            <p:nvPr/>
          </p:nvSpPr>
          <p:spPr>
            <a:xfrm flipH="false" flipV="false" rot="0">
              <a:off x="0" y="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6D2E46"/>
            </a:solidFill>
          </p:spPr>
        </p:sp>
      </p:grpSp>
      <p:grpSp>
        <p:nvGrpSpPr>
          <p:cNvPr name="Group 20" id="20"/>
          <p:cNvGrpSpPr/>
          <p:nvPr/>
        </p:nvGrpSpPr>
        <p:grpSpPr>
          <a:xfrm rot="0">
            <a:off x="6777076" y="6056986"/>
            <a:ext cx="641909" cy="641909"/>
            <a:chOff x="0" y="0"/>
            <a:chExt cx="855878" cy="855878"/>
          </a:xfrm>
        </p:grpSpPr>
        <p:sp>
          <p:nvSpPr>
            <p:cNvPr name="Freeform 21" id="21" descr="/home/claude/herbalance/icon_smile.png"/>
            <p:cNvSpPr/>
            <p:nvPr/>
          </p:nvSpPr>
          <p:spPr>
            <a:xfrm flipH="false" flipV="false" rot="0">
              <a:off x="0" y="0"/>
              <a:ext cx="855853" cy="855853"/>
            </a:xfrm>
            <a:custGeom>
              <a:avLst/>
              <a:gdLst/>
              <a:ahLst/>
              <a:cxnLst/>
              <a:rect r="r" b="b" t="t" l="l"/>
              <a:pathLst>
                <a:path h="855853" w="855853">
                  <a:moveTo>
                    <a:pt x="0" y="0"/>
                  </a:moveTo>
                  <a:lnTo>
                    <a:pt x="855853" y="0"/>
                  </a:lnTo>
                  <a:lnTo>
                    <a:pt x="855853" y="855853"/>
                  </a:lnTo>
                  <a:lnTo>
                    <a:pt x="0" y="855853"/>
                  </a:lnTo>
                  <a:lnTo>
                    <a:pt x="0" y="0"/>
                  </a:lnTo>
                  <a:close/>
                </a:path>
              </a:pathLst>
            </a:custGeom>
            <a:blipFill>
              <a:blip r:embed="rId5"/>
              <a:stretch>
                <a:fillRect l="0" t="0" r="-2" b="-2"/>
              </a:stretch>
            </a:blipFill>
          </p:spPr>
        </p:sp>
      </p:grpSp>
      <p:sp>
        <p:nvSpPr>
          <p:cNvPr name="TextBox 22" id="22"/>
          <p:cNvSpPr txBox="true"/>
          <p:nvPr/>
        </p:nvSpPr>
        <p:spPr>
          <a:xfrm rot="0">
            <a:off x="5509260" y="7345680"/>
            <a:ext cx="3177540" cy="769620"/>
          </a:xfrm>
          <a:prstGeom prst="rect">
            <a:avLst/>
          </a:prstGeom>
        </p:spPr>
        <p:txBody>
          <a:bodyPr anchor="t" rtlCol="false" tIns="0" lIns="0" bIns="0" rIns="0">
            <a:spAutoFit/>
          </a:bodyPr>
          <a:lstStyle/>
          <a:p>
            <a:pPr algn="ctr">
              <a:lnSpc>
                <a:spcPts val="2430"/>
              </a:lnSpc>
            </a:pPr>
            <a:r>
              <a:rPr lang="en-US" sz="2025" b="true">
                <a:solidFill>
                  <a:srgbClr val="3A2A2E"/>
                </a:solidFill>
                <a:latin typeface="Calibri (MS) Bold"/>
                <a:ea typeface="Calibri (MS) Bold"/>
                <a:cs typeface="Calibri (MS) Bold"/>
                <a:sym typeface="Calibri (MS) Bold"/>
              </a:rPr>
              <a:t>Personalized Insights</a:t>
            </a:r>
          </a:p>
        </p:txBody>
      </p:sp>
      <p:grpSp>
        <p:nvGrpSpPr>
          <p:cNvPr name="Group 23" id="23"/>
          <p:cNvGrpSpPr/>
          <p:nvPr/>
        </p:nvGrpSpPr>
        <p:grpSpPr>
          <a:xfrm rot="0">
            <a:off x="9464040" y="5280660"/>
            <a:ext cx="3771900" cy="3154680"/>
            <a:chOff x="0" y="0"/>
            <a:chExt cx="5029200" cy="4206240"/>
          </a:xfrm>
        </p:grpSpPr>
        <p:sp>
          <p:nvSpPr>
            <p:cNvPr name="Freeform 24" id="24"/>
            <p:cNvSpPr/>
            <p:nvPr/>
          </p:nvSpPr>
          <p:spPr>
            <a:xfrm flipH="false" flipV="false" rot="0">
              <a:off x="0" y="0"/>
              <a:ext cx="5029200" cy="4206240"/>
            </a:xfrm>
            <a:custGeom>
              <a:avLst/>
              <a:gdLst/>
              <a:ahLst/>
              <a:cxnLst/>
              <a:rect r="r" b="b" t="t" l="l"/>
              <a:pathLst>
                <a:path h="4206240" w="5029200">
                  <a:moveTo>
                    <a:pt x="0" y="182880"/>
                  </a:moveTo>
                  <a:cubicBezTo>
                    <a:pt x="0" y="81915"/>
                    <a:pt x="81915" y="0"/>
                    <a:pt x="182880" y="0"/>
                  </a:cubicBezTo>
                  <a:lnTo>
                    <a:pt x="4846320" y="0"/>
                  </a:lnTo>
                  <a:cubicBezTo>
                    <a:pt x="4947285" y="0"/>
                    <a:pt x="5029200" y="81915"/>
                    <a:pt x="5029200" y="182880"/>
                  </a:cubicBezTo>
                  <a:lnTo>
                    <a:pt x="5029200" y="4023360"/>
                  </a:lnTo>
                  <a:cubicBezTo>
                    <a:pt x="5029200" y="4124325"/>
                    <a:pt x="4947285" y="4206240"/>
                    <a:pt x="4846320" y="4206240"/>
                  </a:cubicBezTo>
                  <a:lnTo>
                    <a:pt x="182880" y="4206240"/>
                  </a:lnTo>
                  <a:cubicBezTo>
                    <a:pt x="81915" y="4206240"/>
                    <a:pt x="0" y="4124325"/>
                    <a:pt x="0" y="4023360"/>
                  </a:cubicBezTo>
                  <a:close/>
                </a:path>
              </a:pathLst>
            </a:custGeom>
            <a:solidFill>
              <a:srgbClr val="ECE2D0"/>
            </a:solidFill>
          </p:spPr>
        </p:sp>
      </p:grpSp>
      <p:grpSp>
        <p:nvGrpSpPr>
          <p:cNvPr name="Group 25" id="25"/>
          <p:cNvGrpSpPr/>
          <p:nvPr/>
        </p:nvGrpSpPr>
        <p:grpSpPr>
          <a:xfrm rot="0">
            <a:off x="10732770" y="5760720"/>
            <a:ext cx="1234440" cy="1234440"/>
            <a:chOff x="0" y="0"/>
            <a:chExt cx="1645920" cy="1645920"/>
          </a:xfrm>
        </p:grpSpPr>
        <p:sp>
          <p:nvSpPr>
            <p:cNvPr name="Freeform 26" id="26"/>
            <p:cNvSpPr/>
            <p:nvPr/>
          </p:nvSpPr>
          <p:spPr>
            <a:xfrm flipH="false" flipV="false" rot="0">
              <a:off x="0" y="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6D2E46"/>
            </a:solidFill>
          </p:spPr>
        </p:sp>
      </p:grpSp>
      <p:grpSp>
        <p:nvGrpSpPr>
          <p:cNvPr name="Group 27" id="27"/>
          <p:cNvGrpSpPr/>
          <p:nvPr/>
        </p:nvGrpSpPr>
        <p:grpSpPr>
          <a:xfrm rot="0">
            <a:off x="11029036" y="6056986"/>
            <a:ext cx="641909" cy="641909"/>
            <a:chOff x="0" y="0"/>
            <a:chExt cx="855878" cy="855878"/>
          </a:xfrm>
        </p:grpSpPr>
        <p:sp>
          <p:nvSpPr>
            <p:cNvPr name="Freeform 28" id="28" descr="/home/claude/herbalance/icon_lock.png"/>
            <p:cNvSpPr/>
            <p:nvPr/>
          </p:nvSpPr>
          <p:spPr>
            <a:xfrm flipH="false" flipV="false" rot="0">
              <a:off x="0" y="0"/>
              <a:ext cx="855853" cy="855853"/>
            </a:xfrm>
            <a:custGeom>
              <a:avLst/>
              <a:gdLst/>
              <a:ahLst/>
              <a:cxnLst/>
              <a:rect r="r" b="b" t="t" l="l"/>
              <a:pathLst>
                <a:path h="855853" w="855853">
                  <a:moveTo>
                    <a:pt x="0" y="0"/>
                  </a:moveTo>
                  <a:lnTo>
                    <a:pt x="855853" y="0"/>
                  </a:lnTo>
                  <a:lnTo>
                    <a:pt x="855853" y="855853"/>
                  </a:lnTo>
                  <a:lnTo>
                    <a:pt x="0" y="855853"/>
                  </a:lnTo>
                  <a:lnTo>
                    <a:pt x="0" y="0"/>
                  </a:lnTo>
                  <a:close/>
                </a:path>
              </a:pathLst>
            </a:custGeom>
            <a:blipFill>
              <a:blip r:embed="rId6"/>
              <a:stretch>
                <a:fillRect l="0" t="0" r="-2" b="-2"/>
              </a:stretch>
            </a:blipFill>
          </p:spPr>
        </p:sp>
      </p:grpSp>
      <p:sp>
        <p:nvSpPr>
          <p:cNvPr name="TextBox 29" id="29"/>
          <p:cNvSpPr txBox="true"/>
          <p:nvPr/>
        </p:nvSpPr>
        <p:spPr>
          <a:xfrm rot="0">
            <a:off x="9761220" y="7345680"/>
            <a:ext cx="3177540" cy="769620"/>
          </a:xfrm>
          <a:prstGeom prst="rect">
            <a:avLst/>
          </a:prstGeom>
        </p:spPr>
        <p:txBody>
          <a:bodyPr anchor="t" rtlCol="false" tIns="0" lIns="0" bIns="0" rIns="0">
            <a:spAutoFit/>
          </a:bodyPr>
          <a:lstStyle/>
          <a:p>
            <a:pPr algn="ctr">
              <a:lnSpc>
                <a:spcPts val="2430"/>
              </a:lnSpc>
            </a:pPr>
            <a:r>
              <a:rPr lang="en-US" sz="2025" b="true">
                <a:solidFill>
                  <a:srgbClr val="3A2A2E"/>
                </a:solidFill>
                <a:latin typeface="Calibri (MS) Bold"/>
                <a:ea typeface="Calibri (MS) Bold"/>
                <a:cs typeface="Calibri (MS) Bold"/>
                <a:sym typeface="Calibri (MS) Bold"/>
              </a:rPr>
              <a:t>Privacy First</a:t>
            </a:r>
          </a:p>
        </p:txBody>
      </p:sp>
      <p:grpSp>
        <p:nvGrpSpPr>
          <p:cNvPr name="Group 30" id="30"/>
          <p:cNvGrpSpPr/>
          <p:nvPr/>
        </p:nvGrpSpPr>
        <p:grpSpPr>
          <a:xfrm rot="0">
            <a:off x="13716000" y="5280660"/>
            <a:ext cx="3771900" cy="3154680"/>
            <a:chOff x="0" y="0"/>
            <a:chExt cx="5029200" cy="4206240"/>
          </a:xfrm>
        </p:grpSpPr>
        <p:sp>
          <p:nvSpPr>
            <p:cNvPr name="Freeform 31" id="31"/>
            <p:cNvSpPr/>
            <p:nvPr/>
          </p:nvSpPr>
          <p:spPr>
            <a:xfrm flipH="false" flipV="false" rot="0">
              <a:off x="0" y="0"/>
              <a:ext cx="5029200" cy="4206240"/>
            </a:xfrm>
            <a:custGeom>
              <a:avLst/>
              <a:gdLst/>
              <a:ahLst/>
              <a:cxnLst/>
              <a:rect r="r" b="b" t="t" l="l"/>
              <a:pathLst>
                <a:path h="4206240" w="5029200">
                  <a:moveTo>
                    <a:pt x="0" y="182880"/>
                  </a:moveTo>
                  <a:cubicBezTo>
                    <a:pt x="0" y="81915"/>
                    <a:pt x="81915" y="0"/>
                    <a:pt x="182880" y="0"/>
                  </a:cubicBezTo>
                  <a:lnTo>
                    <a:pt x="4846320" y="0"/>
                  </a:lnTo>
                  <a:cubicBezTo>
                    <a:pt x="4947285" y="0"/>
                    <a:pt x="5029200" y="81915"/>
                    <a:pt x="5029200" y="182880"/>
                  </a:cubicBezTo>
                  <a:lnTo>
                    <a:pt x="5029200" y="4023360"/>
                  </a:lnTo>
                  <a:cubicBezTo>
                    <a:pt x="5029200" y="4124325"/>
                    <a:pt x="4947285" y="4206240"/>
                    <a:pt x="4846320" y="4206240"/>
                  </a:cubicBezTo>
                  <a:lnTo>
                    <a:pt x="182880" y="4206240"/>
                  </a:lnTo>
                  <a:cubicBezTo>
                    <a:pt x="81915" y="4206240"/>
                    <a:pt x="0" y="4124325"/>
                    <a:pt x="0" y="4023360"/>
                  </a:cubicBezTo>
                  <a:close/>
                </a:path>
              </a:pathLst>
            </a:custGeom>
            <a:solidFill>
              <a:srgbClr val="ECE2D0"/>
            </a:solidFill>
          </p:spPr>
        </p:sp>
      </p:grpSp>
      <p:grpSp>
        <p:nvGrpSpPr>
          <p:cNvPr name="Group 32" id="32"/>
          <p:cNvGrpSpPr/>
          <p:nvPr/>
        </p:nvGrpSpPr>
        <p:grpSpPr>
          <a:xfrm rot="0">
            <a:off x="14984730" y="5760720"/>
            <a:ext cx="1234440" cy="1234440"/>
            <a:chOff x="0" y="0"/>
            <a:chExt cx="1645920" cy="1645920"/>
          </a:xfrm>
        </p:grpSpPr>
        <p:sp>
          <p:nvSpPr>
            <p:cNvPr name="Freeform 33" id="33"/>
            <p:cNvSpPr/>
            <p:nvPr/>
          </p:nvSpPr>
          <p:spPr>
            <a:xfrm flipH="false" flipV="false" rot="0">
              <a:off x="0" y="0"/>
              <a:ext cx="1645920" cy="1645920"/>
            </a:xfrm>
            <a:custGeom>
              <a:avLst/>
              <a:gdLst/>
              <a:ahLst/>
              <a:cxnLst/>
              <a:rect r="r" b="b" t="t" l="l"/>
              <a:pathLst>
                <a:path h="1645920" w="1645920">
                  <a:moveTo>
                    <a:pt x="0" y="822960"/>
                  </a:moveTo>
                  <a:cubicBezTo>
                    <a:pt x="0" y="368427"/>
                    <a:pt x="368427" y="0"/>
                    <a:pt x="822960" y="0"/>
                  </a:cubicBezTo>
                  <a:cubicBezTo>
                    <a:pt x="1277493" y="0"/>
                    <a:pt x="1645920" y="368427"/>
                    <a:pt x="1645920" y="822960"/>
                  </a:cubicBezTo>
                  <a:cubicBezTo>
                    <a:pt x="1645920" y="1277493"/>
                    <a:pt x="1277493" y="1645920"/>
                    <a:pt x="822960" y="1645920"/>
                  </a:cubicBezTo>
                  <a:cubicBezTo>
                    <a:pt x="368427" y="1645920"/>
                    <a:pt x="0" y="1277493"/>
                    <a:pt x="0" y="822960"/>
                  </a:cubicBezTo>
                  <a:close/>
                </a:path>
              </a:pathLst>
            </a:custGeom>
            <a:solidFill>
              <a:srgbClr val="6D2E46"/>
            </a:solidFill>
          </p:spPr>
        </p:sp>
      </p:grpSp>
      <p:grpSp>
        <p:nvGrpSpPr>
          <p:cNvPr name="Group 34" id="34"/>
          <p:cNvGrpSpPr/>
          <p:nvPr/>
        </p:nvGrpSpPr>
        <p:grpSpPr>
          <a:xfrm rot="0">
            <a:off x="15280996" y="6056986"/>
            <a:ext cx="641909" cy="641909"/>
            <a:chOff x="0" y="0"/>
            <a:chExt cx="855878" cy="855878"/>
          </a:xfrm>
        </p:grpSpPr>
        <p:sp>
          <p:nvSpPr>
            <p:cNvPr name="Freeform 35" id="35" descr="/home/claude/herbalance/icon_mobile.png"/>
            <p:cNvSpPr/>
            <p:nvPr/>
          </p:nvSpPr>
          <p:spPr>
            <a:xfrm flipH="false" flipV="false" rot="0">
              <a:off x="0" y="0"/>
              <a:ext cx="855853" cy="855853"/>
            </a:xfrm>
            <a:custGeom>
              <a:avLst/>
              <a:gdLst/>
              <a:ahLst/>
              <a:cxnLst/>
              <a:rect r="r" b="b" t="t" l="l"/>
              <a:pathLst>
                <a:path h="855853" w="855853">
                  <a:moveTo>
                    <a:pt x="0" y="0"/>
                  </a:moveTo>
                  <a:lnTo>
                    <a:pt x="855853" y="0"/>
                  </a:lnTo>
                  <a:lnTo>
                    <a:pt x="855853" y="855853"/>
                  </a:lnTo>
                  <a:lnTo>
                    <a:pt x="0" y="855853"/>
                  </a:lnTo>
                  <a:lnTo>
                    <a:pt x="0" y="0"/>
                  </a:lnTo>
                  <a:close/>
                </a:path>
              </a:pathLst>
            </a:custGeom>
            <a:blipFill>
              <a:blip r:embed="rId7"/>
              <a:stretch>
                <a:fillRect l="0" t="0" r="-2" b="-2"/>
              </a:stretch>
            </a:blipFill>
          </p:spPr>
        </p:sp>
      </p:grpSp>
      <p:sp>
        <p:nvSpPr>
          <p:cNvPr name="TextBox 36" id="36"/>
          <p:cNvSpPr txBox="true"/>
          <p:nvPr/>
        </p:nvSpPr>
        <p:spPr>
          <a:xfrm rot="0">
            <a:off x="14013180" y="7345680"/>
            <a:ext cx="3177540" cy="769620"/>
          </a:xfrm>
          <a:prstGeom prst="rect">
            <a:avLst/>
          </a:prstGeom>
        </p:spPr>
        <p:txBody>
          <a:bodyPr anchor="t" rtlCol="false" tIns="0" lIns="0" bIns="0" rIns="0">
            <a:spAutoFit/>
          </a:bodyPr>
          <a:lstStyle/>
          <a:p>
            <a:pPr algn="ctr">
              <a:lnSpc>
                <a:spcPts val="2430"/>
              </a:lnSpc>
            </a:pPr>
            <a:r>
              <a:rPr lang="en-US" sz="2025" b="true">
                <a:solidFill>
                  <a:srgbClr val="3A2A2E"/>
                </a:solidFill>
                <a:latin typeface="Calibri (MS) Bold"/>
                <a:ea typeface="Calibri (MS) Bold"/>
                <a:cs typeface="Calibri (MS) Bold"/>
                <a:sym typeface="Calibri (MS) Bold"/>
              </a:rPr>
              <a:t>Accessible Anywhere</a:t>
            </a:r>
          </a:p>
        </p:txBody>
      </p:sp>
      <p:grpSp>
        <p:nvGrpSpPr>
          <p:cNvPr name="Group 37" id="37"/>
          <p:cNvGrpSpPr/>
          <p:nvPr/>
        </p:nvGrpSpPr>
        <p:grpSpPr>
          <a:xfrm rot="0">
            <a:off x="17048988" y="9532620"/>
            <a:ext cx="822960" cy="480060"/>
            <a:chOff x="0" y="0"/>
            <a:chExt cx="1097280" cy="640080"/>
          </a:xfrm>
        </p:grpSpPr>
        <p:sp>
          <p:nvSpPr>
            <p:cNvPr name="Freeform 38" id="38"/>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3">
                <a:alphaModFix amt="0"/>
              </a:blip>
              <a:stretch>
                <a:fillRect l="-24843" t="0" r="-24843" b="0"/>
              </a:stretch>
            </a:blipFill>
          </p:spPr>
        </p:sp>
        <p:sp>
          <p:nvSpPr>
            <p:cNvPr name="TextBox 39" id="39"/>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8A7478"/>
                  </a:solidFill>
                  <a:latin typeface="Calibri (MS)"/>
                  <a:ea typeface="Calibri (MS)"/>
                  <a:cs typeface="Calibri (MS)"/>
                  <a:sym typeface="Calibri (MS)"/>
                </a:rPr>
                <a:t>02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299">
                  <a:solidFill>
                    <a:srgbClr val="6D2E46"/>
                  </a:solidFill>
                  <a:latin typeface="Calibri (MS) Bold"/>
                  <a:ea typeface="Calibri (MS) Bold"/>
                  <a:cs typeface="Calibri (MS) Bold"/>
                  <a:sym typeface="Calibri (MS) Bold"/>
                </a:rPr>
                <a:t>BACKGROUND</a:t>
              </a:r>
            </a:p>
          </p:txBody>
        </p:sp>
      </p:grpSp>
      <p:grpSp>
        <p:nvGrpSpPr>
          <p:cNvPr name="Group 5" id="5"/>
          <p:cNvGrpSpPr/>
          <p:nvPr/>
        </p:nvGrpSpPr>
        <p:grpSpPr>
          <a:xfrm rot="0">
            <a:off x="960120" y="1124712"/>
            <a:ext cx="10972800" cy="960120"/>
            <a:chOff x="0" y="0"/>
            <a:chExt cx="14630400" cy="1280160"/>
          </a:xfrm>
        </p:grpSpPr>
        <p:sp>
          <p:nvSpPr>
            <p:cNvPr name="Freeform 6" id="6"/>
            <p:cNvSpPr/>
            <p:nvPr/>
          </p:nvSpPr>
          <p:spPr>
            <a:xfrm flipH="false" flipV="false" rot="0">
              <a:off x="0" y="0"/>
              <a:ext cx="14630400" cy="1280160"/>
            </a:xfrm>
            <a:custGeom>
              <a:avLst/>
              <a:gdLst/>
              <a:ahLst/>
              <a:cxnLst/>
              <a:rect r="r" b="b" t="t" l="l"/>
              <a:pathLst>
                <a:path h="1280160" w="14630400">
                  <a:moveTo>
                    <a:pt x="0" y="0"/>
                  </a:moveTo>
                  <a:lnTo>
                    <a:pt x="14630400" y="0"/>
                  </a:lnTo>
                  <a:lnTo>
                    <a:pt x="14630400" y="1280160"/>
                  </a:lnTo>
                  <a:lnTo>
                    <a:pt x="0" y="1280160"/>
                  </a:lnTo>
                  <a:close/>
                </a:path>
              </a:pathLst>
            </a:custGeom>
            <a:blipFill>
              <a:blip r:embed="rId3">
                <a:alphaModFix amt="0"/>
              </a:blip>
              <a:stretch>
                <a:fillRect l="0" t="-172686" r="0" b="-172686"/>
              </a:stretch>
            </a:blipFill>
          </p:spPr>
        </p:sp>
        <p:sp>
          <p:nvSpPr>
            <p:cNvPr name="TextBox 7" id="7"/>
            <p:cNvSpPr txBox="true"/>
            <p:nvPr/>
          </p:nvSpPr>
          <p:spPr>
            <a:xfrm>
              <a:off x="0" y="-9525"/>
              <a:ext cx="14630400" cy="1289685"/>
            </a:xfrm>
            <a:prstGeom prst="rect">
              <a:avLst/>
            </a:prstGeom>
          </p:spPr>
          <p:txBody>
            <a:bodyPr anchor="ctr" rtlCol="false" tIns="0" lIns="0" bIns="0" rIns="0"/>
            <a:lstStyle/>
            <a:p>
              <a:pPr algn="l">
                <a:lnSpc>
                  <a:spcPts val="6120"/>
                </a:lnSpc>
              </a:pPr>
              <a:r>
                <a:rPr lang="en-US" sz="5100" b="true">
                  <a:solidFill>
                    <a:srgbClr val="3A2A2E"/>
                  </a:solidFill>
                  <a:latin typeface="Cambria Bold"/>
                  <a:ea typeface="Cambria Bold"/>
                  <a:cs typeface="Cambria Bold"/>
                  <a:sym typeface="Cambria Bold"/>
                </a:rPr>
                <a:t>Introduction</a:t>
              </a:r>
            </a:p>
          </p:txBody>
        </p:sp>
      </p:grpSp>
      <p:grpSp>
        <p:nvGrpSpPr>
          <p:cNvPr name="Group 8" id="8"/>
          <p:cNvGrpSpPr/>
          <p:nvPr/>
        </p:nvGrpSpPr>
        <p:grpSpPr>
          <a:xfrm rot="0">
            <a:off x="11727180" y="0"/>
            <a:ext cx="6556248" cy="10287000"/>
            <a:chOff x="0" y="0"/>
            <a:chExt cx="8741664" cy="13716000"/>
          </a:xfrm>
        </p:grpSpPr>
        <p:sp>
          <p:nvSpPr>
            <p:cNvPr name="Freeform 9" id="9"/>
            <p:cNvSpPr/>
            <p:nvPr/>
          </p:nvSpPr>
          <p:spPr>
            <a:xfrm flipH="false" flipV="false" rot="0">
              <a:off x="0" y="0"/>
              <a:ext cx="8741664" cy="13716000"/>
            </a:xfrm>
            <a:custGeom>
              <a:avLst/>
              <a:gdLst/>
              <a:ahLst/>
              <a:cxnLst/>
              <a:rect r="r" b="b" t="t" l="l"/>
              <a:pathLst>
                <a:path h="13716000" w="8741664">
                  <a:moveTo>
                    <a:pt x="0" y="0"/>
                  </a:moveTo>
                  <a:lnTo>
                    <a:pt x="8741664" y="0"/>
                  </a:lnTo>
                  <a:lnTo>
                    <a:pt x="8741664" y="13716000"/>
                  </a:lnTo>
                  <a:lnTo>
                    <a:pt x="0" y="13716000"/>
                  </a:lnTo>
                  <a:close/>
                </a:path>
              </a:pathLst>
            </a:custGeom>
            <a:solidFill>
              <a:srgbClr val="6D2E46"/>
            </a:solidFill>
          </p:spPr>
        </p:sp>
      </p:grpSp>
      <p:grpSp>
        <p:nvGrpSpPr>
          <p:cNvPr name="Group 10" id="10"/>
          <p:cNvGrpSpPr/>
          <p:nvPr/>
        </p:nvGrpSpPr>
        <p:grpSpPr>
          <a:xfrm rot="0">
            <a:off x="13167360" y="7680960"/>
            <a:ext cx="6309360" cy="6309360"/>
            <a:chOff x="0" y="0"/>
            <a:chExt cx="8412480" cy="8412480"/>
          </a:xfrm>
        </p:grpSpPr>
        <p:sp>
          <p:nvSpPr>
            <p:cNvPr name="Freeform 11" id="11"/>
            <p:cNvSpPr/>
            <p:nvPr/>
          </p:nvSpPr>
          <p:spPr>
            <a:xfrm flipH="false" flipV="false" rot="0">
              <a:off x="0" y="0"/>
              <a:ext cx="8412480" cy="8412480"/>
            </a:xfrm>
            <a:custGeom>
              <a:avLst/>
              <a:gdLst/>
              <a:ahLst/>
              <a:cxnLst/>
              <a:rect r="r" b="b" t="t" l="l"/>
              <a:pathLst>
                <a:path h="8412480" w="8412480">
                  <a:moveTo>
                    <a:pt x="0" y="4206240"/>
                  </a:moveTo>
                  <a:cubicBezTo>
                    <a:pt x="0" y="1883156"/>
                    <a:pt x="1883156" y="0"/>
                    <a:pt x="4206240" y="0"/>
                  </a:cubicBezTo>
                  <a:cubicBezTo>
                    <a:pt x="6529325" y="0"/>
                    <a:pt x="8412480" y="1883156"/>
                    <a:pt x="8412480" y="4206240"/>
                  </a:cubicBezTo>
                  <a:cubicBezTo>
                    <a:pt x="8412480" y="6529325"/>
                    <a:pt x="6529324" y="8412480"/>
                    <a:pt x="4206240" y="8412480"/>
                  </a:cubicBezTo>
                  <a:cubicBezTo>
                    <a:pt x="1883156" y="8412480"/>
                    <a:pt x="0" y="6529324"/>
                    <a:pt x="0" y="4206240"/>
                  </a:cubicBezTo>
                  <a:close/>
                </a:path>
              </a:pathLst>
            </a:custGeom>
            <a:solidFill>
              <a:srgbClr val="A26769">
                <a:alpha val="30196"/>
              </a:srgbClr>
            </a:solidFill>
          </p:spPr>
        </p:sp>
      </p:grpSp>
      <p:grpSp>
        <p:nvGrpSpPr>
          <p:cNvPr name="Group 12" id="12"/>
          <p:cNvGrpSpPr/>
          <p:nvPr/>
        </p:nvGrpSpPr>
        <p:grpSpPr>
          <a:xfrm rot="0">
            <a:off x="14264640" y="3977640"/>
            <a:ext cx="2194560" cy="2194560"/>
            <a:chOff x="0" y="0"/>
            <a:chExt cx="2926080" cy="2926080"/>
          </a:xfrm>
        </p:grpSpPr>
        <p:sp>
          <p:nvSpPr>
            <p:cNvPr name="Freeform 13" id="13"/>
            <p:cNvSpPr/>
            <p:nvPr/>
          </p:nvSpPr>
          <p:spPr>
            <a:xfrm flipH="false" flipV="false" rot="0">
              <a:off x="0" y="0"/>
              <a:ext cx="2926080" cy="2926080"/>
            </a:xfrm>
            <a:custGeom>
              <a:avLst/>
              <a:gdLst/>
              <a:ahLst/>
              <a:cxnLst/>
              <a:rect r="r" b="b" t="t" l="l"/>
              <a:pathLst>
                <a:path h="2926080" w="2926080">
                  <a:moveTo>
                    <a:pt x="0" y="1463040"/>
                  </a:moveTo>
                  <a:cubicBezTo>
                    <a:pt x="0" y="655066"/>
                    <a:pt x="655066" y="0"/>
                    <a:pt x="1463040" y="0"/>
                  </a:cubicBezTo>
                  <a:cubicBezTo>
                    <a:pt x="2271014" y="0"/>
                    <a:pt x="2926080" y="655066"/>
                    <a:pt x="2926080" y="1463040"/>
                  </a:cubicBezTo>
                  <a:cubicBezTo>
                    <a:pt x="2926080" y="2271014"/>
                    <a:pt x="2271014" y="2926080"/>
                    <a:pt x="1463040" y="2926080"/>
                  </a:cubicBezTo>
                  <a:cubicBezTo>
                    <a:pt x="655066" y="2926080"/>
                    <a:pt x="0" y="2271014"/>
                    <a:pt x="0" y="1463040"/>
                  </a:cubicBezTo>
                  <a:close/>
                </a:path>
              </a:pathLst>
            </a:custGeom>
            <a:solidFill>
              <a:srgbClr val="4A1F30"/>
            </a:solidFill>
          </p:spPr>
        </p:sp>
      </p:grpSp>
      <p:grpSp>
        <p:nvGrpSpPr>
          <p:cNvPr name="Group 14" id="14"/>
          <p:cNvGrpSpPr/>
          <p:nvPr/>
        </p:nvGrpSpPr>
        <p:grpSpPr>
          <a:xfrm rot="0">
            <a:off x="14791334" y="4504334"/>
            <a:ext cx="1141171" cy="1141171"/>
            <a:chOff x="0" y="0"/>
            <a:chExt cx="1521562" cy="1521562"/>
          </a:xfrm>
        </p:grpSpPr>
        <p:sp>
          <p:nvSpPr>
            <p:cNvPr name="Freeform 15" id="15" descr="/home/claude/herbalance/icon_dna.png"/>
            <p:cNvSpPr/>
            <p:nvPr/>
          </p:nvSpPr>
          <p:spPr>
            <a:xfrm flipH="false" flipV="false" rot="0">
              <a:off x="0" y="0"/>
              <a:ext cx="1521587" cy="1521587"/>
            </a:xfrm>
            <a:custGeom>
              <a:avLst/>
              <a:gdLst/>
              <a:ahLst/>
              <a:cxnLst/>
              <a:rect r="r" b="b" t="t" l="l"/>
              <a:pathLst>
                <a:path h="1521587" w="1521587">
                  <a:moveTo>
                    <a:pt x="0" y="0"/>
                  </a:moveTo>
                  <a:lnTo>
                    <a:pt x="1521587" y="0"/>
                  </a:lnTo>
                  <a:lnTo>
                    <a:pt x="1521587" y="1521587"/>
                  </a:lnTo>
                  <a:lnTo>
                    <a:pt x="0" y="1521587"/>
                  </a:lnTo>
                  <a:lnTo>
                    <a:pt x="0" y="0"/>
                  </a:lnTo>
                  <a:close/>
                </a:path>
              </a:pathLst>
            </a:custGeom>
            <a:blipFill>
              <a:blip r:embed="rId4"/>
              <a:stretch>
                <a:fillRect l="0" t="0" r="1" b="1"/>
              </a:stretch>
            </a:blipFill>
          </p:spPr>
        </p:sp>
      </p:grpSp>
      <p:grpSp>
        <p:nvGrpSpPr>
          <p:cNvPr name="Group 16" id="16"/>
          <p:cNvGrpSpPr/>
          <p:nvPr/>
        </p:nvGrpSpPr>
        <p:grpSpPr>
          <a:xfrm rot="0">
            <a:off x="12275820" y="6652260"/>
            <a:ext cx="5623560" cy="1645920"/>
            <a:chOff x="0" y="0"/>
            <a:chExt cx="7498080" cy="2194560"/>
          </a:xfrm>
        </p:grpSpPr>
        <p:sp>
          <p:nvSpPr>
            <p:cNvPr name="Freeform 17" id="17"/>
            <p:cNvSpPr/>
            <p:nvPr/>
          </p:nvSpPr>
          <p:spPr>
            <a:xfrm flipH="false" flipV="false" rot="0">
              <a:off x="0" y="0"/>
              <a:ext cx="7498080" cy="2194560"/>
            </a:xfrm>
            <a:custGeom>
              <a:avLst/>
              <a:gdLst/>
              <a:ahLst/>
              <a:cxnLst/>
              <a:rect r="r" b="b" t="t" l="l"/>
              <a:pathLst>
                <a:path h="2194560" w="7498080">
                  <a:moveTo>
                    <a:pt x="0" y="0"/>
                  </a:moveTo>
                  <a:lnTo>
                    <a:pt x="7498080" y="0"/>
                  </a:lnTo>
                  <a:lnTo>
                    <a:pt x="7498080" y="2194560"/>
                  </a:lnTo>
                  <a:lnTo>
                    <a:pt x="0" y="2194560"/>
                  </a:lnTo>
                  <a:close/>
                </a:path>
              </a:pathLst>
            </a:custGeom>
            <a:blipFill>
              <a:blip r:embed="rId3">
                <a:alphaModFix amt="0"/>
              </a:blip>
              <a:stretch>
                <a:fillRect l="0" t="-16573" r="0" b="-16573"/>
              </a:stretch>
            </a:blipFill>
          </p:spPr>
        </p:sp>
        <p:sp>
          <p:nvSpPr>
            <p:cNvPr name="TextBox 18" id="18"/>
            <p:cNvSpPr txBox="true"/>
            <p:nvPr/>
          </p:nvSpPr>
          <p:spPr>
            <a:xfrm>
              <a:off x="0" y="-57150"/>
              <a:ext cx="7498080" cy="2251710"/>
            </a:xfrm>
            <a:prstGeom prst="rect">
              <a:avLst/>
            </a:prstGeom>
          </p:spPr>
          <p:txBody>
            <a:bodyPr anchor="ctr" rtlCol="false" tIns="0" lIns="0" bIns="0" rIns="0"/>
            <a:lstStyle/>
            <a:p>
              <a:pPr algn="l">
                <a:lnSpc>
                  <a:spcPts val="3933"/>
                </a:lnSpc>
              </a:pPr>
              <a:r>
                <a:rPr lang="en-US" b="true" sz="2850" i="true">
                  <a:solidFill>
                    <a:srgbClr val="FFFFFF"/>
                  </a:solidFill>
                  <a:latin typeface="Cambria Bold Italics"/>
                  <a:ea typeface="Cambria Bold Italics"/>
                  <a:cs typeface="Cambria Bold Italics"/>
                  <a:sym typeface="Cambria Bold Italics"/>
                </a:rPr>
                <a:t>Preventive care,</a:t>
              </a:r>
            </a:p>
            <a:p>
              <a:pPr algn="l">
                <a:lnSpc>
                  <a:spcPts val="3933"/>
                </a:lnSpc>
              </a:pPr>
              <a:r>
                <a:rPr lang="en-US" b="true" sz="2850" i="true">
                  <a:solidFill>
                    <a:srgbClr val="FFFFFF"/>
                  </a:solidFill>
                  <a:latin typeface="Cambria Bold Italics"/>
                  <a:ea typeface="Cambria Bold Italics"/>
                  <a:cs typeface="Cambria Bold Italics"/>
                  <a:sym typeface="Cambria Bold Italics"/>
                </a:rPr>
                <a:t>powered by AI.</a:t>
              </a:r>
            </a:p>
          </p:txBody>
        </p:sp>
      </p:grpSp>
      <p:grpSp>
        <p:nvGrpSpPr>
          <p:cNvPr name="Group 19" id="19"/>
          <p:cNvGrpSpPr/>
          <p:nvPr/>
        </p:nvGrpSpPr>
        <p:grpSpPr>
          <a:xfrm rot="0">
            <a:off x="960120" y="2400300"/>
            <a:ext cx="850392" cy="850392"/>
            <a:chOff x="0" y="0"/>
            <a:chExt cx="1133856" cy="1133856"/>
          </a:xfrm>
        </p:grpSpPr>
        <p:sp>
          <p:nvSpPr>
            <p:cNvPr name="Freeform 20" id="20"/>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A26769"/>
            </a:solidFill>
          </p:spPr>
        </p:sp>
      </p:grpSp>
      <p:grpSp>
        <p:nvGrpSpPr>
          <p:cNvPr name="Group 21" id="21"/>
          <p:cNvGrpSpPr/>
          <p:nvPr/>
        </p:nvGrpSpPr>
        <p:grpSpPr>
          <a:xfrm rot="0">
            <a:off x="1164212" y="2604392"/>
            <a:ext cx="442208" cy="442208"/>
            <a:chOff x="0" y="0"/>
            <a:chExt cx="589610" cy="589610"/>
          </a:xfrm>
        </p:grpSpPr>
        <p:sp>
          <p:nvSpPr>
            <p:cNvPr name="Freeform 22" id="22" descr="/home/claude/herbalance/icon_heartbeat.png"/>
            <p:cNvSpPr/>
            <p:nvPr/>
          </p:nvSpPr>
          <p:spPr>
            <a:xfrm flipH="false" flipV="false" rot="0">
              <a:off x="0" y="0"/>
              <a:ext cx="589661" cy="589661"/>
            </a:xfrm>
            <a:custGeom>
              <a:avLst/>
              <a:gdLst/>
              <a:ahLst/>
              <a:cxnLst/>
              <a:rect r="r" b="b" t="t" l="l"/>
              <a:pathLst>
                <a:path h="589661" w="589661">
                  <a:moveTo>
                    <a:pt x="0" y="0"/>
                  </a:moveTo>
                  <a:lnTo>
                    <a:pt x="589661" y="0"/>
                  </a:lnTo>
                  <a:lnTo>
                    <a:pt x="589661" y="589661"/>
                  </a:lnTo>
                  <a:lnTo>
                    <a:pt x="0" y="589661"/>
                  </a:lnTo>
                  <a:lnTo>
                    <a:pt x="0" y="0"/>
                  </a:lnTo>
                  <a:close/>
                </a:path>
              </a:pathLst>
            </a:custGeom>
            <a:blipFill>
              <a:blip r:embed="rId5"/>
              <a:stretch>
                <a:fillRect l="0" t="0" r="8" b="8"/>
              </a:stretch>
            </a:blipFill>
          </p:spPr>
        </p:sp>
      </p:grpSp>
      <p:grpSp>
        <p:nvGrpSpPr>
          <p:cNvPr name="Group 23" id="23"/>
          <p:cNvGrpSpPr/>
          <p:nvPr/>
        </p:nvGrpSpPr>
        <p:grpSpPr>
          <a:xfrm rot="0">
            <a:off x="2125980" y="2345436"/>
            <a:ext cx="9121140" cy="1234440"/>
            <a:chOff x="0" y="0"/>
            <a:chExt cx="12161520" cy="1645920"/>
          </a:xfrm>
        </p:grpSpPr>
        <p:sp>
          <p:nvSpPr>
            <p:cNvPr name="Freeform 24" id="24"/>
            <p:cNvSpPr/>
            <p:nvPr/>
          </p:nvSpPr>
          <p:spPr>
            <a:xfrm flipH="false" flipV="false" rot="0">
              <a:off x="0" y="0"/>
              <a:ext cx="12161520" cy="1645920"/>
            </a:xfrm>
            <a:custGeom>
              <a:avLst/>
              <a:gdLst/>
              <a:ahLst/>
              <a:cxnLst/>
              <a:rect r="r" b="b" t="t" l="l"/>
              <a:pathLst>
                <a:path h="1645920" w="12161520">
                  <a:moveTo>
                    <a:pt x="0" y="0"/>
                  </a:moveTo>
                  <a:lnTo>
                    <a:pt x="12161520" y="0"/>
                  </a:lnTo>
                  <a:lnTo>
                    <a:pt x="12161520" y="1645920"/>
                  </a:lnTo>
                  <a:lnTo>
                    <a:pt x="0" y="1645920"/>
                  </a:lnTo>
                  <a:close/>
                </a:path>
              </a:pathLst>
            </a:custGeom>
            <a:blipFill>
              <a:blip r:embed="rId3">
                <a:alphaModFix amt="0"/>
              </a:blip>
              <a:stretch>
                <a:fillRect l="0" t="-93972" r="0" b="-93972"/>
              </a:stretch>
            </a:blipFill>
          </p:spPr>
        </p:sp>
        <p:sp>
          <p:nvSpPr>
            <p:cNvPr name="TextBox 25" id="25"/>
            <p:cNvSpPr txBox="true"/>
            <p:nvPr/>
          </p:nvSpPr>
          <p:spPr>
            <a:xfrm>
              <a:off x="0" y="-38100"/>
              <a:ext cx="12161520" cy="1684020"/>
            </a:xfrm>
            <a:prstGeom prst="rect">
              <a:avLst/>
            </a:prstGeom>
          </p:spPr>
          <p:txBody>
            <a:bodyPr anchor="ctr" rtlCol="false" tIns="0" lIns="0" bIns="0" rIns="0"/>
            <a:lstStyle/>
            <a:p>
              <a:pPr algn="l">
                <a:lnSpc>
                  <a:spcPts val="2430"/>
                </a:lnSpc>
              </a:pPr>
              <a:r>
                <a:rPr lang="en-US" sz="2025">
                  <a:solidFill>
                    <a:srgbClr val="3A2A2E"/>
                  </a:solidFill>
                  <a:latin typeface="Calibri (MS)"/>
                  <a:ea typeface="Calibri (MS)"/>
                  <a:cs typeface="Calibri (MS)"/>
                  <a:sym typeface="Calibri (MS)"/>
                </a:rPr>
                <a:t>Women's health requires personalized and continuous care.</a:t>
              </a:r>
            </a:p>
          </p:txBody>
        </p:sp>
      </p:grpSp>
      <p:grpSp>
        <p:nvGrpSpPr>
          <p:cNvPr name="Group 26" id="26"/>
          <p:cNvGrpSpPr/>
          <p:nvPr/>
        </p:nvGrpSpPr>
        <p:grpSpPr>
          <a:xfrm rot="0">
            <a:off x="960120" y="3744468"/>
            <a:ext cx="850392" cy="850392"/>
            <a:chOff x="0" y="0"/>
            <a:chExt cx="1133856" cy="1133856"/>
          </a:xfrm>
        </p:grpSpPr>
        <p:sp>
          <p:nvSpPr>
            <p:cNvPr name="Freeform 27" id="27"/>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A26769"/>
            </a:solidFill>
          </p:spPr>
        </p:sp>
      </p:grpSp>
      <p:grpSp>
        <p:nvGrpSpPr>
          <p:cNvPr name="Group 28" id="28"/>
          <p:cNvGrpSpPr/>
          <p:nvPr/>
        </p:nvGrpSpPr>
        <p:grpSpPr>
          <a:xfrm rot="0">
            <a:off x="1164212" y="3948560"/>
            <a:ext cx="442208" cy="442208"/>
            <a:chOff x="0" y="0"/>
            <a:chExt cx="589610" cy="589610"/>
          </a:xfrm>
        </p:grpSpPr>
        <p:sp>
          <p:nvSpPr>
            <p:cNvPr name="Freeform 29" id="29" descr="/home/claude/herbalance/icon_layers.png"/>
            <p:cNvSpPr/>
            <p:nvPr/>
          </p:nvSpPr>
          <p:spPr>
            <a:xfrm flipH="false" flipV="false" rot="0">
              <a:off x="0" y="0"/>
              <a:ext cx="589661" cy="589661"/>
            </a:xfrm>
            <a:custGeom>
              <a:avLst/>
              <a:gdLst/>
              <a:ahLst/>
              <a:cxnLst/>
              <a:rect r="r" b="b" t="t" l="l"/>
              <a:pathLst>
                <a:path h="589661" w="589661">
                  <a:moveTo>
                    <a:pt x="0" y="0"/>
                  </a:moveTo>
                  <a:lnTo>
                    <a:pt x="589661" y="0"/>
                  </a:lnTo>
                  <a:lnTo>
                    <a:pt x="589661" y="589661"/>
                  </a:lnTo>
                  <a:lnTo>
                    <a:pt x="0" y="589661"/>
                  </a:lnTo>
                  <a:lnTo>
                    <a:pt x="0" y="0"/>
                  </a:lnTo>
                  <a:close/>
                </a:path>
              </a:pathLst>
            </a:custGeom>
            <a:blipFill>
              <a:blip r:embed="rId6"/>
              <a:stretch>
                <a:fillRect l="0" t="0" r="8" b="8"/>
              </a:stretch>
            </a:blipFill>
          </p:spPr>
        </p:sp>
      </p:grpSp>
      <p:grpSp>
        <p:nvGrpSpPr>
          <p:cNvPr name="Group 30" id="30"/>
          <p:cNvGrpSpPr/>
          <p:nvPr/>
        </p:nvGrpSpPr>
        <p:grpSpPr>
          <a:xfrm rot="0">
            <a:off x="2125980" y="3689604"/>
            <a:ext cx="9121140" cy="1234440"/>
            <a:chOff x="0" y="0"/>
            <a:chExt cx="12161520" cy="1645920"/>
          </a:xfrm>
        </p:grpSpPr>
        <p:sp>
          <p:nvSpPr>
            <p:cNvPr name="Freeform 31" id="31"/>
            <p:cNvSpPr/>
            <p:nvPr/>
          </p:nvSpPr>
          <p:spPr>
            <a:xfrm flipH="false" flipV="false" rot="0">
              <a:off x="0" y="0"/>
              <a:ext cx="12161520" cy="1645920"/>
            </a:xfrm>
            <a:custGeom>
              <a:avLst/>
              <a:gdLst/>
              <a:ahLst/>
              <a:cxnLst/>
              <a:rect r="r" b="b" t="t" l="l"/>
              <a:pathLst>
                <a:path h="1645920" w="12161520">
                  <a:moveTo>
                    <a:pt x="0" y="0"/>
                  </a:moveTo>
                  <a:lnTo>
                    <a:pt x="12161520" y="0"/>
                  </a:lnTo>
                  <a:lnTo>
                    <a:pt x="12161520" y="1645920"/>
                  </a:lnTo>
                  <a:lnTo>
                    <a:pt x="0" y="1645920"/>
                  </a:lnTo>
                  <a:close/>
                </a:path>
              </a:pathLst>
            </a:custGeom>
            <a:blipFill>
              <a:blip r:embed="rId3">
                <a:alphaModFix amt="0"/>
              </a:blip>
              <a:stretch>
                <a:fillRect l="0" t="-93972" r="0" b="-93972"/>
              </a:stretch>
            </a:blipFill>
          </p:spPr>
        </p:sp>
        <p:sp>
          <p:nvSpPr>
            <p:cNvPr name="TextBox 32" id="32"/>
            <p:cNvSpPr txBox="true"/>
            <p:nvPr/>
          </p:nvSpPr>
          <p:spPr>
            <a:xfrm>
              <a:off x="0" y="-38100"/>
              <a:ext cx="12161520" cy="1684020"/>
            </a:xfrm>
            <a:prstGeom prst="rect">
              <a:avLst/>
            </a:prstGeom>
          </p:spPr>
          <p:txBody>
            <a:bodyPr anchor="ctr" rtlCol="false" tIns="0" lIns="0" bIns="0" rIns="0"/>
            <a:lstStyle/>
            <a:p>
              <a:pPr algn="l">
                <a:lnSpc>
                  <a:spcPts val="2430"/>
                </a:lnSpc>
              </a:pPr>
              <a:r>
                <a:rPr lang="en-US" sz="2025">
                  <a:solidFill>
                    <a:srgbClr val="3A2A2E"/>
                  </a:solidFill>
                  <a:latin typeface="Calibri (MS)"/>
                  <a:ea typeface="Calibri (MS)"/>
                  <a:cs typeface="Calibri (MS)"/>
                  <a:sym typeface="Calibri (MS)"/>
                </a:rPr>
                <a:t>Many existing healthcare solutions focus on only one aspect of wellness.</a:t>
              </a:r>
            </a:p>
          </p:txBody>
        </p:sp>
      </p:grpSp>
      <p:grpSp>
        <p:nvGrpSpPr>
          <p:cNvPr name="Group 33" id="33"/>
          <p:cNvGrpSpPr/>
          <p:nvPr/>
        </p:nvGrpSpPr>
        <p:grpSpPr>
          <a:xfrm rot="0">
            <a:off x="960120" y="5088636"/>
            <a:ext cx="850392" cy="850392"/>
            <a:chOff x="0" y="0"/>
            <a:chExt cx="1133856" cy="1133856"/>
          </a:xfrm>
        </p:grpSpPr>
        <p:sp>
          <p:nvSpPr>
            <p:cNvPr name="Freeform 34" id="34"/>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A26769"/>
            </a:solidFill>
          </p:spPr>
        </p:sp>
      </p:grpSp>
      <p:grpSp>
        <p:nvGrpSpPr>
          <p:cNvPr name="Group 35" id="35"/>
          <p:cNvGrpSpPr/>
          <p:nvPr/>
        </p:nvGrpSpPr>
        <p:grpSpPr>
          <a:xfrm rot="0">
            <a:off x="1164212" y="5292728"/>
            <a:ext cx="442208" cy="442208"/>
            <a:chOff x="0" y="0"/>
            <a:chExt cx="589610" cy="589610"/>
          </a:xfrm>
        </p:grpSpPr>
        <p:sp>
          <p:nvSpPr>
            <p:cNvPr name="Freeform 36" id="36" descr="/home/claude/herbalance/icon_brain.png"/>
            <p:cNvSpPr/>
            <p:nvPr/>
          </p:nvSpPr>
          <p:spPr>
            <a:xfrm flipH="false" flipV="false" rot="0">
              <a:off x="0" y="0"/>
              <a:ext cx="589661" cy="589661"/>
            </a:xfrm>
            <a:custGeom>
              <a:avLst/>
              <a:gdLst/>
              <a:ahLst/>
              <a:cxnLst/>
              <a:rect r="r" b="b" t="t" l="l"/>
              <a:pathLst>
                <a:path h="589661" w="589661">
                  <a:moveTo>
                    <a:pt x="0" y="0"/>
                  </a:moveTo>
                  <a:lnTo>
                    <a:pt x="589661" y="0"/>
                  </a:lnTo>
                  <a:lnTo>
                    <a:pt x="589661" y="589661"/>
                  </a:lnTo>
                  <a:lnTo>
                    <a:pt x="0" y="589661"/>
                  </a:lnTo>
                  <a:lnTo>
                    <a:pt x="0" y="0"/>
                  </a:lnTo>
                  <a:close/>
                </a:path>
              </a:pathLst>
            </a:custGeom>
            <a:blipFill>
              <a:blip r:embed="rId7"/>
              <a:stretch>
                <a:fillRect l="0" t="0" r="8" b="8"/>
              </a:stretch>
            </a:blipFill>
          </p:spPr>
        </p:sp>
      </p:grpSp>
      <p:grpSp>
        <p:nvGrpSpPr>
          <p:cNvPr name="Group 37" id="37"/>
          <p:cNvGrpSpPr/>
          <p:nvPr/>
        </p:nvGrpSpPr>
        <p:grpSpPr>
          <a:xfrm rot="0">
            <a:off x="2125980" y="5033772"/>
            <a:ext cx="9121140" cy="1234440"/>
            <a:chOff x="0" y="0"/>
            <a:chExt cx="12161520" cy="1645920"/>
          </a:xfrm>
        </p:grpSpPr>
        <p:sp>
          <p:nvSpPr>
            <p:cNvPr name="Freeform 38" id="38"/>
            <p:cNvSpPr/>
            <p:nvPr/>
          </p:nvSpPr>
          <p:spPr>
            <a:xfrm flipH="false" flipV="false" rot="0">
              <a:off x="0" y="0"/>
              <a:ext cx="12161520" cy="1645920"/>
            </a:xfrm>
            <a:custGeom>
              <a:avLst/>
              <a:gdLst/>
              <a:ahLst/>
              <a:cxnLst/>
              <a:rect r="r" b="b" t="t" l="l"/>
              <a:pathLst>
                <a:path h="1645920" w="12161520">
                  <a:moveTo>
                    <a:pt x="0" y="0"/>
                  </a:moveTo>
                  <a:lnTo>
                    <a:pt x="12161520" y="0"/>
                  </a:lnTo>
                  <a:lnTo>
                    <a:pt x="12161520" y="1645920"/>
                  </a:lnTo>
                  <a:lnTo>
                    <a:pt x="0" y="1645920"/>
                  </a:lnTo>
                  <a:close/>
                </a:path>
              </a:pathLst>
            </a:custGeom>
            <a:blipFill>
              <a:blip r:embed="rId3">
                <a:alphaModFix amt="0"/>
              </a:blip>
              <a:stretch>
                <a:fillRect l="0" t="-93972" r="0" b="-93972"/>
              </a:stretch>
            </a:blipFill>
          </p:spPr>
        </p:sp>
        <p:sp>
          <p:nvSpPr>
            <p:cNvPr name="TextBox 39" id="39"/>
            <p:cNvSpPr txBox="true"/>
            <p:nvPr/>
          </p:nvSpPr>
          <p:spPr>
            <a:xfrm>
              <a:off x="0" y="-38100"/>
              <a:ext cx="12161520" cy="1684020"/>
            </a:xfrm>
            <a:prstGeom prst="rect">
              <a:avLst/>
            </a:prstGeom>
          </p:spPr>
          <p:txBody>
            <a:bodyPr anchor="ctr" rtlCol="false" tIns="0" lIns="0" bIns="0" rIns="0"/>
            <a:lstStyle/>
            <a:p>
              <a:pPr algn="l">
                <a:lnSpc>
                  <a:spcPts val="2430"/>
                </a:lnSpc>
              </a:pPr>
              <a:r>
                <a:rPr lang="en-US" sz="2025">
                  <a:solidFill>
                    <a:srgbClr val="3A2A2E"/>
                  </a:solidFill>
                  <a:latin typeface="Calibri (MS)"/>
                  <a:ea typeface="Calibri (MS)"/>
                  <a:cs typeface="Calibri (MS)"/>
                  <a:sym typeface="Calibri (MS)"/>
                </a:rPr>
                <a:t>AI can provide accurate predictions and personalized recommendations.</a:t>
              </a:r>
            </a:p>
          </p:txBody>
        </p:sp>
      </p:grpSp>
      <p:grpSp>
        <p:nvGrpSpPr>
          <p:cNvPr name="Group 40" id="40"/>
          <p:cNvGrpSpPr/>
          <p:nvPr/>
        </p:nvGrpSpPr>
        <p:grpSpPr>
          <a:xfrm rot="0">
            <a:off x="960120" y="6432804"/>
            <a:ext cx="850392" cy="850392"/>
            <a:chOff x="0" y="0"/>
            <a:chExt cx="1133856" cy="1133856"/>
          </a:xfrm>
        </p:grpSpPr>
        <p:sp>
          <p:nvSpPr>
            <p:cNvPr name="Freeform 41" id="41"/>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A26769"/>
            </a:solidFill>
          </p:spPr>
        </p:sp>
      </p:grpSp>
      <p:grpSp>
        <p:nvGrpSpPr>
          <p:cNvPr name="Group 42" id="42"/>
          <p:cNvGrpSpPr/>
          <p:nvPr/>
        </p:nvGrpSpPr>
        <p:grpSpPr>
          <a:xfrm rot="0">
            <a:off x="1164212" y="6636896"/>
            <a:ext cx="442208" cy="442208"/>
            <a:chOff x="0" y="0"/>
            <a:chExt cx="589610" cy="589610"/>
          </a:xfrm>
        </p:grpSpPr>
        <p:sp>
          <p:nvSpPr>
            <p:cNvPr name="Freeform 43" id="43" descr="/home/claude/herbalance/icon_chart.png"/>
            <p:cNvSpPr/>
            <p:nvPr/>
          </p:nvSpPr>
          <p:spPr>
            <a:xfrm flipH="false" flipV="false" rot="0">
              <a:off x="0" y="0"/>
              <a:ext cx="589661" cy="589661"/>
            </a:xfrm>
            <a:custGeom>
              <a:avLst/>
              <a:gdLst/>
              <a:ahLst/>
              <a:cxnLst/>
              <a:rect r="r" b="b" t="t" l="l"/>
              <a:pathLst>
                <a:path h="589661" w="589661">
                  <a:moveTo>
                    <a:pt x="0" y="0"/>
                  </a:moveTo>
                  <a:lnTo>
                    <a:pt x="589661" y="0"/>
                  </a:lnTo>
                  <a:lnTo>
                    <a:pt x="589661" y="589661"/>
                  </a:lnTo>
                  <a:lnTo>
                    <a:pt x="0" y="589661"/>
                  </a:lnTo>
                  <a:lnTo>
                    <a:pt x="0" y="0"/>
                  </a:lnTo>
                  <a:close/>
                </a:path>
              </a:pathLst>
            </a:custGeom>
            <a:blipFill>
              <a:blip r:embed="rId8"/>
              <a:stretch>
                <a:fillRect l="0" t="0" r="8" b="8"/>
              </a:stretch>
            </a:blipFill>
          </p:spPr>
        </p:sp>
      </p:grpSp>
      <p:grpSp>
        <p:nvGrpSpPr>
          <p:cNvPr name="Group 44" id="44"/>
          <p:cNvGrpSpPr/>
          <p:nvPr/>
        </p:nvGrpSpPr>
        <p:grpSpPr>
          <a:xfrm rot="0">
            <a:off x="2125980" y="6377940"/>
            <a:ext cx="9121140" cy="1234440"/>
            <a:chOff x="0" y="0"/>
            <a:chExt cx="12161520" cy="1645920"/>
          </a:xfrm>
        </p:grpSpPr>
        <p:sp>
          <p:nvSpPr>
            <p:cNvPr name="Freeform 45" id="45"/>
            <p:cNvSpPr/>
            <p:nvPr/>
          </p:nvSpPr>
          <p:spPr>
            <a:xfrm flipH="false" flipV="false" rot="0">
              <a:off x="0" y="0"/>
              <a:ext cx="12161520" cy="1645920"/>
            </a:xfrm>
            <a:custGeom>
              <a:avLst/>
              <a:gdLst/>
              <a:ahLst/>
              <a:cxnLst/>
              <a:rect r="r" b="b" t="t" l="l"/>
              <a:pathLst>
                <a:path h="1645920" w="12161520">
                  <a:moveTo>
                    <a:pt x="0" y="0"/>
                  </a:moveTo>
                  <a:lnTo>
                    <a:pt x="12161520" y="0"/>
                  </a:lnTo>
                  <a:lnTo>
                    <a:pt x="12161520" y="1645920"/>
                  </a:lnTo>
                  <a:lnTo>
                    <a:pt x="0" y="1645920"/>
                  </a:lnTo>
                  <a:close/>
                </a:path>
              </a:pathLst>
            </a:custGeom>
            <a:blipFill>
              <a:blip r:embed="rId3">
                <a:alphaModFix amt="0"/>
              </a:blip>
              <a:stretch>
                <a:fillRect l="0" t="-93972" r="0" b="-93972"/>
              </a:stretch>
            </a:blipFill>
          </p:spPr>
        </p:sp>
        <p:sp>
          <p:nvSpPr>
            <p:cNvPr name="TextBox 46" id="46"/>
            <p:cNvSpPr txBox="true"/>
            <p:nvPr/>
          </p:nvSpPr>
          <p:spPr>
            <a:xfrm>
              <a:off x="0" y="-38100"/>
              <a:ext cx="12161520" cy="1684020"/>
            </a:xfrm>
            <a:prstGeom prst="rect">
              <a:avLst/>
            </a:prstGeom>
          </p:spPr>
          <p:txBody>
            <a:bodyPr anchor="ctr" rtlCol="false" tIns="0" lIns="0" bIns="0" rIns="0"/>
            <a:lstStyle/>
            <a:p>
              <a:pPr algn="l">
                <a:lnSpc>
                  <a:spcPts val="2430"/>
                </a:lnSpc>
              </a:pPr>
              <a:r>
                <a:rPr lang="en-US" sz="2025">
                  <a:solidFill>
                    <a:srgbClr val="3A2A2E"/>
                  </a:solidFill>
                  <a:latin typeface="Calibri (MS)"/>
                  <a:ea typeface="Calibri (MS)"/>
                  <a:cs typeface="Calibri (MS)"/>
                  <a:sym typeface="Calibri (MS)"/>
                </a:rPr>
                <a:t>HERBALANCE AI combines multiple healthcare services into a single intelligent platform.</a:t>
              </a:r>
            </a:p>
          </p:txBody>
        </p:sp>
      </p:grpSp>
      <p:grpSp>
        <p:nvGrpSpPr>
          <p:cNvPr name="Group 47" id="47"/>
          <p:cNvGrpSpPr/>
          <p:nvPr/>
        </p:nvGrpSpPr>
        <p:grpSpPr>
          <a:xfrm rot="0">
            <a:off x="960120" y="7776972"/>
            <a:ext cx="850392" cy="850392"/>
            <a:chOff x="0" y="0"/>
            <a:chExt cx="1133856" cy="1133856"/>
          </a:xfrm>
        </p:grpSpPr>
        <p:sp>
          <p:nvSpPr>
            <p:cNvPr name="Freeform 48" id="48"/>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A26769"/>
            </a:solidFill>
          </p:spPr>
        </p:sp>
      </p:grpSp>
      <p:grpSp>
        <p:nvGrpSpPr>
          <p:cNvPr name="Group 49" id="49"/>
          <p:cNvGrpSpPr/>
          <p:nvPr/>
        </p:nvGrpSpPr>
        <p:grpSpPr>
          <a:xfrm rot="0">
            <a:off x="1164212" y="7981064"/>
            <a:ext cx="442208" cy="442208"/>
            <a:chOff x="0" y="0"/>
            <a:chExt cx="589610" cy="589610"/>
          </a:xfrm>
        </p:grpSpPr>
        <p:sp>
          <p:nvSpPr>
            <p:cNvPr name="Freeform 50" id="50" descr="/home/claude/herbalance/icon_shield.png"/>
            <p:cNvSpPr/>
            <p:nvPr/>
          </p:nvSpPr>
          <p:spPr>
            <a:xfrm flipH="false" flipV="false" rot="0">
              <a:off x="0" y="0"/>
              <a:ext cx="589661" cy="589661"/>
            </a:xfrm>
            <a:custGeom>
              <a:avLst/>
              <a:gdLst/>
              <a:ahLst/>
              <a:cxnLst/>
              <a:rect r="r" b="b" t="t" l="l"/>
              <a:pathLst>
                <a:path h="589661" w="589661">
                  <a:moveTo>
                    <a:pt x="0" y="0"/>
                  </a:moveTo>
                  <a:lnTo>
                    <a:pt x="589661" y="0"/>
                  </a:lnTo>
                  <a:lnTo>
                    <a:pt x="589661" y="589661"/>
                  </a:lnTo>
                  <a:lnTo>
                    <a:pt x="0" y="589661"/>
                  </a:lnTo>
                  <a:lnTo>
                    <a:pt x="0" y="0"/>
                  </a:lnTo>
                  <a:close/>
                </a:path>
              </a:pathLst>
            </a:custGeom>
            <a:blipFill>
              <a:blip r:embed="rId9"/>
              <a:stretch>
                <a:fillRect l="0" t="0" r="8" b="8"/>
              </a:stretch>
            </a:blipFill>
          </p:spPr>
        </p:sp>
      </p:grpSp>
      <p:grpSp>
        <p:nvGrpSpPr>
          <p:cNvPr name="Group 51" id="51"/>
          <p:cNvGrpSpPr/>
          <p:nvPr/>
        </p:nvGrpSpPr>
        <p:grpSpPr>
          <a:xfrm rot="0">
            <a:off x="2125980" y="7722108"/>
            <a:ext cx="9121140" cy="1234440"/>
            <a:chOff x="0" y="0"/>
            <a:chExt cx="12161520" cy="1645920"/>
          </a:xfrm>
        </p:grpSpPr>
        <p:sp>
          <p:nvSpPr>
            <p:cNvPr name="Freeform 52" id="52"/>
            <p:cNvSpPr/>
            <p:nvPr/>
          </p:nvSpPr>
          <p:spPr>
            <a:xfrm flipH="false" flipV="false" rot="0">
              <a:off x="0" y="0"/>
              <a:ext cx="12161520" cy="1645920"/>
            </a:xfrm>
            <a:custGeom>
              <a:avLst/>
              <a:gdLst/>
              <a:ahLst/>
              <a:cxnLst/>
              <a:rect r="r" b="b" t="t" l="l"/>
              <a:pathLst>
                <a:path h="1645920" w="12161520">
                  <a:moveTo>
                    <a:pt x="0" y="0"/>
                  </a:moveTo>
                  <a:lnTo>
                    <a:pt x="12161520" y="0"/>
                  </a:lnTo>
                  <a:lnTo>
                    <a:pt x="12161520" y="1645920"/>
                  </a:lnTo>
                  <a:lnTo>
                    <a:pt x="0" y="1645920"/>
                  </a:lnTo>
                  <a:close/>
                </a:path>
              </a:pathLst>
            </a:custGeom>
            <a:blipFill>
              <a:blip r:embed="rId3">
                <a:alphaModFix amt="0"/>
              </a:blip>
              <a:stretch>
                <a:fillRect l="0" t="-93972" r="0" b="-93972"/>
              </a:stretch>
            </a:blipFill>
          </p:spPr>
        </p:sp>
        <p:sp>
          <p:nvSpPr>
            <p:cNvPr name="TextBox 53" id="53"/>
            <p:cNvSpPr txBox="true"/>
            <p:nvPr/>
          </p:nvSpPr>
          <p:spPr>
            <a:xfrm>
              <a:off x="0" y="-38100"/>
              <a:ext cx="12161520" cy="1684020"/>
            </a:xfrm>
            <a:prstGeom prst="rect">
              <a:avLst/>
            </a:prstGeom>
          </p:spPr>
          <p:txBody>
            <a:bodyPr anchor="ctr" rtlCol="false" tIns="0" lIns="0" bIns="0" rIns="0"/>
            <a:lstStyle/>
            <a:p>
              <a:pPr algn="l">
                <a:lnSpc>
                  <a:spcPts val="2430"/>
                </a:lnSpc>
              </a:pPr>
              <a:r>
                <a:rPr lang="en-US" sz="2025">
                  <a:solidFill>
                    <a:srgbClr val="3A2A2E"/>
                  </a:solidFill>
                  <a:latin typeface="Calibri (MS)"/>
                  <a:ea typeface="Calibri (MS)"/>
                  <a:cs typeface="Calibri (MS)"/>
                  <a:sym typeface="Calibri (MS)"/>
                </a:rPr>
                <a:t>The system promotes preventive healthcare and informed decision-making.</a:t>
              </a:r>
            </a:p>
          </p:txBody>
        </p:sp>
      </p:grpSp>
      <p:grpSp>
        <p:nvGrpSpPr>
          <p:cNvPr name="Group 54" id="54"/>
          <p:cNvGrpSpPr/>
          <p:nvPr/>
        </p:nvGrpSpPr>
        <p:grpSpPr>
          <a:xfrm rot="0">
            <a:off x="17048988" y="9532620"/>
            <a:ext cx="822960" cy="480060"/>
            <a:chOff x="0" y="0"/>
            <a:chExt cx="1097280" cy="640080"/>
          </a:xfrm>
        </p:grpSpPr>
        <p:sp>
          <p:nvSpPr>
            <p:cNvPr name="Freeform 55" id="55"/>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3">
                <a:alphaModFix amt="0"/>
              </a:blip>
              <a:stretch>
                <a:fillRect l="-24843" t="0" r="-24843" b="0"/>
              </a:stretch>
            </a:blipFill>
          </p:spPr>
        </p:sp>
        <p:sp>
          <p:nvSpPr>
            <p:cNvPr name="TextBox 56" id="56"/>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8A7478"/>
                  </a:solidFill>
                  <a:latin typeface="Calibri (MS)"/>
                  <a:ea typeface="Calibri (MS)"/>
                  <a:cs typeface="Calibri (MS)"/>
                  <a:sym typeface="Calibri (MS)"/>
                </a:rPr>
                <a:t>03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CE2D0"/>
        </a:solidFill>
      </p:bgPr>
    </p:bg>
    <p:spTree>
      <p:nvGrpSpPr>
        <p:cNvPr id="1" name=""/>
        <p:cNvGrpSpPr/>
        <p:nvPr/>
      </p:nvGrpSpPr>
      <p:grpSpPr>
        <a:xfrm>
          <a:off x="0" y="0"/>
          <a:ext cx="0" cy="0"/>
          <a:chOff x="0" y="0"/>
          <a:chExt cx="0" cy="0"/>
        </a:xfrm>
      </p:grpSpPr>
      <p:grpSp>
        <p:nvGrpSpPr>
          <p:cNvPr name="Group 2" id="2"/>
          <p:cNvGrpSpPr/>
          <p:nvPr/>
        </p:nvGrpSpPr>
        <p:grpSpPr>
          <a:xfrm rot="0">
            <a:off x="960120" y="68580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299">
                  <a:solidFill>
                    <a:srgbClr val="6D2E46"/>
                  </a:solidFill>
                  <a:latin typeface="Calibri (MS) Bold"/>
                  <a:ea typeface="Calibri (MS) Bold"/>
                  <a:cs typeface="Calibri (MS) Bold"/>
                  <a:sym typeface="Calibri (MS) Bold"/>
                </a:rPr>
                <a:t>THE CHALLENGE</a:t>
              </a:r>
            </a:p>
          </p:txBody>
        </p:sp>
      </p:grpSp>
      <p:grpSp>
        <p:nvGrpSpPr>
          <p:cNvPr name="Group 5" id="5"/>
          <p:cNvGrpSpPr/>
          <p:nvPr/>
        </p:nvGrpSpPr>
        <p:grpSpPr>
          <a:xfrm rot="0">
            <a:off x="960120" y="1124712"/>
            <a:ext cx="12344400" cy="960120"/>
            <a:chOff x="0" y="0"/>
            <a:chExt cx="16459200" cy="1280160"/>
          </a:xfrm>
        </p:grpSpPr>
        <p:sp>
          <p:nvSpPr>
            <p:cNvPr name="Freeform 6" id="6"/>
            <p:cNvSpPr/>
            <p:nvPr/>
          </p:nvSpPr>
          <p:spPr>
            <a:xfrm flipH="false" flipV="false" rot="0">
              <a:off x="0" y="0"/>
              <a:ext cx="16459200" cy="1280160"/>
            </a:xfrm>
            <a:custGeom>
              <a:avLst/>
              <a:gdLst/>
              <a:ahLst/>
              <a:cxnLst/>
              <a:rect r="r" b="b" t="t" l="l"/>
              <a:pathLst>
                <a:path h="1280160" w="16459200">
                  <a:moveTo>
                    <a:pt x="0" y="0"/>
                  </a:moveTo>
                  <a:lnTo>
                    <a:pt x="16459200" y="0"/>
                  </a:lnTo>
                  <a:lnTo>
                    <a:pt x="16459200" y="1280160"/>
                  </a:lnTo>
                  <a:lnTo>
                    <a:pt x="0" y="1280160"/>
                  </a:lnTo>
                  <a:close/>
                </a:path>
              </a:pathLst>
            </a:custGeom>
            <a:blipFill>
              <a:blip r:embed="rId3">
                <a:alphaModFix amt="0"/>
              </a:blip>
              <a:stretch>
                <a:fillRect l="0" t="-200521" r="0" b="-200521"/>
              </a:stretch>
            </a:blipFill>
          </p:spPr>
        </p:sp>
        <p:sp>
          <p:nvSpPr>
            <p:cNvPr name="TextBox 7" id="7"/>
            <p:cNvSpPr txBox="true"/>
            <p:nvPr/>
          </p:nvSpPr>
          <p:spPr>
            <a:xfrm>
              <a:off x="0" y="-9525"/>
              <a:ext cx="16459200" cy="1289685"/>
            </a:xfrm>
            <a:prstGeom prst="rect">
              <a:avLst/>
            </a:prstGeom>
          </p:spPr>
          <p:txBody>
            <a:bodyPr anchor="ctr" rtlCol="false" tIns="0" lIns="0" bIns="0" rIns="0"/>
            <a:lstStyle/>
            <a:p>
              <a:pPr algn="l">
                <a:lnSpc>
                  <a:spcPts val="6120"/>
                </a:lnSpc>
              </a:pPr>
              <a:r>
                <a:rPr lang="en-US" sz="5100" b="true">
                  <a:solidFill>
                    <a:srgbClr val="3A2A2E"/>
                  </a:solidFill>
                  <a:latin typeface="Cambria Bold"/>
                  <a:ea typeface="Cambria Bold"/>
                  <a:cs typeface="Cambria Bold"/>
                  <a:sym typeface="Cambria Bold"/>
                </a:rPr>
                <a:t>Problem Statement</a:t>
              </a:r>
            </a:p>
          </p:txBody>
        </p:sp>
      </p:grpSp>
      <p:grpSp>
        <p:nvGrpSpPr>
          <p:cNvPr name="Group 8" id="8"/>
          <p:cNvGrpSpPr/>
          <p:nvPr/>
        </p:nvGrpSpPr>
        <p:grpSpPr>
          <a:xfrm rot="0">
            <a:off x="960120" y="2537460"/>
            <a:ext cx="5280660" cy="3223260"/>
            <a:chOff x="0" y="0"/>
            <a:chExt cx="7040880" cy="4297680"/>
          </a:xfrm>
        </p:grpSpPr>
        <p:sp>
          <p:nvSpPr>
            <p:cNvPr name="Freeform 9" id="9"/>
            <p:cNvSpPr/>
            <p:nvPr/>
          </p:nvSpPr>
          <p:spPr>
            <a:xfrm flipH="false" flipV="false" rot="0">
              <a:off x="0" y="0"/>
              <a:ext cx="7040880" cy="4297680"/>
            </a:xfrm>
            <a:custGeom>
              <a:avLst/>
              <a:gdLst/>
              <a:ahLst/>
              <a:cxnLst/>
              <a:rect r="r" b="b" t="t" l="l"/>
              <a:pathLst>
                <a:path h="4297680" w="7040880">
                  <a:moveTo>
                    <a:pt x="0" y="164592"/>
                  </a:moveTo>
                  <a:cubicBezTo>
                    <a:pt x="0" y="73660"/>
                    <a:pt x="73660" y="0"/>
                    <a:pt x="164592" y="0"/>
                  </a:cubicBezTo>
                  <a:lnTo>
                    <a:pt x="6876288" y="0"/>
                  </a:lnTo>
                  <a:cubicBezTo>
                    <a:pt x="6967220" y="0"/>
                    <a:pt x="7040880" y="73660"/>
                    <a:pt x="7040880" y="164592"/>
                  </a:cubicBezTo>
                  <a:lnTo>
                    <a:pt x="7040880" y="4133088"/>
                  </a:lnTo>
                  <a:cubicBezTo>
                    <a:pt x="7040880" y="4224020"/>
                    <a:pt x="6967220" y="4297680"/>
                    <a:pt x="6876288" y="4297680"/>
                  </a:cubicBezTo>
                  <a:lnTo>
                    <a:pt x="164592" y="4297680"/>
                  </a:lnTo>
                  <a:cubicBezTo>
                    <a:pt x="73660" y="4297680"/>
                    <a:pt x="0" y="4224020"/>
                    <a:pt x="0" y="4133088"/>
                  </a:cubicBezTo>
                  <a:close/>
                </a:path>
              </a:pathLst>
            </a:custGeom>
            <a:solidFill>
              <a:srgbClr val="FFFFFF"/>
            </a:solidFill>
          </p:spPr>
        </p:sp>
      </p:grpSp>
      <p:grpSp>
        <p:nvGrpSpPr>
          <p:cNvPr name="Group 10" id="10"/>
          <p:cNvGrpSpPr/>
          <p:nvPr/>
        </p:nvGrpSpPr>
        <p:grpSpPr>
          <a:xfrm rot="0">
            <a:off x="1344168" y="2921508"/>
            <a:ext cx="850392" cy="850392"/>
            <a:chOff x="0" y="0"/>
            <a:chExt cx="1133856" cy="1133856"/>
          </a:xfrm>
        </p:grpSpPr>
        <p:sp>
          <p:nvSpPr>
            <p:cNvPr name="Freeform 11" id="11"/>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6D2E46"/>
            </a:solidFill>
          </p:spPr>
        </p:sp>
      </p:grpSp>
      <p:grpSp>
        <p:nvGrpSpPr>
          <p:cNvPr name="Group 12" id="12"/>
          <p:cNvGrpSpPr/>
          <p:nvPr/>
        </p:nvGrpSpPr>
        <p:grpSpPr>
          <a:xfrm rot="0">
            <a:off x="1548260" y="3125600"/>
            <a:ext cx="442208" cy="442208"/>
            <a:chOff x="0" y="0"/>
            <a:chExt cx="589610" cy="589610"/>
          </a:xfrm>
        </p:grpSpPr>
        <p:sp>
          <p:nvSpPr>
            <p:cNvPr name="Freeform 13" id="13" descr="/home/claude/herbalance/icon_layers.png"/>
            <p:cNvSpPr/>
            <p:nvPr/>
          </p:nvSpPr>
          <p:spPr>
            <a:xfrm flipH="false" flipV="false" rot="0">
              <a:off x="0" y="0"/>
              <a:ext cx="589661" cy="589661"/>
            </a:xfrm>
            <a:custGeom>
              <a:avLst/>
              <a:gdLst/>
              <a:ahLst/>
              <a:cxnLst/>
              <a:rect r="r" b="b" t="t" l="l"/>
              <a:pathLst>
                <a:path h="589661" w="589661">
                  <a:moveTo>
                    <a:pt x="0" y="0"/>
                  </a:moveTo>
                  <a:lnTo>
                    <a:pt x="589661" y="0"/>
                  </a:lnTo>
                  <a:lnTo>
                    <a:pt x="589661" y="589661"/>
                  </a:lnTo>
                  <a:lnTo>
                    <a:pt x="0" y="589661"/>
                  </a:lnTo>
                  <a:lnTo>
                    <a:pt x="0" y="0"/>
                  </a:lnTo>
                  <a:close/>
                </a:path>
              </a:pathLst>
            </a:custGeom>
            <a:blipFill>
              <a:blip r:embed="rId4"/>
              <a:stretch>
                <a:fillRect l="0" t="0" r="8" b="8"/>
              </a:stretch>
            </a:blipFill>
          </p:spPr>
        </p:sp>
      </p:grpSp>
      <p:sp>
        <p:nvSpPr>
          <p:cNvPr name="TextBox 14" id="14"/>
          <p:cNvSpPr txBox="true"/>
          <p:nvPr/>
        </p:nvSpPr>
        <p:spPr>
          <a:xfrm rot="0">
            <a:off x="1435608" y="3947160"/>
            <a:ext cx="4329684" cy="1562100"/>
          </a:xfrm>
          <a:prstGeom prst="rect">
            <a:avLst/>
          </a:prstGeom>
        </p:spPr>
        <p:txBody>
          <a:bodyPr anchor="t" rtlCol="false" tIns="0" lIns="0" bIns="0" rIns="0">
            <a:spAutoFit/>
          </a:bodyPr>
          <a:lstStyle/>
          <a:p>
            <a:pPr algn="l">
              <a:lnSpc>
                <a:spcPts val="2690"/>
              </a:lnSpc>
            </a:pPr>
            <a:r>
              <a:rPr lang="en-US" sz="1950">
                <a:solidFill>
                  <a:srgbClr val="3A2A2E"/>
                </a:solidFill>
                <a:latin typeface="Calibri (MS)"/>
                <a:ea typeface="Calibri (MS)"/>
                <a:cs typeface="Calibri (MS)"/>
                <a:sym typeface="Calibri (MS)"/>
              </a:rPr>
              <a:t>Lack of a unified platform for women's health management.</a:t>
            </a:r>
          </a:p>
        </p:txBody>
      </p:sp>
      <p:grpSp>
        <p:nvGrpSpPr>
          <p:cNvPr name="Group 15" id="15"/>
          <p:cNvGrpSpPr/>
          <p:nvPr/>
        </p:nvGrpSpPr>
        <p:grpSpPr>
          <a:xfrm rot="0">
            <a:off x="6624828" y="2537460"/>
            <a:ext cx="5280660" cy="3223260"/>
            <a:chOff x="0" y="0"/>
            <a:chExt cx="7040880" cy="4297680"/>
          </a:xfrm>
        </p:grpSpPr>
        <p:sp>
          <p:nvSpPr>
            <p:cNvPr name="Freeform 16" id="16"/>
            <p:cNvSpPr/>
            <p:nvPr/>
          </p:nvSpPr>
          <p:spPr>
            <a:xfrm flipH="false" flipV="false" rot="0">
              <a:off x="0" y="0"/>
              <a:ext cx="7040880" cy="4297680"/>
            </a:xfrm>
            <a:custGeom>
              <a:avLst/>
              <a:gdLst/>
              <a:ahLst/>
              <a:cxnLst/>
              <a:rect r="r" b="b" t="t" l="l"/>
              <a:pathLst>
                <a:path h="4297680" w="7040880">
                  <a:moveTo>
                    <a:pt x="0" y="164592"/>
                  </a:moveTo>
                  <a:cubicBezTo>
                    <a:pt x="0" y="73660"/>
                    <a:pt x="73660" y="0"/>
                    <a:pt x="164592" y="0"/>
                  </a:cubicBezTo>
                  <a:lnTo>
                    <a:pt x="6876288" y="0"/>
                  </a:lnTo>
                  <a:cubicBezTo>
                    <a:pt x="6967220" y="0"/>
                    <a:pt x="7040880" y="73660"/>
                    <a:pt x="7040880" y="164592"/>
                  </a:cubicBezTo>
                  <a:lnTo>
                    <a:pt x="7040880" y="4133088"/>
                  </a:lnTo>
                  <a:cubicBezTo>
                    <a:pt x="7040880" y="4224020"/>
                    <a:pt x="6967220" y="4297680"/>
                    <a:pt x="6876288" y="4297680"/>
                  </a:cubicBezTo>
                  <a:lnTo>
                    <a:pt x="164592" y="4297680"/>
                  </a:lnTo>
                  <a:cubicBezTo>
                    <a:pt x="73660" y="4297680"/>
                    <a:pt x="0" y="4224020"/>
                    <a:pt x="0" y="4133088"/>
                  </a:cubicBezTo>
                  <a:close/>
                </a:path>
              </a:pathLst>
            </a:custGeom>
            <a:solidFill>
              <a:srgbClr val="FFFFFF"/>
            </a:solidFill>
          </p:spPr>
        </p:sp>
      </p:grpSp>
      <p:grpSp>
        <p:nvGrpSpPr>
          <p:cNvPr name="Group 17" id="17"/>
          <p:cNvGrpSpPr/>
          <p:nvPr/>
        </p:nvGrpSpPr>
        <p:grpSpPr>
          <a:xfrm rot="0">
            <a:off x="7008876" y="2921508"/>
            <a:ext cx="850392" cy="850392"/>
            <a:chOff x="0" y="0"/>
            <a:chExt cx="1133856" cy="1133856"/>
          </a:xfrm>
        </p:grpSpPr>
        <p:sp>
          <p:nvSpPr>
            <p:cNvPr name="Freeform 18" id="18"/>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6D2E46"/>
            </a:solidFill>
          </p:spPr>
        </p:sp>
      </p:grpSp>
      <p:grpSp>
        <p:nvGrpSpPr>
          <p:cNvPr name="Group 19" id="19"/>
          <p:cNvGrpSpPr/>
          <p:nvPr/>
        </p:nvGrpSpPr>
        <p:grpSpPr>
          <a:xfrm rot="0">
            <a:off x="7212968" y="3125600"/>
            <a:ext cx="442208" cy="442208"/>
            <a:chOff x="0" y="0"/>
            <a:chExt cx="589610" cy="589610"/>
          </a:xfrm>
        </p:grpSpPr>
        <p:sp>
          <p:nvSpPr>
            <p:cNvPr name="Freeform 20" id="20" descr="/home/claude/herbalance/icon_calendar.png"/>
            <p:cNvSpPr/>
            <p:nvPr/>
          </p:nvSpPr>
          <p:spPr>
            <a:xfrm flipH="false" flipV="false" rot="0">
              <a:off x="0" y="0"/>
              <a:ext cx="589661" cy="589661"/>
            </a:xfrm>
            <a:custGeom>
              <a:avLst/>
              <a:gdLst/>
              <a:ahLst/>
              <a:cxnLst/>
              <a:rect r="r" b="b" t="t" l="l"/>
              <a:pathLst>
                <a:path h="589661" w="589661">
                  <a:moveTo>
                    <a:pt x="0" y="0"/>
                  </a:moveTo>
                  <a:lnTo>
                    <a:pt x="589661" y="0"/>
                  </a:lnTo>
                  <a:lnTo>
                    <a:pt x="589661" y="589661"/>
                  </a:lnTo>
                  <a:lnTo>
                    <a:pt x="0" y="589661"/>
                  </a:lnTo>
                  <a:lnTo>
                    <a:pt x="0" y="0"/>
                  </a:lnTo>
                  <a:close/>
                </a:path>
              </a:pathLst>
            </a:custGeom>
            <a:blipFill>
              <a:blip r:embed="rId5"/>
              <a:stretch>
                <a:fillRect l="0" t="0" r="8" b="8"/>
              </a:stretch>
            </a:blipFill>
          </p:spPr>
        </p:sp>
      </p:grpSp>
      <p:sp>
        <p:nvSpPr>
          <p:cNvPr name="TextBox 21" id="21"/>
          <p:cNvSpPr txBox="true"/>
          <p:nvPr/>
        </p:nvSpPr>
        <p:spPr>
          <a:xfrm rot="0">
            <a:off x="7100316" y="3947160"/>
            <a:ext cx="4329684" cy="1562100"/>
          </a:xfrm>
          <a:prstGeom prst="rect">
            <a:avLst/>
          </a:prstGeom>
        </p:spPr>
        <p:txBody>
          <a:bodyPr anchor="t" rtlCol="false" tIns="0" lIns="0" bIns="0" rIns="0">
            <a:spAutoFit/>
          </a:bodyPr>
          <a:lstStyle/>
          <a:p>
            <a:pPr algn="l">
              <a:lnSpc>
                <a:spcPts val="2690"/>
              </a:lnSpc>
            </a:pPr>
            <a:r>
              <a:rPr lang="en-US" sz="1950">
                <a:solidFill>
                  <a:srgbClr val="3A2A2E"/>
                </a:solidFill>
                <a:latin typeface="Calibri (MS)"/>
                <a:ea typeface="Calibri (MS)"/>
                <a:cs typeface="Calibri (MS)"/>
                <a:sym typeface="Calibri (MS)"/>
              </a:rPr>
              <a:t>Difficulty in tracking menstrual cycles accurately.</a:t>
            </a:r>
          </a:p>
        </p:txBody>
      </p:sp>
      <p:grpSp>
        <p:nvGrpSpPr>
          <p:cNvPr name="Group 22" id="22"/>
          <p:cNvGrpSpPr/>
          <p:nvPr/>
        </p:nvGrpSpPr>
        <p:grpSpPr>
          <a:xfrm rot="0">
            <a:off x="12289536" y="2537460"/>
            <a:ext cx="5280660" cy="3223260"/>
            <a:chOff x="0" y="0"/>
            <a:chExt cx="7040880" cy="4297680"/>
          </a:xfrm>
        </p:grpSpPr>
        <p:sp>
          <p:nvSpPr>
            <p:cNvPr name="Freeform 23" id="23"/>
            <p:cNvSpPr/>
            <p:nvPr/>
          </p:nvSpPr>
          <p:spPr>
            <a:xfrm flipH="false" flipV="false" rot="0">
              <a:off x="0" y="0"/>
              <a:ext cx="7040880" cy="4297680"/>
            </a:xfrm>
            <a:custGeom>
              <a:avLst/>
              <a:gdLst/>
              <a:ahLst/>
              <a:cxnLst/>
              <a:rect r="r" b="b" t="t" l="l"/>
              <a:pathLst>
                <a:path h="4297680" w="7040880">
                  <a:moveTo>
                    <a:pt x="0" y="164592"/>
                  </a:moveTo>
                  <a:cubicBezTo>
                    <a:pt x="0" y="73660"/>
                    <a:pt x="73660" y="0"/>
                    <a:pt x="164592" y="0"/>
                  </a:cubicBezTo>
                  <a:lnTo>
                    <a:pt x="6876288" y="0"/>
                  </a:lnTo>
                  <a:cubicBezTo>
                    <a:pt x="6967220" y="0"/>
                    <a:pt x="7040880" y="73660"/>
                    <a:pt x="7040880" y="164592"/>
                  </a:cubicBezTo>
                  <a:lnTo>
                    <a:pt x="7040880" y="4133088"/>
                  </a:lnTo>
                  <a:cubicBezTo>
                    <a:pt x="7040880" y="4224020"/>
                    <a:pt x="6967220" y="4297680"/>
                    <a:pt x="6876288" y="4297680"/>
                  </a:cubicBezTo>
                  <a:lnTo>
                    <a:pt x="164592" y="4297680"/>
                  </a:lnTo>
                  <a:cubicBezTo>
                    <a:pt x="73660" y="4297680"/>
                    <a:pt x="0" y="4224020"/>
                    <a:pt x="0" y="4133088"/>
                  </a:cubicBezTo>
                  <a:close/>
                </a:path>
              </a:pathLst>
            </a:custGeom>
            <a:solidFill>
              <a:srgbClr val="FFFFFF"/>
            </a:solidFill>
          </p:spPr>
        </p:sp>
      </p:grpSp>
      <p:grpSp>
        <p:nvGrpSpPr>
          <p:cNvPr name="Group 24" id="24"/>
          <p:cNvGrpSpPr/>
          <p:nvPr/>
        </p:nvGrpSpPr>
        <p:grpSpPr>
          <a:xfrm rot="0">
            <a:off x="12673584" y="2921508"/>
            <a:ext cx="850392" cy="850392"/>
            <a:chOff x="0" y="0"/>
            <a:chExt cx="1133856" cy="1133856"/>
          </a:xfrm>
        </p:grpSpPr>
        <p:sp>
          <p:nvSpPr>
            <p:cNvPr name="Freeform 25" id="25"/>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6D2E46"/>
            </a:solidFill>
          </p:spPr>
        </p:sp>
      </p:grpSp>
      <p:grpSp>
        <p:nvGrpSpPr>
          <p:cNvPr name="Group 26" id="26"/>
          <p:cNvGrpSpPr/>
          <p:nvPr/>
        </p:nvGrpSpPr>
        <p:grpSpPr>
          <a:xfrm rot="0">
            <a:off x="12877676" y="3125600"/>
            <a:ext cx="442208" cy="442208"/>
            <a:chOff x="0" y="0"/>
            <a:chExt cx="589610" cy="589610"/>
          </a:xfrm>
        </p:grpSpPr>
        <p:sp>
          <p:nvSpPr>
            <p:cNvPr name="Freeform 27" id="27" descr="/home/claude/herbalance/icon_spray.png"/>
            <p:cNvSpPr/>
            <p:nvPr/>
          </p:nvSpPr>
          <p:spPr>
            <a:xfrm flipH="false" flipV="false" rot="0">
              <a:off x="0" y="0"/>
              <a:ext cx="589661" cy="589661"/>
            </a:xfrm>
            <a:custGeom>
              <a:avLst/>
              <a:gdLst/>
              <a:ahLst/>
              <a:cxnLst/>
              <a:rect r="r" b="b" t="t" l="l"/>
              <a:pathLst>
                <a:path h="589661" w="589661">
                  <a:moveTo>
                    <a:pt x="0" y="0"/>
                  </a:moveTo>
                  <a:lnTo>
                    <a:pt x="589661" y="0"/>
                  </a:lnTo>
                  <a:lnTo>
                    <a:pt x="589661" y="589661"/>
                  </a:lnTo>
                  <a:lnTo>
                    <a:pt x="0" y="589661"/>
                  </a:lnTo>
                  <a:lnTo>
                    <a:pt x="0" y="0"/>
                  </a:lnTo>
                  <a:close/>
                </a:path>
              </a:pathLst>
            </a:custGeom>
            <a:blipFill>
              <a:blip r:embed="rId6"/>
              <a:stretch>
                <a:fillRect l="0" t="0" r="8" b="8"/>
              </a:stretch>
            </a:blipFill>
          </p:spPr>
        </p:sp>
      </p:grpSp>
      <p:sp>
        <p:nvSpPr>
          <p:cNvPr name="TextBox 28" id="28"/>
          <p:cNvSpPr txBox="true"/>
          <p:nvPr/>
        </p:nvSpPr>
        <p:spPr>
          <a:xfrm rot="0">
            <a:off x="12765024" y="3947160"/>
            <a:ext cx="4329684" cy="1562100"/>
          </a:xfrm>
          <a:prstGeom prst="rect">
            <a:avLst/>
          </a:prstGeom>
        </p:spPr>
        <p:txBody>
          <a:bodyPr anchor="t" rtlCol="false" tIns="0" lIns="0" bIns="0" rIns="0">
            <a:spAutoFit/>
          </a:bodyPr>
          <a:lstStyle/>
          <a:p>
            <a:pPr algn="l">
              <a:lnSpc>
                <a:spcPts val="2690"/>
              </a:lnSpc>
            </a:pPr>
            <a:r>
              <a:rPr lang="en-US" sz="1950">
                <a:solidFill>
                  <a:srgbClr val="3A2A2E"/>
                </a:solidFill>
                <a:latin typeface="Calibri (MS)"/>
                <a:ea typeface="Calibri (MS)"/>
                <a:cs typeface="Calibri (MS)"/>
                <a:sym typeface="Calibri (MS)"/>
              </a:rPr>
              <a:t>Confusion while selecting suitable skincare and cosmetic products.</a:t>
            </a:r>
          </a:p>
        </p:txBody>
      </p:sp>
      <p:grpSp>
        <p:nvGrpSpPr>
          <p:cNvPr name="Group 29" id="29"/>
          <p:cNvGrpSpPr/>
          <p:nvPr/>
        </p:nvGrpSpPr>
        <p:grpSpPr>
          <a:xfrm rot="0">
            <a:off x="960120" y="6172200"/>
            <a:ext cx="5280660" cy="3223260"/>
            <a:chOff x="0" y="0"/>
            <a:chExt cx="7040880" cy="4297680"/>
          </a:xfrm>
        </p:grpSpPr>
        <p:sp>
          <p:nvSpPr>
            <p:cNvPr name="Freeform 30" id="30"/>
            <p:cNvSpPr/>
            <p:nvPr/>
          </p:nvSpPr>
          <p:spPr>
            <a:xfrm flipH="false" flipV="false" rot="0">
              <a:off x="0" y="0"/>
              <a:ext cx="7040880" cy="4297680"/>
            </a:xfrm>
            <a:custGeom>
              <a:avLst/>
              <a:gdLst/>
              <a:ahLst/>
              <a:cxnLst/>
              <a:rect r="r" b="b" t="t" l="l"/>
              <a:pathLst>
                <a:path h="4297680" w="7040880">
                  <a:moveTo>
                    <a:pt x="0" y="164592"/>
                  </a:moveTo>
                  <a:cubicBezTo>
                    <a:pt x="0" y="73660"/>
                    <a:pt x="73660" y="0"/>
                    <a:pt x="164592" y="0"/>
                  </a:cubicBezTo>
                  <a:lnTo>
                    <a:pt x="6876288" y="0"/>
                  </a:lnTo>
                  <a:cubicBezTo>
                    <a:pt x="6967220" y="0"/>
                    <a:pt x="7040880" y="73660"/>
                    <a:pt x="7040880" y="164592"/>
                  </a:cubicBezTo>
                  <a:lnTo>
                    <a:pt x="7040880" y="4133088"/>
                  </a:lnTo>
                  <a:cubicBezTo>
                    <a:pt x="7040880" y="4224020"/>
                    <a:pt x="6967220" y="4297680"/>
                    <a:pt x="6876288" y="4297680"/>
                  </a:cubicBezTo>
                  <a:lnTo>
                    <a:pt x="164592" y="4297680"/>
                  </a:lnTo>
                  <a:cubicBezTo>
                    <a:pt x="73660" y="4297680"/>
                    <a:pt x="0" y="4224020"/>
                    <a:pt x="0" y="4133088"/>
                  </a:cubicBezTo>
                  <a:close/>
                </a:path>
              </a:pathLst>
            </a:custGeom>
            <a:solidFill>
              <a:srgbClr val="FFFFFF"/>
            </a:solidFill>
          </p:spPr>
        </p:sp>
      </p:grpSp>
      <p:grpSp>
        <p:nvGrpSpPr>
          <p:cNvPr name="Group 31" id="31"/>
          <p:cNvGrpSpPr/>
          <p:nvPr/>
        </p:nvGrpSpPr>
        <p:grpSpPr>
          <a:xfrm rot="0">
            <a:off x="1344168" y="6556248"/>
            <a:ext cx="850392" cy="850392"/>
            <a:chOff x="0" y="0"/>
            <a:chExt cx="1133856" cy="1133856"/>
          </a:xfrm>
        </p:grpSpPr>
        <p:sp>
          <p:nvSpPr>
            <p:cNvPr name="Freeform 32" id="32"/>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6D2E46"/>
            </a:solidFill>
          </p:spPr>
        </p:sp>
      </p:grpSp>
      <p:grpSp>
        <p:nvGrpSpPr>
          <p:cNvPr name="Group 33" id="33"/>
          <p:cNvGrpSpPr/>
          <p:nvPr/>
        </p:nvGrpSpPr>
        <p:grpSpPr>
          <a:xfrm rot="0">
            <a:off x="1548260" y="6760340"/>
            <a:ext cx="442208" cy="442208"/>
            <a:chOff x="0" y="0"/>
            <a:chExt cx="589610" cy="589610"/>
          </a:xfrm>
        </p:grpSpPr>
        <p:sp>
          <p:nvSpPr>
            <p:cNvPr name="Freeform 34" id="34" descr="/home/claude/herbalance/icon_warning.png"/>
            <p:cNvSpPr/>
            <p:nvPr/>
          </p:nvSpPr>
          <p:spPr>
            <a:xfrm flipH="false" flipV="false" rot="0">
              <a:off x="0" y="0"/>
              <a:ext cx="589661" cy="589661"/>
            </a:xfrm>
            <a:custGeom>
              <a:avLst/>
              <a:gdLst/>
              <a:ahLst/>
              <a:cxnLst/>
              <a:rect r="r" b="b" t="t" l="l"/>
              <a:pathLst>
                <a:path h="589661" w="589661">
                  <a:moveTo>
                    <a:pt x="0" y="0"/>
                  </a:moveTo>
                  <a:lnTo>
                    <a:pt x="589661" y="0"/>
                  </a:lnTo>
                  <a:lnTo>
                    <a:pt x="589661" y="589661"/>
                  </a:lnTo>
                  <a:lnTo>
                    <a:pt x="0" y="589661"/>
                  </a:lnTo>
                  <a:lnTo>
                    <a:pt x="0" y="0"/>
                  </a:lnTo>
                  <a:close/>
                </a:path>
              </a:pathLst>
            </a:custGeom>
            <a:blipFill>
              <a:blip r:embed="rId7"/>
              <a:stretch>
                <a:fillRect l="0" t="0" r="8" b="8"/>
              </a:stretch>
            </a:blipFill>
          </p:spPr>
        </p:sp>
      </p:grpSp>
      <p:sp>
        <p:nvSpPr>
          <p:cNvPr name="TextBox 35" id="35"/>
          <p:cNvSpPr txBox="true"/>
          <p:nvPr/>
        </p:nvSpPr>
        <p:spPr>
          <a:xfrm rot="0">
            <a:off x="1435608" y="7581900"/>
            <a:ext cx="4329684" cy="1562100"/>
          </a:xfrm>
          <a:prstGeom prst="rect">
            <a:avLst/>
          </a:prstGeom>
        </p:spPr>
        <p:txBody>
          <a:bodyPr anchor="t" rtlCol="false" tIns="0" lIns="0" bIns="0" rIns="0">
            <a:spAutoFit/>
          </a:bodyPr>
          <a:lstStyle/>
          <a:p>
            <a:pPr algn="l">
              <a:lnSpc>
                <a:spcPts val="2690"/>
              </a:lnSpc>
            </a:pPr>
            <a:r>
              <a:rPr lang="en-US" sz="1950">
                <a:solidFill>
                  <a:srgbClr val="3A2A2E"/>
                </a:solidFill>
                <a:latin typeface="Calibri (MS)"/>
                <a:ea typeface="Calibri (MS)"/>
                <a:cs typeface="Calibri (MS)"/>
                <a:sym typeface="Calibri (MS)"/>
              </a:rPr>
              <a:t>Limited awareness regarding medicine interactions and safety.</a:t>
            </a:r>
          </a:p>
        </p:txBody>
      </p:sp>
      <p:grpSp>
        <p:nvGrpSpPr>
          <p:cNvPr name="Group 36" id="36"/>
          <p:cNvGrpSpPr/>
          <p:nvPr/>
        </p:nvGrpSpPr>
        <p:grpSpPr>
          <a:xfrm rot="0">
            <a:off x="6624828" y="6172200"/>
            <a:ext cx="5280660" cy="3223260"/>
            <a:chOff x="0" y="0"/>
            <a:chExt cx="7040880" cy="4297680"/>
          </a:xfrm>
        </p:grpSpPr>
        <p:sp>
          <p:nvSpPr>
            <p:cNvPr name="Freeform 37" id="37"/>
            <p:cNvSpPr/>
            <p:nvPr/>
          </p:nvSpPr>
          <p:spPr>
            <a:xfrm flipH="false" flipV="false" rot="0">
              <a:off x="0" y="0"/>
              <a:ext cx="7040880" cy="4297680"/>
            </a:xfrm>
            <a:custGeom>
              <a:avLst/>
              <a:gdLst/>
              <a:ahLst/>
              <a:cxnLst/>
              <a:rect r="r" b="b" t="t" l="l"/>
              <a:pathLst>
                <a:path h="4297680" w="7040880">
                  <a:moveTo>
                    <a:pt x="0" y="164592"/>
                  </a:moveTo>
                  <a:cubicBezTo>
                    <a:pt x="0" y="73660"/>
                    <a:pt x="73660" y="0"/>
                    <a:pt x="164592" y="0"/>
                  </a:cubicBezTo>
                  <a:lnTo>
                    <a:pt x="6876288" y="0"/>
                  </a:lnTo>
                  <a:cubicBezTo>
                    <a:pt x="6967220" y="0"/>
                    <a:pt x="7040880" y="73660"/>
                    <a:pt x="7040880" y="164592"/>
                  </a:cubicBezTo>
                  <a:lnTo>
                    <a:pt x="7040880" y="4133088"/>
                  </a:lnTo>
                  <a:cubicBezTo>
                    <a:pt x="7040880" y="4224020"/>
                    <a:pt x="6967220" y="4297680"/>
                    <a:pt x="6876288" y="4297680"/>
                  </a:cubicBezTo>
                  <a:lnTo>
                    <a:pt x="164592" y="4297680"/>
                  </a:lnTo>
                  <a:cubicBezTo>
                    <a:pt x="73660" y="4297680"/>
                    <a:pt x="0" y="4224020"/>
                    <a:pt x="0" y="4133088"/>
                  </a:cubicBezTo>
                  <a:close/>
                </a:path>
              </a:pathLst>
            </a:custGeom>
            <a:solidFill>
              <a:srgbClr val="FFFFFF"/>
            </a:solidFill>
          </p:spPr>
        </p:sp>
      </p:grpSp>
      <p:grpSp>
        <p:nvGrpSpPr>
          <p:cNvPr name="Group 38" id="38"/>
          <p:cNvGrpSpPr/>
          <p:nvPr/>
        </p:nvGrpSpPr>
        <p:grpSpPr>
          <a:xfrm rot="0">
            <a:off x="7008876" y="6556248"/>
            <a:ext cx="850392" cy="850392"/>
            <a:chOff x="0" y="0"/>
            <a:chExt cx="1133856" cy="1133856"/>
          </a:xfrm>
        </p:grpSpPr>
        <p:sp>
          <p:nvSpPr>
            <p:cNvPr name="Freeform 39" id="39"/>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6D2E46"/>
            </a:solidFill>
          </p:spPr>
        </p:sp>
      </p:grpSp>
      <p:grpSp>
        <p:nvGrpSpPr>
          <p:cNvPr name="Group 40" id="40"/>
          <p:cNvGrpSpPr/>
          <p:nvPr/>
        </p:nvGrpSpPr>
        <p:grpSpPr>
          <a:xfrm rot="0">
            <a:off x="7212968" y="6760340"/>
            <a:ext cx="442208" cy="442208"/>
            <a:chOff x="0" y="0"/>
            <a:chExt cx="589610" cy="589610"/>
          </a:xfrm>
        </p:grpSpPr>
        <p:sp>
          <p:nvSpPr>
            <p:cNvPr name="Freeform 41" id="41" descr="/home/claude/herbalance/icon_database.png"/>
            <p:cNvSpPr/>
            <p:nvPr/>
          </p:nvSpPr>
          <p:spPr>
            <a:xfrm flipH="false" flipV="false" rot="0">
              <a:off x="0" y="0"/>
              <a:ext cx="589661" cy="589661"/>
            </a:xfrm>
            <a:custGeom>
              <a:avLst/>
              <a:gdLst/>
              <a:ahLst/>
              <a:cxnLst/>
              <a:rect r="r" b="b" t="t" l="l"/>
              <a:pathLst>
                <a:path h="589661" w="589661">
                  <a:moveTo>
                    <a:pt x="0" y="0"/>
                  </a:moveTo>
                  <a:lnTo>
                    <a:pt x="589661" y="0"/>
                  </a:lnTo>
                  <a:lnTo>
                    <a:pt x="589661" y="589661"/>
                  </a:lnTo>
                  <a:lnTo>
                    <a:pt x="0" y="589661"/>
                  </a:lnTo>
                  <a:lnTo>
                    <a:pt x="0" y="0"/>
                  </a:lnTo>
                  <a:close/>
                </a:path>
              </a:pathLst>
            </a:custGeom>
            <a:blipFill>
              <a:blip r:embed="rId8"/>
              <a:stretch>
                <a:fillRect l="0" t="0" r="8" b="8"/>
              </a:stretch>
            </a:blipFill>
          </p:spPr>
        </p:sp>
      </p:grpSp>
      <p:sp>
        <p:nvSpPr>
          <p:cNvPr name="TextBox 42" id="42"/>
          <p:cNvSpPr txBox="true"/>
          <p:nvPr/>
        </p:nvSpPr>
        <p:spPr>
          <a:xfrm rot="0">
            <a:off x="7100316" y="7581900"/>
            <a:ext cx="4329684" cy="1562100"/>
          </a:xfrm>
          <a:prstGeom prst="rect">
            <a:avLst/>
          </a:prstGeom>
        </p:spPr>
        <p:txBody>
          <a:bodyPr anchor="t" rtlCol="false" tIns="0" lIns="0" bIns="0" rIns="0">
            <a:spAutoFit/>
          </a:bodyPr>
          <a:lstStyle/>
          <a:p>
            <a:pPr algn="l">
              <a:lnSpc>
                <a:spcPts val="2690"/>
              </a:lnSpc>
            </a:pPr>
            <a:r>
              <a:rPr lang="en-US" sz="1950">
                <a:solidFill>
                  <a:srgbClr val="3A2A2E"/>
                </a:solidFill>
                <a:latin typeface="Calibri (MS)"/>
                <a:ea typeface="Calibri (MS)"/>
                <a:cs typeface="Calibri (MS)"/>
                <a:sym typeface="Calibri (MS)"/>
              </a:rPr>
              <a:t>Health records are often scattered across different platforms.</a:t>
            </a:r>
          </a:p>
        </p:txBody>
      </p:sp>
      <p:grpSp>
        <p:nvGrpSpPr>
          <p:cNvPr name="Group 43" id="43"/>
          <p:cNvGrpSpPr/>
          <p:nvPr/>
        </p:nvGrpSpPr>
        <p:grpSpPr>
          <a:xfrm rot="0">
            <a:off x="17048988" y="9532620"/>
            <a:ext cx="822960" cy="480060"/>
            <a:chOff x="0" y="0"/>
            <a:chExt cx="1097280" cy="640080"/>
          </a:xfrm>
        </p:grpSpPr>
        <p:sp>
          <p:nvSpPr>
            <p:cNvPr name="Freeform 44" id="44"/>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3">
                <a:alphaModFix amt="0"/>
              </a:blip>
              <a:stretch>
                <a:fillRect l="-24843" t="0" r="-24843" b="0"/>
              </a:stretch>
            </a:blipFill>
          </p:spPr>
        </p:sp>
        <p:sp>
          <p:nvSpPr>
            <p:cNvPr name="TextBox 45" id="45"/>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8A7478"/>
                  </a:solidFill>
                  <a:latin typeface="Calibri (MS)"/>
                  <a:ea typeface="Calibri (MS)"/>
                  <a:cs typeface="Calibri (MS)"/>
                  <a:sym typeface="Calibri (MS)"/>
                </a:rPr>
                <a:t>04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299">
                  <a:solidFill>
                    <a:srgbClr val="6D2E46"/>
                  </a:solidFill>
                  <a:latin typeface="Calibri (MS) Bold"/>
                  <a:ea typeface="Calibri (MS) Bold"/>
                  <a:cs typeface="Calibri (MS) Bold"/>
                  <a:sym typeface="Calibri (MS) Bold"/>
                </a:rPr>
                <a:t>CURRENT LANDSCAPE</a:t>
              </a:r>
            </a:p>
          </p:txBody>
        </p:sp>
      </p:grpSp>
      <p:grpSp>
        <p:nvGrpSpPr>
          <p:cNvPr name="Group 5" id="5"/>
          <p:cNvGrpSpPr/>
          <p:nvPr/>
        </p:nvGrpSpPr>
        <p:grpSpPr>
          <a:xfrm rot="0">
            <a:off x="960120" y="1124712"/>
            <a:ext cx="12344400" cy="960120"/>
            <a:chOff x="0" y="0"/>
            <a:chExt cx="16459200" cy="1280160"/>
          </a:xfrm>
        </p:grpSpPr>
        <p:sp>
          <p:nvSpPr>
            <p:cNvPr name="Freeform 6" id="6"/>
            <p:cNvSpPr/>
            <p:nvPr/>
          </p:nvSpPr>
          <p:spPr>
            <a:xfrm flipH="false" flipV="false" rot="0">
              <a:off x="0" y="0"/>
              <a:ext cx="16459200" cy="1280160"/>
            </a:xfrm>
            <a:custGeom>
              <a:avLst/>
              <a:gdLst/>
              <a:ahLst/>
              <a:cxnLst/>
              <a:rect r="r" b="b" t="t" l="l"/>
              <a:pathLst>
                <a:path h="1280160" w="16459200">
                  <a:moveTo>
                    <a:pt x="0" y="0"/>
                  </a:moveTo>
                  <a:lnTo>
                    <a:pt x="16459200" y="0"/>
                  </a:lnTo>
                  <a:lnTo>
                    <a:pt x="16459200" y="1280160"/>
                  </a:lnTo>
                  <a:lnTo>
                    <a:pt x="0" y="1280160"/>
                  </a:lnTo>
                  <a:close/>
                </a:path>
              </a:pathLst>
            </a:custGeom>
            <a:blipFill>
              <a:blip r:embed="rId3">
                <a:alphaModFix amt="0"/>
              </a:blip>
              <a:stretch>
                <a:fillRect l="0" t="-200521" r="0" b="-200521"/>
              </a:stretch>
            </a:blipFill>
          </p:spPr>
        </p:sp>
        <p:sp>
          <p:nvSpPr>
            <p:cNvPr name="TextBox 7" id="7"/>
            <p:cNvSpPr txBox="true"/>
            <p:nvPr/>
          </p:nvSpPr>
          <p:spPr>
            <a:xfrm>
              <a:off x="0" y="-9525"/>
              <a:ext cx="16459200" cy="1289685"/>
            </a:xfrm>
            <a:prstGeom prst="rect">
              <a:avLst/>
            </a:prstGeom>
          </p:spPr>
          <p:txBody>
            <a:bodyPr anchor="ctr" rtlCol="false" tIns="0" lIns="0" bIns="0" rIns="0"/>
            <a:lstStyle/>
            <a:p>
              <a:pPr algn="l">
                <a:lnSpc>
                  <a:spcPts val="6120"/>
                </a:lnSpc>
              </a:pPr>
              <a:r>
                <a:rPr lang="en-US" sz="5100" b="true">
                  <a:solidFill>
                    <a:srgbClr val="3A2A2E"/>
                  </a:solidFill>
                  <a:latin typeface="Cambria Bold"/>
                  <a:ea typeface="Cambria Bold"/>
                  <a:cs typeface="Cambria Bold"/>
                  <a:sym typeface="Cambria Bold"/>
                </a:rPr>
                <a:t>Existing System</a:t>
              </a:r>
            </a:p>
          </p:txBody>
        </p:sp>
      </p:grpSp>
      <p:grpSp>
        <p:nvGrpSpPr>
          <p:cNvPr name="Group 8" id="8"/>
          <p:cNvGrpSpPr/>
          <p:nvPr/>
        </p:nvGrpSpPr>
        <p:grpSpPr>
          <a:xfrm rot="0">
            <a:off x="960120" y="2537460"/>
            <a:ext cx="7886700" cy="6652260"/>
            <a:chOff x="0" y="0"/>
            <a:chExt cx="10515600" cy="8869680"/>
          </a:xfrm>
        </p:grpSpPr>
        <p:sp>
          <p:nvSpPr>
            <p:cNvPr name="Freeform 9" id="9"/>
            <p:cNvSpPr/>
            <p:nvPr/>
          </p:nvSpPr>
          <p:spPr>
            <a:xfrm flipH="false" flipV="false" rot="0">
              <a:off x="0" y="0"/>
              <a:ext cx="10515600" cy="8869680"/>
            </a:xfrm>
            <a:custGeom>
              <a:avLst/>
              <a:gdLst/>
              <a:ahLst/>
              <a:cxnLst/>
              <a:rect r="r" b="b" t="t" l="l"/>
              <a:pathLst>
                <a:path h="8869680" w="10515600">
                  <a:moveTo>
                    <a:pt x="0" y="182880"/>
                  </a:moveTo>
                  <a:cubicBezTo>
                    <a:pt x="0" y="81915"/>
                    <a:pt x="81915" y="0"/>
                    <a:pt x="182880" y="0"/>
                  </a:cubicBezTo>
                  <a:lnTo>
                    <a:pt x="10332720" y="0"/>
                  </a:lnTo>
                  <a:cubicBezTo>
                    <a:pt x="10433685" y="0"/>
                    <a:pt x="10515600" y="81915"/>
                    <a:pt x="10515600" y="182880"/>
                  </a:cubicBezTo>
                  <a:lnTo>
                    <a:pt x="10515600" y="8686800"/>
                  </a:lnTo>
                  <a:cubicBezTo>
                    <a:pt x="10515600" y="8787765"/>
                    <a:pt x="10433685" y="8869680"/>
                    <a:pt x="10332720" y="8869680"/>
                  </a:cubicBezTo>
                  <a:lnTo>
                    <a:pt x="182880" y="8869680"/>
                  </a:lnTo>
                  <a:cubicBezTo>
                    <a:pt x="81915" y="8869680"/>
                    <a:pt x="0" y="8787765"/>
                    <a:pt x="0" y="8686800"/>
                  </a:cubicBezTo>
                  <a:close/>
                </a:path>
              </a:pathLst>
            </a:custGeom>
            <a:solidFill>
              <a:srgbClr val="ECE2D0"/>
            </a:solidFill>
          </p:spPr>
        </p:sp>
      </p:grpSp>
      <p:grpSp>
        <p:nvGrpSpPr>
          <p:cNvPr name="Group 10" id="10"/>
          <p:cNvGrpSpPr/>
          <p:nvPr/>
        </p:nvGrpSpPr>
        <p:grpSpPr>
          <a:xfrm rot="0">
            <a:off x="1440180" y="2948940"/>
            <a:ext cx="6926580" cy="617220"/>
            <a:chOff x="0" y="0"/>
            <a:chExt cx="9235440" cy="822960"/>
          </a:xfrm>
        </p:grpSpPr>
        <p:sp>
          <p:nvSpPr>
            <p:cNvPr name="Freeform 11" id="11"/>
            <p:cNvSpPr/>
            <p:nvPr/>
          </p:nvSpPr>
          <p:spPr>
            <a:xfrm flipH="false" flipV="false" rot="0">
              <a:off x="0" y="0"/>
              <a:ext cx="9235440" cy="822960"/>
            </a:xfrm>
            <a:custGeom>
              <a:avLst/>
              <a:gdLst/>
              <a:ahLst/>
              <a:cxnLst/>
              <a:rect r="r" b="b" t="t" l="l"/>
              <a:pathLst>
                <a:path h="822960" w="9235440">
                  <a:moveTo>
                    <a:pt x="0" y="0"/>
                  </a:moveTo>
                  <a:lnTo>
                    <a:pt x="9235440" y="0"/>
                  </a:lnTo>
                  <a:lnTo>
                    <a:pt x="9235440" y="822960"/>
                  </a:lnTo>
                  <a:lnTo>
                    <a:pt x="0" y="822960"/>
                  </a:lnTo>
                  <a:close/>
                </a:path>
              </a:pathLst>
            </a:custGeom>
            <a:blipFill>
              <a:blip r:embed="rId3">
                <a:alphaModFix amt="0"/>
              </a:blip>
              <a:stretch>
                <a:fillRect l="0" t="-168665" r="0" b="-168665"/>
              </a:stretch>
            </a:blipFill>
          </p:spPr>
        </p:sp>
        <p:sp>
          <p:nvSpPr>
            <p:cNvPr name="TextBox 12" id="12"/>
            <p:cNvSpPr txBox="true"/>
            <p:nvPr/>
          </p:nvSpPr>
          <p:spPr>
            <a:xfrm>
              <a:off x="0" y="-38100"/>
              <a:ext cx="9235440" cy="861060"/>
            </a:xfrm>
            <a:prstGeom prst="rect">
              <a:avLst/>
            </a:prstGeom>
          </p:spPr>
          <p:txBody>
            <a:bodyPr anchor="ctr" rtlCol="false" tIns="0" lIns="0" bIns="0" rIns="0"/>
            <a:lstStyle/>
            <a:p>
              <a:pPr algn="l">
                <a:lnSpc>
                  <a:spcPts val="2879"/>
                </a:lnSpc>
              </a:pPr>
              <a:r>
                <a:rPr lang="en-US" sz="2400" b="true">
                  <a:solidFill>
                    <a:srgbClr val="6D2E46"/>
                  </a:solidFill>
                  <a:latin typeface="Calibri (MS) Bold"/>
                  <a:ea typeface="Calibri (MS) Bold"/>
                  <a:cs typeface="Calibri (MS) Bold"/>
                  <a:sym typeface="Calibri (MS) Bold"/>
                </a:rPr>
                <a:t>Current Methods</a:t>
              </a:r>
            </a:p>
          </p:txBody>
        </p:sp>
      </p:grpSp>
      <p:grpSp>
        <p:nvGrpSpPr>
          <p:cNvPr name="Group 13" id="13"/>
          <p:cNvGrpSpPr/>
          <p:nvPr/>
        </p:nvGrpSpPr>
        <p:grpSpPr>
          <a:xfrm rot="0">
            <a:off x="1440180" y="3840480"/>
            <a:ext cx="576072" cy="576072"/>
            <a:chOff x="0" y="0"/>
            <a:chExt cx="768096" cy="768096"/>
          </a:xfrm>
        </p:grpSpPr>
        <p:sp>
          <p:nvSpPr>
            <p:cNvPr name="Freeform 14" id="1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A26769"/>
            </a:solidFill>
          </p:spPr>
        </p:sp>
      </p:grpSp>
      <p:grpSp>
        <p:nvGrpSpPr>
          <p:cNvPr name="Group 15" id="15"/>
          <p:cNvGrpSpPr/>
          <p:nvPr/>
        </p:nvGrpSpPr>
        <p:grpSpPr>
          <a:xfrm rot="0">
            <a:off x="1578435" y="3978735"/>
            <a:ext cx="299561" cy="299561"/>
            <a:chOff x="0" y="0"/>
            <a:chExt cx="399415" cy="399415"/>
          </a:xfrm>
        </p:grpSpPr>
        <p:sp>
          <p:nvSpPr>
            <p:cNvPr name="Freeform 16" id="16" descr="/home/claude/herbalance/icon_frown.png"/>
            <p:cNvSpPr/>
            <p:nvPr/>
          </p:nvSpPr>
          <p:spPr>
            <a:xfrm flipH="false" flipV="false" rot="0">
              <a:off x="0" y="0"/>
              <a:ext cx="399415" cy="399415"/>
            </a:xfrm>
            <a:custGeom>
              <a:avLst/>
              <a:gdLst/>
              <a:ahLst/>
              <a:cxnLst/>
              <a:rect r="r" b="b" t="t" l="l"/>
              <a:pathLst>
                <a:path h="399415" w="399415">
                  <a:moveTo>
                    <a:pt x="0" y="0"/>
                  </a:moveTo>
                  <a:lnTo>
                    <a:pt x="399415" y="0"/>
                  </a:lnTo>
                  <a:lnTo>
                    <a:pt x="399415" y="399415"/>
                  </a:lnTo>
                  <a:lnTo>
                    <a:pt x="0" y="399415"/>
                  </a:lnTo>
                  <a:lnTo>
                    <a:pt x="0" y="0"/>
                  </a:lnTo>
                  <a:close/>
                </a:path>
              </a:pathLst>
            </a:custGeom>
            <a:blipFill>
              <a:blip r:embed="rId4"/>
              <a:stretch>
                <a:fillRect l="0" t="0" r="0" b="0"/>
              </a:stretch>
            </a:blipFill>
          </p:spPr>
        </p:sp>
      </p:grpSp>
      <p:grpSp>
        <p:nvGrpSpPr>
          <p:cNvPr name="Group 17" id="17"/>
          <p:cNvGrpSpPr/>
          <p:nvPr/>
        </p:nvGrpSpPr>
        <p:grpSpPr>
          <a:xfrm rot="0">
            <a:off x="2194560" y="3813048"/>
            <a:ext cx="6377940" cy="1028700"/>
            <a:chOff x="0" y="0"/>
            <a:chExt cx="8503920" cy="1371600"/>
          </a:xfrm>
        </p:grpSpPr>
        <p:sp>
          <p:nvSpPr>
            <p:cNvPr name="Freeform 18" id="18"/>
            <p:cNvSpPr/>
            <p:nvPr/>
          </p:nvSpPr>
          <p:spPr>
            <a:xfrm flipH="false" flipV="false" rot="0">
              <a:off x="0" y="0"/>
              <a:ext cx="8503920" cy="1371600"/>
            </a:xfrm>
            <a:custGeom>
              <a:avLst/>
              <a:gdLst/>
              <a:ahLst/>
              <a:cxnLst/>
              <a:rect r="r" b="b" t="t" l="l"/>
              <a:pathLst>
                <a:path h="1371600" w="8503920">
                  <a:moveTo>
                    <a:pt x="0" y="0"/>
                  </a:moveTo>
                  <a:lnTo>
                    <a:pt x="8503920" y="0"/>
                  </a:lnTo>
                  <a:lnTo>
                    <a:pt x="8503920" y="1371600"/>
                  </a:lnTo>
                  <a:lnTo>
                    <a:pt x="0" y="1371600"/>
                  </a:lnTo>
                  <a:close/>
                </a:path>
              </a:pathLst>
            </a:custGeom>
            <a:blipFill>
              <a:blip r:embed="rId3">
                <a:alphaModFix amt="0"/>
              </a:blip>
              <a:stretch>
                <a:fillRect l="0" t="-70807" r="0" b="-70807"/>
              </a:stretch>
            </a:blipFill>
          </p:spPr>
        </p:sp>
        <p:sp>
          <p:nvSpPr>
            <p:cNvPr name="TextBox 19" id="19"/>
            <p:cNvSpPr txBox="true"/>
            <p:nvPr/>
          </p:nvSpPr>
          <p:spPr>
            <a:xfrm>
              <a:off x="0" y="-38100"/>
              <a:ext cx="8503920" cy="1409700"/>
            </a:xfrm>
            <a:prstGeom prst="rect">
              <a:avLst/>
            </a:prstGeom>
          </p:spPr>
          <p:txBody>
            <a:bodyPr anchor="ctr" rtlCol="false" tIns="0" lIns="0" bIns="0" rIns="0"/>
            <a:lstStyle/>
            <a:p>
              <a:pPr algn="l">
                <a:lnSpc>
                  <a:spcPts val="2250"/>
                </a:lnSpc>
              </a:pPr>
              <a:r>
                <a:rPr lang="en-US" sz="1875">
                  <a:solidFill>
                    <a:srgbClr val="3A2A2E"/>
                  </a:solidFill>
                  <a:latin typeface="Calibri (MS)"/>
                  <a:ea typeface="Calibri (MS)"/>
                  <a:cs typeface="Calibri (MS)"/>
                  <a:sym typeface="Calibri (MS)"/>
                </a:rPr>
                <a:t>Separate apps for menstrual tracking.</a:t>
              </a:r>
            </a:p>
          </p:txBody>
        </p:sp>
      </p:grpSp>
      <p:grpSp>
        <p:nvGrpSpPr>
          <p:cNvPr name="Group 20" id="20"/>
          <p:cNvGrpSpPr/>
          <p:nvPr/>
        </p:nvGrpSpPr>
        <p:grpSpPr>
          <a:xfrm rot="0">
            <a:off x="1440180" y="5074920"/>
            <a:ext cx="576072" cy="576072"/>
            <a:chOff x="0" y="0"/>
            <a:chExt cx="768096" cy="768096"/>
          </a:xfrm>
        </p:grpSpPr>
        <p:sp>
          <p:nvSpPr>
            <p:cNvPr name="Freeform 21" id="21"/>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A26769"/>
            </a:solidFill>
          </p:spPr>
        </p:sp>
      </p:grpSp>
      <p:grpSp>
        <p:nvGrpSpPr>
          <p:cNvPr name="Group 22" id="22"/>
          <p:cNvGrpSpPr/>
          <p:nvPr/>
        </p:nvGrpSpPr>
        <p:grpSpPr>
          <a:xfrm rot="0">
            <a:off x="1578435" y="5213175"/>
            <a:ext cx="299561" cy="299561"/>
            <a:chOff x="0" y="0"/>
            <a:chExt cx="399415" cy="399415"/>
          </a:xfrm>
        </p:grpSpPr>
        <p:sp>
          <p:nvSpPr>
            <p:cNvPr name="Freeform 23" id="23" descr="/home/claude/herbalance/icon_frown.png"/>
            <p:cNvSpPr/>
            <p:nvPr/>
          </p:nvSpPr>
          <p:spPr>
            <a:xfrm flipH="false" flipV="false" rot="0">
              <a:off x="0" y="0"/>
              <a:ext cx="399415" cy="399415"/>
            </a:xfrm>
            <a:custGeom>
              <a:avLst/>
              <a:gdLst/>
              <a:ahLst/>
              <a:cxnLst/>
              <a:rect r="r" b="b" t="t" l="l"/>
              <a:pathLst>
                <a:path h="399415" w="399415">
                  <a:moveTo>
                    <a:pt x="0" y="0"/>
                  </a:moveTo>
                  <a:lnTo>
                    <a:pt x="399415" y="0"/>
                  </a:lnTo>
                  <a:lnTo>
                    <a:pt x="399415" y="399415"/>
                  </a:lnTo>
                  <a:lnTo>
                    <a:pt x="0" y="399415"/>
                  </a:lnTo>
                  <a:lnTo>
                    <a:pt x="0" y="0"/>
                  </a:lnTo>
                  <a:close/>
                </a:path>
              </a:pathLst>
            </a:custGeom>
            <a:blipFill>
              <a:blip r:embed="rId4"/>
              <a:stretch>
                <a:fillRect l="0" t="0" r="0" b="0"/>
              </a:stretch>
            </a:blipFill>
          </p:spPr>
        </p:sp>
      </p:grpSp>
      <p:grpSp>
        <p:nvGrpSpPr>
          <p:cNvPr name="Group 24" id="24"/>
          <p:cNvGrpSpPr/>
          <p:nvPr/>
        </p:nvGrpSpPr>
        <p:grpSpPr>
          <a:xfrm rot="0">
            <a:off x="2194560" y="5047488"/>
            <a:ext cx="6377940" cy="1028700"/>
            <a:chOff x="0" y="0"/>
            <a:chExt cx="8503920" cy="1371600"/>
          </a:xfrm>
        </p:grpSpPr>
        <p:sp>
          <p:nvSpPr>
            <p:cNvPr name="Freeform 25" id="25"/>
            <p:cNvSpPr/>
            <p:nvPr/>
          </p:nvSpPr>
          <p:spPr>
            <a:xfrm flipH="false" flipV="false" rot="0">
              <a:off x="0" y="0"/>
              <a:ext cx="8503920" cy="1371600"/>
            </a:xfrm>
            <a:custGeom>
              <a:avLst/>
              <a:gdLst/>
              <a:ahLst/>
              <a:cxnLst/>
              <a:rect r="r" b="b" t="t" l="l"/>
              <a:pathLst>
                <a:path h="1371600" w="8503920">
                  <a:moveTo>
                    <a:pt x="0" y="0"/>
                  </a:moveTo>
                  <a:lnTo>
                    <a:pt x="8503920" y="0"/>
                  </a:lnTo>
                  <a:lnTo>
                    <a:pt x="8503920" y="1371600"/>
                  </a:lnTo>
                  <a:lnTo>
                    <a:pt x="0" y="1371600"/>
                  </a:lnTo>
                  <a:close/>
                </a:path>
              </a:pathLst>
            </a:custGeom>
            <a:blipFill>
              <a:blip r:embed="rId3">
                <a:alphaModFix amt="0"/>
              </a:blip>
              <a:stretch>
                <a:fillRect l="0" t="-70807" r="0" b="-70807"/>
              </a:stretch>
            </a:blipFill>
          </p:spPr>
        </p:sp>
        <p:sp>
          <p:nvSpPr>
            <p:cNvPr name="TextBox 26" id="26"/>
            <p:cNvSpPr txBox="true"/>
            <p:nvPr/>
          </p:nvSpPr>
          <p:spPr>
            <a:xfrm>
              <a:off x="0" y="-38100"/>
              <a:ext cx="8503920" cy="1409700"/>
            </a:xfrm>
            <a:prstGeom prst="rect">
              <a:avLst/>
            </a:prstGeom>
          </p:spPr>
          <p:txBody>
            <a:bodyPr anchor="ctr" rtlCol="false" tIns="0" lIns="0" bIns="0" rIns="0"/>
            <a:lstStyle/>
            <a:p>
              <a:pPr algn="l">
                <a:lnSpc>
                  <a:spcPts val="2250"/>
                </a:lnSpc>
              </a:pPr>
              <a:r>
                <a:rPr lang="en-US" sz="1875">
                  <a:solidFill>
                    <a:srgbClr val="3A2A2E"/>
                  </a:solidFill>
                  <a:latin typeface="Calibri (MS)"/>
                  <a:ea typeface="Calibri (MS)"/>
                  <a:cs typeface="Calibri (MS)"/>
                  <a:sym typeface="Calibri (MS)"/>
                </a:rPr>
                <a:t>Independent skincare recommendation platforms.</a:t>
              </a:r>
            </a:p>
          </p:txBody>
        </p:sp>
      </p:grpSp>
      <p:grpSp>
        <p:nvGrpSpPr>
          <p:cNvPr name="Group 27" id="27"/>
          <p:cNvGrpSpPr/>
          <p:nvPr/>
        </p:nvGrpSpPr>
        <p:grpSpPr>
          <a:xfrm rot="0">
            <a:off x="1440180" y="6309360"/>
            <a:ext cx="576072" cy="576072"/>
            <a:chOff x="0" y="0"/>
            <a:chExt cx="768096" cy="768096"/>
          </a:xfrm>
        </p:grpSpPr>
        <p:sp>
          <p:nvSpPr>
            <p:cNvPr name="Freeform 28" id="28"/>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A26769"/>
            </a:solidFill>
          </p:spPr>
        </p:sp>
      </p:grpSp>
      <p:grpSp>
        <p:nvGrpSpPr>
          <p:cNvPr name="Group 29" id="29"/>
          <p:cNvGrpSpPr/>
          <p:nvPr/>
        </p:nvGrpSpPr>
        <p:grpSpPr>
          <a:xfrm rot="0">
            <a:off x="1578435" y="6447615"/>
            <a:ext cx="299561" cy="299561"/>
            <a:chOff x="0" y="0"/>
            <a:chExt cx="399415" cy="399415"/>
          </a:xfrm>
        </p:grpSpPr>
        <p:sp>
          <p:nvSpPr>
            <p:cNvPr name="Freeform 30" id="30" descr="/home/claude/herbalance/icon_frown.png"/>
            <p:cNvSpPr/>
            <p:nvPr/>
          </p:nvSpPr>
          <p:spPr>
            <a:xfrm flipH="false" flipV="false" rot="0">
              <a:off x="0" y="0"/>
              <a:ext cx="399415" cy="399415"/>
            </a:xfrm>
            <a:custGeom>
              <a:avLst/>
              <a:gdLst/>
              <a:ahLst/>
              <a:cxnLst/>
              <a:rect r="r" b="b" t="t" l="l"/>
              <a:pathLst>
                <a:path h="399415" w="399415">
                  <a:moveTo>
                    <a:pt x="0" y="0"/>
                  </a:moveTo>
                  <a:lnTo>
                    <a:pt x="399415" y="0"/>
                  </a:lnTo>
                  <a:lnTo>
                    <a:pt x="399415" y="399415"/>
                  </a:lnTo>
                  <a:lnTo>
                    <a:pt x="0" y="399415"/>
                  </a:lnTo>
                  <a:lnTo>
                    <a:pt x="0" y="0"/>
                  </a:lnTo>
                  <a:close/>
                </a:path>
              </a:pathLst>
            </a:custGeom>
            <a:blipFill>
              <a:blip r:embed="rId4"/>
              <a:stretch>
                <a:fillRect l="0" t="0" r="0" b="0"/>
              </a:stretch>
            </a:blipFill>
          </p:spPr>
        </p:sp>
      </p:grpSp>
      <p:grpSp>
        <p:nvGrpSpPr>
          <p:cNvPr name="Group 31" id="31"/>
          <p:cNvGrpSpPr/>
          <p:nvPr/>
        </p:nvGrpSpPr>
        <p:grpSpPr>
          <a:xfrm rot="0">
            <a:off x="2194560" y="6281928"/>
            <a:ext cx="6377940" cy="1028700"/>
            <a:chOff x="0" y="0"/>
            <a:chExt cx="8503920" cy="1371600"/>
          </a:xfrm>
        </p:grpSpPr>
        <p:sp>
          <p:nvSpPr>
            <p:cNvPr name="Freeform 32" id="32"/>
            <p:cNvSpPr/>
            <p:nvPr/>
          </p:nvSpPr>
          <p:spPr>
            <a:xfrm flipH="false" flipV="false" rot="0">
              <a:off x="0" y="0"/>
              <a:ext cx="8503920" cy="1371600"/>
            </a:xfrm>
            <a:custGeom>
              <a:avLst/>
              <a:gdLst/>
              <a:ahLst/>
              <a:cxnLst/>
              <a:rect r="r" b="b" t="t" l="l"/>
              <a:pathLst>
                <a:path h="1371600" w="8503920">
                  <a:moveTo>
                    <a:pt x="0" y="0"/>
                  </a:moveTo>
                  <a:lnTo>
                    <a:pt x="8503920" y="0"/>
                  </a:lnTo>
                  <a:lnTo>
                    <a:pt x="8503920" y="1371600"/>
                  </a:lnTo>
                  <a:lnTo>
                    <a:pt x="0" y="1371600"/>
                  </a:lnTo>
                  <a:close/>
                </a:path>
              </a:pathLst>
            </a:custGeom>
            <a:blipFill>
              <a:blip r:embed="rId3">
                <a:alphaModFix amt="0"/>
              </a:blip>
              <a:stretch>
                <a:fillRect l="0" t="-70807" r="0" b="-70807"/>
              </a:stretch>
            </a:blipFill>
          </p:spPr>
        </p:sp>
        <p:sp>
          <p:nvSpPr>
            <p:cNvPr name="TextBox 33" id="33"/>
            <p:cNvSpPr txBox="true"/>
            <p:nvPr/>
          </p:nvSpPr>
          <p:spPr>
            <a:xfrm>
              <a:off x="0" y="-38100"/>
              <a:ext cx="8503920" cy="1409700"/>
            </a:xfrm>
            <a:prstGeom prst="rect">
              <a:avLst/>
            </a:prstGeom>
          </p:spPr>
          <p:txBody>
            <a:bodyPr anchor="ctr" rtlCol="false" tIns="0" lIns="0" bIns="0" rIns="0"/>
            <a:lstStyle/>
            <a:p>
              <a:pPr algn="l">
                <a:lnSpc>
                  <a:spcPts val="2250"/>
                </a:lnSpc>
              </a:pPr>
              <a:r>
                <a:rPr lang="en-US" sz="1875">
                  <a:solidFill>
                    <a:srgbClr val="3A2A2E"/>
                  </a:solidFill>
                  <a:latin typeface="Calibri (MS)"/>
                  <a:ea typeface="Calibri (MS)"/>
                  <a:cs typeface="Calibri (MS)"/>
                  <a:sym typeface="Calibri (MS)"/>
                </a:rPr>
                <a:t>Manual medicine verification.</a:t>
              </a:r>
            </a:p>
          </p:txBody>
        </p:sp>
      </p:grpSp>
      <p:grpSp>
        <p:nvGrpSpPr>
          <p:cNvPr name="Group 34" id="34"/>
          <p:cNvGrpSpPr/>
          <p:nvPr/>
        </p:nvGrpSpPr>
        <p:grpSpPr>
          <a:xfrm rot="0">
            <a:off x="1440180" y="7543800"/>
            <a:ext cx="576072" cy="576072"/>
            <a:chOff x="0" y="0"/>
            <a:chExt cx="768096" cy="768096"/>
          </a:xfrm>
        </p:grpSpPr>
        <p:sp>
          <p:nvSpPr>
            <p:cNvPr name="Freeform 35" id="35"/>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A26769"/>
            </a:solidFill>
          </p:spPr>
        </p:sp>
      </p:grpSp>
      <p:grpSp>
        <p:nvGrpSpPr>
          <p:cNvPr name="Group 36" id="36"/>
          <p:cNvGrpSpPr/>
          <p:nvPr/>
        </p:nvGrpSpPr>
        <p:grpSpPr>
          <a:xfrm rot="0">
            <a:off x="1578435" y="7682055"/>
            <a:ext cx="299561" cy="299561"/>
            <a:chOff x="0" y="0"/>
            <a:chExt cx="399415" cy="399415"/>
          </a:xfrm>
        </p:grpSpPr>
        <p:sp>
          <p:nvSpPr>
            <p:cNvPr name="Freeform 37" id="37" descr="/home/claude/herbalance/icon_frown.png"/>
            <p:cNvSpPr/>
            <p:nvPr/>
          </p:nvSpPr>
          <p:spPr>
            <a:xfrm flipH="false" flipV="false" rot="0">
              <a:off x="0" y="0"/>
              <a:ext cx="399415" cy="399415"/>
            </a:xfrm>
            <a:custGeom>
              <a:avLst/>
              <a:gdLst/>
              <a:ahLst/>
              <a:cxnLst/>
              <a:rect r="r" b="b" t="t" l="l"/>
              <a:pathLst>
                <a:path h="399415" w="399415">
                  <a:moveTo>
                    <a:pt x="0" y="0"/>
                  </a:moveTo>
                  <a:lnTo>
                    <a:pt x="399415" y="0"/>
                  </a:lnTo>
                  <a:lnTo>
                    <a:pt x="399415" y="399415"/>
                  </a:lnTo>
                  <a:lnTo>
                    <a:pt x="0" y="399415"/>
                  </a:lnTo>
                  <a:lnTo>
                    <a:pt x="0" y="0"/>
                  </a:lnTo>
                  <a:close/>
                </a:path>
              </a:pathLst>
            </a:custGeom>
            <a:blipFill>
              <a:blip r:embed="rId4"/>
              <a:stretch>
                <a:fillRect l="0" t="0" r="0" b="0"/>
              </a:stretch>
            </a:blipFill>
          </p:spPr>
        </p:sp>
      </p:grpSp>
      <p:grpSp>
        <p:nvGrpSpPr>
          <p:cNvPr name="Group 38" id="38"/>
          <p:cNvGrpSpPr/>
          <p:nvPr/>
        </p:nvGrpSpPr>
        <p:grpSpPr>
          <a:xfrm rot="0">
            <a:off x="2194560" y="7516368"/>
            <a:ext cx="6377940" cy="1028700"/>
            <a:chOff x="0" y="0"/>
            <a:chExt cx="8503920" cy="1371600"/>
          </a:xfrm>
        </p:grpSpPr>
        <p:sp>
          <p:nvSpPr>
            <p:cNvPr name="Freeform 39" id="39"/>
            <p:cNvSpPr/>
            <p:nvPr/>
          </p:nvSpPr>
          <p:spPr>
            <a:xfrm flipH="false" flipV="false" rot="0">
              <a:off x="0" y="0"/>
              <a:ext cx="8503920" cy="1371600"/>
            </a:xfrm>
            <a:custGeom>
              <a:avLst/>
              <a:gdLst/>
              <a:ahLst/>
              <a:cxnLst/>
              <a:rect r="r" b="b" t="t" l="l"/>
              <a:pathLst>
                <a:path h="1371600" w="8503920">
                  <a:moveTo>
                    <a:pt x="0" y="0"/>
                  </a:moveTo>
                  <a:lnTo>
                    <a:pt x="8503920" y="0"/>
                  </a:lnTo>
                  <a:lnTo>
                    <a:pt x="8503920" y="1371600"/>
                  </a:lnTo>
                  <a:lnTo>
                    <a:pt x="0" y="1371600"/>
                  </a:lnTo>
                  <a:close/>
                </a:path>
              </a:pathLst>
            </a:custGeom>
            <a:blipFill>
              <a:blip r:embed="rId3">
                <a:alphaModFix amt="0"/>
              </a:blip>
              <a:stretch>
                <a:fillRect l="0" t="-70807" r="0" b="-70807"/>
              </a:stretch>
            </a:blipFill>
          </p:spPr>
        </p:sp>
        <p:sp>
          <p:nvSpPr>
            <p:cNvPr name="TextBox 40" id="40"/>
            <p:cNvSpPr txBox="true"/>
            <p:nvPr/>
          </p:nvSpPr>
          <p:spPr>
            <a:xfrm>
              <a:off x="0" y="-38100"/>
              <a:ext cx="8503920" cy="1409700"/>
            </a:xfrm>
            <a:prstGeom prst="rect">
              <a:avLst/>
            </a:prstGeom>
          </p:spPr>
          <p:txBody>
            <a:bodyPr anchor="ctr" rtlCol="false" tIns="0" lIns="0" bIns="0" rIns="0"/>
            <a:lstStyle/>
            <a:p>
              <a:pPr algn="l">
                <a:lnSpc>
                  <a:spcPts val="2250"/>
                </a:lnSpc>
              </a:pPr>
              <a:r>
                <a:rPr lang="en-US" sz="1875">
                  <a:solidFill>
                    <a:srgbClr val="3A2A2E"/>
                  </a:solidFill>
                  <a:latin typeface="Calibri (MS)"/>
                  <a:ea typeface="Calibri (MS)"/>
                  <a:cs typeface="Calibri (MS)"/>
                  <a:sym typeface="Calibri (MS)"/>
                </a:rPr>
                <a:t>Paper-based or fragmented digital health records.</a:t>
              </a:r>
            </a:p>
          </p:txBody>
        </p:sp>
      </p:grpSp>
      <p:grpSp>
        <p:nvGrpSpPr>
          <p:cNvPr name="Group 41" id="41"/>
          <p:cNvGrpSpPr/>
          <p:nvPr/>
        </p:nvGrpSpPr>
        <p:grpSpPr>
          <a:xfrm rot="0">
            <a:off x="9395460" y="2537460"/>
            <a:ext cx="7886700" cy="6652260"/>
            <a:chOff x="0" y="0"/>
            <a:chExt cx="10515600" cy="8869680"/>
          </a:xfrm>
        </p:grpSpPr>
        <p:sp>
          <p:nvSpPr>
            <p:cNvPr name="Freeform 42" id="42"/>
            <p:cNvSpPr/>
            <p:nvPr/>
          </p:nvSpPr>
          <p:spPr>
            <a:xfrm flipH="false" flipV="false" rot="0">
              <a:off x="0" y="0"/>
              <a:ext cx="10515600" cy="8869680"/>
            </a:xfrm>
            <a:custGeom>
              <a:avLst/>
              <a:gdLst/>
              <a:ahLst/>
              <a:cxnLst/>
              <a:rect r="r" b="b" t="t" l="l"/>
              <a:pathLst>
                <a:path h="8869680" w="10515600">
                  <a:moveTo>
                    <a:pt x="0" y="182880"/>
                  </a:moveTo>
                  <a:cubicBezTo>
                    <a:pt x="0" y="81915"/>
                    <a:pt x="81915" y="0"/>
                    <a:pt x="182880" y="0"/>
                  </a:cubicBezTo>
                  <a:lnTo>
                    <a:pt x="10332720" y="0"/>
                  </a:lnTo>
                  <a:cubicBezTo>
                    <a:pt x="10433685" y="0"/>
                    <a:pt x="10515600" y="81915"/>
                    <a:pt x="10515600" y="182880"/>
                  </a:cubicBezTo>
                  <a:lnTo>
                    <a:pt x="10515600" y="8686800"/>
                  </a:lnTo>
                  <a:cubicBezTo>
                    <a:pt x="10515600" y="8787765"/>
                    <a:pt x="10433685" y="8869680"/>
                    <a:pt x="10332720" y="8869680"/>
                  </a:cubicBezTo>
                  <a:lnTo>
                    <a:pt x="182880" y="8869680"/>
                  </a:lnTo>
                  <a:cubicBezTo>
                    <a:pt x="81915" y="8869680"/>
                    <a:pt x="0" y="8787765"/>
                    <a:pt x="0" y="8686800"/>
                  </a:cubicBezTo>
                  <a:close/>
                </a:path>
              </a:pathLst>
            </a:custGeom>
            <a:solidFill>
              <a:srgbClr val="6D2E46"/>
            </a:solidFill>
          </p:spPr>
        </p:sp>
      </p:grpSp>
      <p:grpSp>
        <p:nvGrpSpPr>
          <p:cNvPr name="Group 43" id="43"/>
          <p:cNvGrpSpPr/>
          <p:nvPr/>
        </p:nvGrpSpPr>
        <p:grpSpPr>
          <a:xfrm rot="0">
            <a:off x="9875520" y="2948940"/>
            <a:ext cx="6926580" cy="617220"/>
            <a:chOff x="0" y="0"/>
            <a:chExt cx="9235440" cy="822960"/>
          </a:xfrm>
        </p:grpSpPr>
        <p:sp>
          <p:nvSpPr>
            <p:cNvPr name="Freeform 44" id="44"/>
            <p:cNvSpPr/>
            <p:nvPr/>
          </p:nvSpPr>
          <p:spPr>
            <a:xfrm flipH="false" flipV="false" rot="0">
              <a:off x="0" y="0"/>
              <a:ext cx="9235440" cy="822960"/>
            </a:xfrm>
            <a:custGeom>
              <a:avLst/>
              <a:gdLst/>
              <a:ahLst/>
              <a:cxnLst/>
              <a:rect r="r" b="b" t="t" l="l"/>
              <a:pathLst>
                <a:path h="822960" w="9235440">
                  <a:moveTo>
                    <a:pt x="0" y="0"/>
                  </a:moveTo>
                  <a:lnTo>
                    <a:pt x="9235440" y="0"/>
                  </a:lnTo>
                  <a:lnTo>
                    <a:pt x="9235440" y="822960"/>
                  </a:lnTo>
                  <a:lnTo>
                    <a:pt x="0" y="822960"/>
                  </a:lnTo>
                  <a:close/>
                </a:path>
              </a:pathLst>
            </a:custGeom>
            <a:blipFill>
              <a:blip r:embed="rId3">
                <a:alphaModFix amt="0"/>
              </a:blip>
              <a:stretch>
                <a:fillRect l="0" t="-168665" r="0" b="-168665"/>
              </a:stretch>
            </a:blipFill>
          </p:spPr>
        </p:sp>
        <p:sp>
          <p:nvSpPr>
            <p:cNvPr name="TextBox 45" id="45"/>
            <p:cNvSpPr txBox="true"/>
            <p:nvPr/>
          </p:nvSpPr>
          <p:spPr>
            <a:xfrm>
              <a:off x="0" y="-38100"/>
              <a:ext cx="9235440" cy="86106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Drawbacks</a:t>
              </a:r>
            </a:p>
          </p:txBody>
        </p:sp>
      </p:grpSp>
      <p:grpSp>
        <p:nvGrpSpPr>
          <p:cNvPr name="Group 46" id="46"/>
          <p:cNvGrpSpPr/>
          <p:nvPr/>
        </p:nvGrpSpPr>
        <p:grpSpPr>
          <a:xfrm rot="0">
            <a:off x="9875520" y="3840480"/>
            <a:ext cx="521208" cy="521208"/>
            <a:chOff x="0" y="0"/>
            <a:chExt cx="694944" cy="694944"/>
          </a:xfrm>
        </p:grpSpPr>
        <p:sp>
          <p:nvSpPr>
            <p:cNvPr name="Freeform 47" id="47"/>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4A1F30"/>
            </a:solidFill>
          </p:spPr>
        </p:sp>
      </p:grpSp>
      <p:grpSp>
        <p:nvGrpSpPr>
          <p:cNvPr name="Group 48" id="48"/>
          <p:cNvGrpSpPr/>
          <p:nvPr/>
        </p:nvGrpSpPr>
        <p:grpSpPr>
          <a:xfrm rot="0">
            <a:off x="10000612" y="3965572"/>
            <a:ext cx="271024" cy="271024"/>
            <a:chOff x="0" y="0"/>
            <a:chExt cx="361366" cy="361366"/>
          </a:xfrm>
        </p:grpSpPr>
        <p:sp>
          <p:nvSpPr>
            <p:cNvPr name="Freeform 49" id="49" descr="/home/claude/herbalance/icon_cross.png"/>
            <p:cNvSpPr/>
            <p:nvPr/>
          </p:nvSpPr>
          <p:spPr>
            <a:xfrm flipH="false" flipV="false" rot="0">
              <a:off x="0" y="0"/>
              <a:ext cx="361315" cy="361315"/>
            </a:xfrm>
            <a:custGeom>
              <a:avLst/>
              <a:gdLst/>
              <a:ahLst/>
              <a:cxnLst/>
              <a:rect r="r" b="b" t="t" l="l"/>
              <a:pathLst>
                <a:path h="361315" w="361315">
                  <a:moveTo>
                    <a:pt x="0" y="0"/>
                  </a:moveTo>
                  <a:lnTo>
                    <a:pt x="361315" y="0"/>
                  </a:lnTo>
                  <a:lnTo>
                    <a:pt x="361315" y="361315"/>
                  </a:lnTo>
                  <a:lnTo>
                    <a:pt x="0" y="361315"/>
                  </a:lnTo>
                  <a:lnTo>
                    <a:pt x="0" y="0"/>
                  </a:lnTo>
                  <a:close/>
                </a:path>
              </a:pathLst>
            </a:custGeom>
            <a:blipFill>
              <a:blip r:embed="rId5"/>
              <a:stretch>
                <a:fillRect l="0" t="0" r="-14" b="-14"/>
              </a:stretch>
            </a:blipFill>
          </p:spPr>
        </p:sp>
      </p:grpSp>
      <p:grpSp>
        <p:nvGrpSpPr>
          <p:cNvPr name="Group 50" id="50"/>
          <p:cNvGrpSpPr/>
          <p:nvPr/>
        </p:nvGrpSpPr>
        <p:grpSpPr>
          <a:xfrm rot="0">
            <a:off x="10561320" y="3813048"/>
            <a:ext cx="6377940" cy="850392"/>
            <a:chOff x="0" y="0"/>
            <a:chExt cx="8503920" cy="1133856"/>
          </a:xfrm>
        </p:grpSpPr>
        <p:sp>
          <p:nvSpPr>
            <p:cNvPr name="Freeform 51" id="51"/>
            <p:cNvSpPr/>
            <p:nvPr/>
          </p:nvSpPr>
          <p:spPr>
            <a:xfrm flipH="false" flipV="false" rot="0">
              <a:off x="0" y="0"/>
              <a:ext cx="8503920" cy="1133856"/>
            </a:xfrm>
            <a:custGeom>
              <a:avLst/>
              <a:gdLst/>
              <a:ahLst/>
              <a:cxnLst/>
              <a:rect r="r" b="b" t="t" l="l"/>
              <a:pathLst>
                <a:path h="1133856" w="8503920">
                  <a:moveTo>
                    <a:pt x="0" y="0"/>
                  </a:moveTo>
                  <a:lnTo>
                    <a:pt x="8503920" y="0"/>
                  </a:lnTo>
                  <a:lnTo>
                    <a:pt x="8503920" y="1133856"/>
                  </a:lnTo>
                  <a:lnTo>
                    <a:pt x="0" y="1133856"/>
                  </a:lnTo>
                  <a:close/>
                </a:path>
              </a:pathLst>
            </a:custGeom>
            <a:blipFill>
              <a:blip r:embed="rId3">
                <a:alphaModFix amt="0"/>
              </a:blip>
              <a:stretch>
                <a:fillRect l="0" t="-96137" r="0" b="-96137"/>
              </a:stretch>
            </a:blipFill>
          </p:spPr>
        </p:sp>
        <p:sp>
          <p:nvSpPr>
            <p:cNvPr name="TextBox 52" id="52"/>
            <p:cNvSpPr txBox="true"/>
            <p:nvPr/>
          </p:nvSpPr>
          <p:spPr>
            <a:xfrm>
              <a:off x="0" y="-38100"/>
              <a:ext cx="8503920" cy="1171956"/>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No integrated solution.</a:t>
              </a:r>
            </a:p>
          </p:txBody>
        </p:sp>
      </p:grpSp>
      <p:grpSp>
        <p:nvGrpSpPr>
          <p:cNvPr name="Group 53" id="53"/>
          <p:cNvGrpSpPr/>
          <p:nvPr/>
        </p:nvGrpSpPr>
        <p:grpSpPr>
          <a:xfrm rot="0">
            <a:off x="9875520" y="4869180"/>
            <a:ext cx="521208" cy="521208"/>
            <a:chOff x="0" y="0"/>
            <a:chExt cx="694944" cy="694944"/>
          </a:xfrm>
        </p:grpSpPr>
        <p:sp>
          <p:nvSpPr>
            <p:cNvPr name="Freeform 54" id="54"/>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4A1F30"/>
            </a:solidFill>
          </p:spPr>
        </p:sp>
      </p:grpSp>
      <p:grpSp>
        <p:nvGrpSpPr>
          <p:cNvPr name="Group 55" id="55"/>
          <p:cNvGrpSpPr/>
          <p:nvPr/>
        </p:nvGrpSpPr>
        <p:grpSpPr>
          <a:xfrm rot="0">
            <a:off x="10000612" y="4994272"/>
            <a:ext cx="271024" cy="271024"/>
            <a:chOff x="0" y="0"/>
            <a:chExt cx="361366" cy="361366"/>
          </a:xfrm>
        </p:grpSpPr>
        <p:sp>
          <p:nvSpPr>
            <p:cNvPr name="Freeform 56" id="56" descr="/home/claude/herbalance/icon_cross.png"/>
            <p:cNvSpPr/>
            <p:nvPr/>
          </p:nvSpPr>
          <p:spPr>
            <a:xfrm flipH="false" flipV="false" rot="0">
              <a:off x="0" y="0"/>
              <a:ext cx="361315" cy="361315"/>
            </a:xfrm>
            <a:custGeom>
              <a:avLst/>
              <a:gdLst/>
              <a:ahLst/>
              <a:cxnLst/>
              <a:rect r="r" b="b" t="t" l="l"/>
              <a:pathLst>
                <a:path h="361315" w="361315">
                  <a:moveTo>
                    <a:pt x="0" y="0"/>
                  </a:moveTo>
                  <a:lnTo>
                    <a:pt x="361315" y="0"/>
                  </a:lnTo>
                  <a:lnTo>
                    <a:pt x="361315" y="361315"/>
                  </a:lnTo>
                  <a:lnTo>
                    <a:pt x="0" y="361315"/>
                  </a:lnTo>
                  <a:lnTo>
                    <a:pt x="0" y="0"/>
                  </a:lnTo>
                  <a:close/>
                </a:path>
              </a:pathLst>
            </a:custGeom>
            <a:blipFill>
              <a:blip r:embed="rId5"/>
              <a:stretch>
                <a:fillRect l="0" t="0" r="-14" b="-14"/>
              </a:stretch>
            </a:blipFill>
          </p:spPr>
        </p:sp>
      </p:grpSp>
      <p:grpSp>
        <p:nvGrpSpPr>
          <p:cNvPr name="Group 57" id="57"/>
          <p:cNvGrpSpPr/>
          <p:nvPr/>
        </p:nvGrpSpPr>
        <p:grpSpPr>
          <a:xfrm rot="0">
            <a:off x="10561320" y="4841748"/>
            <a:ext cx="6377940" cy="850392"/>
            <a:chOff x="0" y="0"/>
            <a:chExt cx="8503920" cy="1133856"/>
          </a:xfrm>
        </p:grpSpPr>
        <p:sp>
          <p:nvSpPr>
            <p:cNvPr name="Freeform 58" id="58"/>
            <p:cNvSpPr/>
            <p:nvPr/>
          </p:nvSpPr>
          <p:spPr>
            <a:xfrm flipH="false" flipV="false" rot="0">
              <a:off x="0" y="0"/>
              <a:ext cx="8503920" cy="1133856"/>
            </a:xfrm>
            <a:custGeom>
              <a:avLst/>
              <a:gdLst/>
              <a:ahLst/>
              <a:cxnLst/>
              <a:rect r="r" b="b" t="t" l="l"/>
              <a:pathLst>
                <a:path h="1133856" w="8503920">
                  <a:moveTo>
                    <a:pt x="0" y="0"/>
                  </a:moveTo>
                  <a:lnTo>
                    <a:pt x="8503920" y="0"/>
                  </a:lnTo>
                  <a:lnTo>
                    <a:pt x="8503920" y="1133856"/>
                  </a:lnTo>
                  <a:lnTo>
                    <a:pt x="0" y="1133856"/>
                  </a:lnTo>
                  <a:close/>
                </a:path>
              </a:pathLst>
            </a:custGeom>
            <a:blipFill>
              <a:blip r:embed="rId3">
                <a:alphaModFix amt="0"/>
              </a:blip>
              <a:stretch>
                <a:fillRect l="0" t="-96137" r="0" b="-96137"/>
              </a:stretch>
            </a:blipFill>
          </p:spPr>
        </p:sp>
        <p:sp>
          <p:nvSpPr>
            <p:cNvPr name="TextBox 59" id="59"/>
            <p:cNvSpPr txBox="true"/>
            <p:nvPr/>
          </p:nvSpPr>
          <p:spPr>
            <a:xfrm>
              <a:off x="0" y="-38100"/>
              <a:ext cx="8503920" cy="1171956"/>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Limited personalization.</a:t>
              </a:r>
            </a:p>
          </p:txBody>
        </p:sp>
      </p:grpSp>
      <p:grpSp>
        <p:nvGrpSpPr>
          <p:cNvPr name="Group 60" id="60"/>
          <p:cNvGrpSpPr/>
          <p:nvPr/>
        </p:nvGrpSpPr>
        <p:grpSpPr>
          <a:xfrm rot="0">
            <a:off x="9875520" y="5897880"/>
            <a:ext cx="521208" cy="521208"/>
            <a:chOff x="0" y="0"/>
            <a:chExt cx="694944" cy="694944"/>
          </a:xfrm>
        </p:grpSpPr>
        <p:sp>
          <p:nvSpPr>
            <p:cNvPr name="Freeform 61" id="61"/>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4A1F30"/>
            </a:solidFill>
          </p:spPr>
        </p:sp>
      </p:grpSp>
      <p:grpSp>
        <p:nvGrpSpPr>
          <p:cNvPr name="Group 62" id="62"/>
          <p:cNvGrpSpPr/>
          <p:nvPr/>
        </p:nvGrpSpPr>
        <p:grpSpPr>
          <a:xfrm rot="0">
            <a:off x="10000612" y="6022972"/>
            <a:ext cx="271024" cy="271024"/>
            <a:chOff x="0" y="0"/>
            <a:chExt cx="361366" cy="361366"/>
          </a:xfrm>
        </p:grpSpPr>
        <p:sp>
          <p:nvSpPr>
            <p:cNvPr name="Freeform 63" id="63" descr="/home/claude/herbalance/icon_cross.png"/>
            <p:cNvSpPr/>
            <p:nvPr/>
          </p:nvSpPr>
          <p:spPr>
            <a:xfrm flipH="false" flipV="false" rot="0">
              <a:off x="0" y="0"/>
              <a:ext cx="361315" cy="361315"/>
            </a:xfrm>
            <a:custGeom>
              <a:avLst/>
              <a:gdLst/>
              <a:ahLst/>
              <a:cxnLst/>
              <a:rect r="r" b="b" t="t" l="l"/>
              <a:pathLst>
                <a:path h="361315" w="361315">
                  <a:moveTo>
                    <a:pt x="0" y="0"/>
                  </a:moveTo>
                  <a:lnTo>
                    <a:pt x="361315" y="0"/>
                  </a:lnTo>
                  <a:lnTo>
                    <a:pt x="361315" y="361315"/>
                  </a:lnTo>
                  <a:lnTo>
                    <a:pt x="0" y="361315"/>
                  </a:lnTo>
                  <a:lnTo>
                    <a:pt x="0" y="0"/>
                  </a:lnTo>
                  <a:close/>
                </a:path>
              </a:pathLst>
            </a:custGeom>
            <a:blipFill>
              <a:blip r:embed="rId5"/>
              <a:stretch>
                <a:fillRect l="0" t="0" r="-14" b="-14"/>
              </a:stretch>
            </a:blipFill>
          </p:spPr>
        </p:sp>
      </p:grpSp>
      <p:grpSp>
        <p:nvGrpSpPr>
          <p:cNvPr name="Group 64" id="64"/>
          <p:cNvGrpSpPr/>
          <p:nvPr/>
        </p:nvGrpSpPr>
        <p:grpSpPr>
          <a:xfrm rot="0">
            <a:off x="10561320" y="5870448"/>
            <a:ext cx="6377940" cy="850392"/>
            <a:chOff x="0" y="0"/>
            <a:chExt cx="8503920" cy="1133856"/>
          </a:xfrm>
        </p:grpSpPr>
        <p:sp>
          <p:nvSpPr>
            <p:cNvPr name="Freeform 65" id="65"/>
            <p:cNvSpPr/>
            <p:nvPr/>
          </p:nvSpPr>
          <p:spPr>
            <a:xfrm flipH="false" flipV="false" rot="0">
              <a:off x="0" y="0"/>
              <a:ext cx="8503920" cy="1133856"/>
            </a:xfrm>
            <a:custGeom>
              <a:avLst/>
              <a:gdLst/>
              <a:ahLst/>
              <a:cxnLst/>
              <a:rect r="r" b="b" t="t" l="l"/>
              <a:pathLst>
                <a:path h="1133856" w="8503920">
                  <a:moveTo>
                    <a:pt x="0" y="0"/>
                  </a:moveTo>
                  <a:lnTo>
                    <a:pt x="8503920" y="0"/>
                  </a:lnTo>
                  <a:lnTo>
                    <a:pt x="8503920" y="1133856"/>
                  </a:lnTo>
                  <a:lnTo>
                    <a:pt x="0" y="1133856"/>
                  </a:lnTo>
                  <a:close/>
                </a:path>
              </a:pathLst>
            </a:custGeom>
            <a:blipFill>
              <a:blip r:embed="rId3">
                <a:alphaModFix amt="0"/>
              </a:blip>
              <a:stretch>
                <a:fillRect l="0" t="-96137" r="0" b="-96137"/>
              </a:stretch>
            </a:blipFill>
          </p:spPr>
        </p:sp>
        <p:sp>
          <p:nvSpPr>
            <p:cNvPr name="TextBox 66" id="66"/>
            <p:cNvSpPr txBox="true"/>
            <p:nvPr/>
          </p:nvSpPr>
          <p:spPr>
            <a:xfrm>
              <a:off x="0" y="-38100"/>
              <a:ext cx="8503920" cy="1171956"/>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Time-consuming.</a:t>
              </a:r>
            </a:p>
          </p:txBody>
        </p:sp>
      </p:grpSp>
      <p:grpSp>
        <p:nvGrpSpPr>
          <p:cNvPr name="Group 67" id="67"/>
          <p:cNvGrpSpPr/>
          <p:nvPr/>
        </p:nvGrpSpPr>
        <p:grpSpPr>
          <a:xfrm rot="0">
            <a:off x="9875520" y="6926580"/>
            <a:ext cx="521208" cy="521208"/>
            <a:chOff x="0" y="0"/>
            <a:chExt cx="694944" cy="694944"/>
          </a:xfrm>
        </p:grpSpPr>
        <p:sp>
          <p:nvSpPr>
            <p:cNvPr name="Freeform 68" id="68"/>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4A1F30"/>
            </a:solidFill>
          </p:spPr>
        </p:sp>
      </p:grpSp>
      <p:grpSp>
        <p:nvGrpSpPr>
          <p:cNvPr name="Group 69" id="69"/>
          <p:cNvGrpSpPr/>
          <p:nvPr/>
        </p:nvGrpSpPr>
        <p:grpSpPr>
          <a:xfrm rot="0">
            <a:off x="10000612" y="7051672"/>
            <a:ext cx="271024" cy="271024"/>
            <a:chOff x="0" y="0"/>
            <a:chExt cx="361366" cy="361366"/>
          </a:xfrm>
        </p:grpSpPr>
        <p:sp>
          <p:nvSpPr>
            <p:cNvPr name="Freeform 70" id="70" descr="/home/claude/herbalance/icon_cross.png"/>
            <p:cNvSpPr/>
            <p:nvPr/>
          </p:nvSpPr>
          <p:spPr>
            <a:xfrm flipH="false" flipV="false" rot="0">
              <a:off x="0" y="0"/>
              <a:ext cx="361315" cy="361315"/>
            </a:xfrm>
            <a:custGeom>
              <a:avLst/>
              <a:gdLst/>
              <a:ahLst/>
              <a:cxnLst/>
              <a:rect r="r" b="b" t="t" l="l"/>
              <a:pathLst>
                <a:path h="361315" w="361315">
                  <a:moveTo>
                    <a:pt x="0" y="0"/>
                  </a:moveTo>
                  <a:lnTo>
                    <a:pt x="361315" y="0"/>
                  </a:lnTo>
                  <a:lnTo>
                    <a:pt x="361315" y="361315"/>
                  </a:lnTo>
                  <a:lnTo>
                    <a:pt x="0" y="361315"/>
                  </a:lnTo>
                  <a:lnTo>
                    <a:pt x="0" y="0"/>
                  </a:lnTo>
                  <a:close/>
                </a:path>
              </a:pathLst>
            </a:custGeom>
            <a:blipFill>
              <a:blip r:embed="rId5"/>
              <a:stretch>
                <a:fillRect l="0" t="0" r="-14" b="-14"/>
              </a:stretch>
            </a:blipFill>
          </p:spPr>
        </p:sp>
      </p:grpSp>
      <p:grpSp>
        <p:nvGrpSpPr>
          <p:cNvPr name="Group 71" id="71"/>
          <p:cNvGrpSpPr/>
          <p:nvPr/>
        </p:nvGrpSpPr>
        <p:grpSpPr>
          <a:xfrm rot="0">
            <a:off x="10561320" y="6899148"/>
            <a:ext cx="6377940" cy="850392"/>
            <a:chOff x="0" y="0"/>
            <a:chExt cx="8503920" cy="1133856"/>
          </a:xfrm>
        </p:grpSpPr>
        <p:sp>
          <p:nvSpPr>
            <p:cNvPr name="Freeform 72" id="72"/>
            <p:cNvSpPr/>
            <p:nvPr/>
          </p:nvSpPr>
          <p:spPr>
            <a:xfrm flipH="false" flipV="false" rot="0">
              <a:off x="0" y="0"/>
              <a:ext cx="8503920" cy="1133856"/>
            </a:xfrm>
            <a:custGeom>
              <a:avLst/>
              <a:gdLst/>
              <a:ahLst/>
              <a:cxnLst/>
              <a:rect r="r" b="b" t="t" l="l"/>
              <a:pathLst>
                <a:path h="1133856" w="8503920">
                  <a:moveTo>
                    <a:pt x="0" y="0"/>
                  </a:moveTo>
                  <a:lnTo>
                    <a:pt x="8503920" y="0"/>
                  </a:lnTo>
                  <a:lnTo>
                    <a:pt x="8503920" y="1133856"/>
                  </a:lnTo>
                  <a:lnTo>
                    <a:pt x="0" y="1133856"/>
                  </a:lnTo>
                  <a:close/>
                </a:path>
              </a:pathLst>
            </a:custGeom>
            <a:blipFill>
              <a:blip r:embed="rId3">
                <a:alphaModFix amt="0"/>
              </a:blip>
              <a:stretch>
                <a:fillRect l="0" t="-96137" r="0" b="-96137"/>
              </a:stretch>
            </a:blipFill>
          </p:spPr>
        </p:sp>
        <p:sp>
          <p:nvSpPr>
            <p:cNvPr name="TextBox 73" id="73"/>
            <p:cNvSpPr txBox="true"/>
            <p:nvPr/>
          </p:nvSpPr>
          <p:spPr>
            <a:xfrm>
              <a:off x="0" y="-38100"/>
              <a:ext cx="8503920" cy="1171956"/>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Data scattered across multiple applications.</a:t>
              </a:r>
            </a:p>
          </p:txBody>
        </p:sp>
      </p:grpSp>
      <p:grpSp>
        <p:nvGrpSpPr>
          <p:cNvPr name="Group 74" id="74"/>
          <p:cNvGrpSpPr/>
          <p:nvPr/>
        </p:nvGrpSpPr>
        <p:grpSpPr>
          <a:xfrm rot="0">
            <a:off x="9875520" y="7955280"/>
            <a:ext cx="521208" cy="521208"/>
            <a:chOff x="0" y="0"/>
            <a:chExt cx="694944" cy="694944"/>
          </a:xfrm>
        </p:grpSpPr>
        <p:sp>
          <p:nvSpPr>
            <p:cNvPr name="Freeform 75" id="75"/>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4A1F30"/>
            </a:solidFill>
          </p:spPr>
        </p:sp>
      </p:grpSp>
      <p:grpSp>
        <p:nvGrpSpPr>
          <p:cNvPr name="Group 76" id="76"/>
          <p:cNvGrpSpPr/>
          <p:nvPr/>
        </p:nvGrpSpPr>
        <p:grpSpPr>
          <a:xfrm rot="0">
            <a:off x="10000612" y="8080372"/>
            <a:ext cx="271024" cy="271024"/>
            <a:chOff x="0" y="0"/>
            <a:chExt cx="361366" cy="361366"/>
          </a:xfrm>
        </p:grpSpPr>
        <p:sp>
          <p:nvSpPr>
            <p:cNvPr name="Freeform 77" id="77" descr="/home/claude/herbalance/icon_cross.png"/>
            <p:cNvSpPr/>
            <p:nvPr/>
          </p:nvSpPr>
          <p:spPr>
            <a:xfrm flipH="false" flipV="false" rot="0">
              <a:off x="0" y="0"/>
              <a:ext cx="361315" cy="361315"/>
            </a:xfrm>
            <a:custGeom>
              <a:avLst/>
              <a:gdLst/>
              <a:ahLst/>
              <a:cxnLst/>
              <a:rect r="r" b="b" t="t" l="l"/>
              <a:pathLst>
                <a:path h="361315" w="361315">
                  <a:moveTo>
                    <a:pt x="0" y="0"/>
                  </a:moveTo>
                  <a:lnTo>
                    <a:pt x="361315" y="0"/>
                  </a:lnTo>
                  <a:lnTo>
                    <a:pt x="361315" y="361315"/>
                  </a:lnTo>
                  <a:lnTo>
                    <a:pt x="0" y="361315"/>
                  </a:lnTo>
                  <a:lnTo>
                    <a:pt x="0" y="0"/>
                  </a:lnTo>
                  <a:close/>
                </a:path>
              </a:pathLst>
            </a:custGeom>
            <a:blipFill>
              <a:blip r:embed="rId5"/>
              <a:stretch>
                <a:fillRect l="0" t="0" r="-14" b="-14"/>
              </a:stretch>
            </a:blipFill>
          </p:spPr>
        </p:sp>
      </p:grpSp>
      <p:grpSp>
        <p:nvGrpSpPr>
          <p:cNvPr name="Group 78" id="78"/>
          <p:cNvGrpSpPr/>
          <p:nvPr/>
        </p:nvGrpSpPr>
        <p:grpSpPr>
          <a:xfrm rot="0">
            <a:off x="10561320" y="7927848"/>
            <a:ext cx="6377940" cy="850392"/>
            <a:chOff x="0" y="0"/>
            <a:chExt cx="8503920" cy="1133856"/>
          </a:xfrm>
        </p:grpSpPr>
        <p:sp>
          <p:nvSpPr>
            <p:cNvPr name="Freeform 79" id="79"/>
            <p:cNvSpPr/>
            <p:nvPr/>
          </p:nvSpPr>
          <p:spPr>
            <a:xfrm flipH="false" flipV="false" rot="0">
              <a:off x="0" y="0"/>
              <a:ext cx="8503920" cy="1133856"/>
            </a:xfrm>
            <a:custGeom>
              <a:avLst/>
              <a:gdLst/>
              <a:ahLst/>
              <a:cxnLst/>
              <a:rect r="r" b="b" t="t" l="l"/>
              <a:pathLst>
                <a:path h="1133856" w="8503920">
                  <a:moveTo>
                    <a:pt x="0" y="0"/>
                  </a:moveTo>
                  <a:lnTo>
                    <a:pt x="8503920" y="0"/>
                  </a:lnTo>
                  <a:lnTo>
                    <a:pt x="8503920" y="1133856"/>
                  </a:lnTo>
                  <a:lnTo>
                    <a:pt x="0" y="1133856"/>
                  </a:lnTo>
                  <a:close/>
                </a:path>
              </a:pathLst>
            </a:custGeom>
            <a:blipFill>
              <a:blip r:embed="rId3">
                <a:alphaModFix amt="0"/>
              </a:blip>
              <a:stretch>
                <a:fillRect l="0" t="-96137" r="0" b="-96137"/>
              </a:stretch>
            </a:blipFill>
          </p:spPr>
        </p:sp>
        <p:sp>
          <p:nvSpPr>
            <p:cNvPr name="TextBox 80" id="80"/>
            <p:cNvSpPr txBox="true"/>
            <p:nvPr/>
          </p:nvSpPr>
          <p:spPr>
            <a:xfrm>
              <a:off x="0" y="-38100"/>
              <a:ext cx="8503920" cy="1171956"/>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Poor user convenience.</a:t>
              </a:r>
            </a:p>
          </p:txBody>
        </p:sp>
      </p:grpSp>
      <p:grpSp>
        <p:nvGrpSpPr>
          <p:cNvPr name="Group 81" id="81"/>
          <p:cNvGrpSpPr/>
          <p:nvPr/>
        </p:nvGrpSpPr>
        <p:grpSpPr>
          <a:xfrm rot="0">
            <a:off x="17048988" y="9532620"/>
            <a:ext cx="822960" cy="480060"/>
            <a:chOff x="0" y="0"/>
            <a:chExt cx="1097280" cy="640080"/>
          </a:xfrm>
        </p:grpSpPr>
        <p:sp>
          <p:nvSpPr>
            <p:cNvPr name="Freeform 82" id="82"/>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3">
                <a:alphaModFix amt="0"/>
              </a:blip>
              <a:stretch>
                <a:fillRect l="-24843" t="0" r="-24843" b="0"/>
              </a:stretch>
            </a:blipFill>
          </p:spPr>
        </p:sp>
        <p:sp>
          <p:nvSpPr>
            <p:cNvPr name="TextBox 83" id="83"/>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8A7478"/>
                  </a:solidFill>
                  <a:latin typeface="Calibri (MS)"/>
                  <a:ea typeface="Calibri (MS)"/>
                  <a:cs typeface="Calibri (MS)"/>
                  <a:sym typeface="Calibri (MS)"/>
                </a:rPr>
                <a:t>05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A1F30"/>
        </a:solidFill>
      </p:bgPr>
    </p:bg>
    <p:spTree>
      <p:nvGrpSpPr>
        <p:cNvPr id="1" name=""/>
        <p:cNvGrpSpPr/>
        <p:nvPr/>
      </p:nvGrpSpPr>
      <p:grpSpPr>
        <a:xfrm>
          <a:off x="0" y="0"/>
          <a:ext cx="0" cy="0"/>
          <a:chOff x="0" y="0"/>
          <a:chExt cx="0" cy="0"/>
        </a:xfrm>
      </p:grpSpPr>
      <p:grpSp>
        <p:nvGrpSpPr>
          <p:cNvPr name="Group 2" id="2"/>
          <p:cNvGrpSpPr/>
          <p:nvPr/>
        </p:nvGrpSpPr>
        <p:grpSpPr>
          <a:xfrm rot="0">
            <a:off x="960120" y="68580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299">
                  <a:solidFill>
                    <a:srgbClr val="ECE2D0"/>
                  </a:solidFill>
                  <a:latin typeface="Calibri (MS) Bold"/>
                  <a:ea typeface="Calibri (MS) Bold"/>
                  <a:cs typeface="Calibri (MS) Bold"/>
                  <a:sym typeface="Calibri (MS) Bold"/>
                </a:rPr>
                <a:t>OUR SOLUTION</a:t>
              </a:r>
            </a:p>
          </p:txBody>
        </p:sp>
      </p:grpSp>
      <p:grpSp>
        <p:nvGrpSpPr>
          <p:cNvPr name="Group 5" id="5"/>
          <p:cNvGrpSpPr/>
          <p:nvPr/>
        </p:nvGrpSpPr>
        <p:grpSpPr>
          <a:xfrm rot="0">
            <a:off x="960120" y="1124712"/>
            <a:ext cx="12344400" cy="960120"/>
            <a:chOff x="0" y="0"/>
            <a:chExt cx="16459200" cy="1280160"/>
          </a:xfrm>
        </p:grpSpPr>
        <p:sp>
          <p:nvSpPr>
            <p:cNvPr name="Freeform 6" id="6"/>
            <p:cNvSpPr/>
            <p:nvPr/>
          </p:nvSpPr>
          <p:spPr>
            <a:xfrm flipH="false" flipV="false" rot="0">
              <a:off x="0" y="0"/>
              <a:ext cx="16459200" cy="1280160"/>
            </a:xfrm>
            <a:custGeom>
              <a:avLst/>
              <a:gdLst/>
              <a:ahLst/>
              <a:cxnLst/>
              <a:rect r="r" b="b" t="t" l="l"/>
              <a:pathLst>
                <a:path h="1280160" w="16459200">
                  <a:moveTo>
                    <a:pt x="0" y="0"/>
                  </a:moveTo>
                  <a:lnTo>
                    <a:pt x="16459200" y="0"/>
                  </a:lnTo>
                  <a:lnTo>
                    <a:pt x="16459200" y="1280160"/>
                  </a:lnTo>
                  <a:lnTo>
                    <a:pt x="0" y="1280160"/>
                  </a:lnTo>
                  <a:close/>
                </a:path>
              </a:pathLst>
            </a:custGeom>
            <a:blipFill>
              <a:blip r:embed="rId3">
                <a:alphaModFix amt="0"/>
              </a:blip>
              <a:stretch>
                <a:fillRect l="0" t="-200521" r="0" b="-200521"/>
              </a:stretch>
            </a:blipFill>
          </p:spPr>
        </p:sp>
        <p:sp>
          <p:nvSpPr>
            <p:cNvPr name="TextBox 7" id="7"/>
            <p:cNvSpPr txBox="true"/>
            <p:nvPr/>
          </p:nvSpPr>
          <p:spPr>
            <a:xfrm>
              <a:off x="0" y="-9525"/>
              <a:ext cx="16459200" cy="1289685"/>
            </a:xfrm>
            <a:prstGeom prst="rect">
              <a:avLst/>
            </a:prstGeom>
          </p:spPr>
          <p:txBody>
            <a:bodyPr anchor="ctr" rtlCol="false" tIns="0" lIns="0" bIns="0" rIns="0"/>
            <a:lstStyle/>
            <a:p>
              <a:pPr algn="l">
                <a:lnSpc>
                  <a:spcPts val="6120"/>
                </a:lnSpc>
              </a:pPr>
              <a:r>
                <a:rPr lang="en-US" sz="5100" b="true">
                  <a:solidFill>
                    <a:srgbClr val="FFFFFF"/>
                  </a:solidFill>
                  <a:latin typeface="Cambria Bold"/>
                  <a:ea typeface="Cambria Bold"/>
                  <a:cs typeface="Cambria Bold"/>
                  <a:sym typeface="Cambria Bold"/>
                </a:rPr>
                <a:t>Proposed System</a:t>
              </a:r>
            </a:p>
          </p:txBody>
        </p:sp>
      </p:grpSp>
      <p:grpSp>
        <p:nvGrpSpPr>
          <p:cNvPr name="Group 8" id="8"/>
          <p:cNvGrpSpPr/>
          <p:nvPr/>
        </p:nvGrpSpPr>
        <p:grpSpPr>
          <a:xfrm rot="0">
            <a:off x="960120" y="2057400"/>
            <a:ext cx="15773400" cy="685800"/>
            <a:chOff x="0" y="0"/>
            <a:chExt cx="21031200" cy="914400"/>
          </a:xfrm>
        </p:grpSpPr>
        <p:sp>
          <p:nvSpPr>
            <p:cNvPr name="Freeform 9" id="9"/>
            <p:cNvSpPr/>
            <p:nvPr/>
          </p:nvSpPr>
          <p:spPr>
            <a:xfrm flipH="false" flipV="false" rot="0">
              <a:off x="0" y="0"/>
              <a:ext cx="21031200" cy="914400"/>
            </a:xfrm>
            <a:custGeom>
              <a:avLst/>
              <a:gdLst/>
              <a:ahLst/>
              <a:cxnLst/>
              <a:rect r="r" b="b" t="t" l="l"/>
              <a:pathLst>
                <a:path h="914400" w="21031200">
                  <a:moveTo>
                    <a:pt x="0" y="0"/>
                  </a:moveTo>
                  <a:lnTo>
                    <a:pt x="21031200" y="0"/>
                  </a:lnTo>
                  <a:lnTo>
                    <a:pt x="21031200" y="914400"/>
                  </a:lnTo>
                  <a:lnTo>
                    <a:pt x="0" y="914400"/>
                  </a:lnTo>
                  <a:close/>
                </a:path>
              </a:pathLst>
            </a:custGeom>
            <a:blipFill>
              <a:blip r:embed="rId3">
                <a:alphaModFix amt="0"/>
              </a:blip>
              <a:stretch>
                <a:fillRect l="0" t="-398155" r="0" b="-398155"/>
              </a:stretch>
            </a:blipFill>
          </p:spPr>
        </p:sp>
        <p:sp>
          <p:nvSpPr>
            <p:cNvPr name="TextBox 10" id="10"/>
            <p:cNvSpPr txBox="true"/>
            <p:nvPr/>
          </p:nvSpPr>
          <p:spPr>
            <a:xfrm>
              <a:off x="0" y="-38100"/>
              <a:ext cx="21031200" cy="952500"/>
            </a:xfrm>
            <a:prstGeom prst="rect">
              <a:avLst/>
            </a:prstGeom>
          </p:spPr>
          <p:txBody>
            <a:bodyPr anchor="ctr" rtlCol="false" tIns="0" lIns="0" bIns="0" rIns="0"/>
            <a:lstStyle/>
            <a:p>
              <a:pPr algn="l">
                <a:lnSpc>
                  <a:spcPts val="2430"/>
                </a:lnSpc>
              </a:pPr>
              <a:r>
                <a:rPr lang="en-US" sz="2025" i="true">
                  <a:solidFill>
                    <a:srgbClr val="ECE2D0"/>
                  </a:solidFill>
                  <a:latin typeface="Calibri (MS) Italics"/>
                  <a:ea typeface="Calibri (MS) Italics"/>
                  <a:cs typeface="Calibri (MS) Italics"/>
                  <a:sym typeface="Calibri (MS) Italics"/>
                </a:rPr>
                <a:t>HERBALANCE AI integrates multiple healthcare services into one AI-powered platform.</a:t>
              </a:r>
            </a:p>
          </p:txBody>
        </p:sp>
      </p:grpSp>
      <p:grpSp>
        <p:nvGrpSpPr>
          <p:cNvPr name="Group 11" id="11"/>
          <p:cNvGrpSpPr/>
          <p:nvPr/>
        </p:nvGrpSpPr>
        <p:grpSpPr>
          <a:xfrm rot="0">
            <a:off x="960120" y="3086100"/>
            <a:ext cx="5006340" cy="2125980"/>
            <a:chOff x="0" y="0"/>
            <a:chExt cx="6675120" cy="2834640"/>
          </a:xfrm>
        </p:grpSpPr>
        <p:sp>
          <p:nvSpPr>
            <p:cNvPr name="Freeform 12" id="12"/>
            <p:cNvSpPr/>
            <p:nvPr/>
          </p:nvSpPr>
          <p:spPr>
            <a:xfrm flipH="false" flipV="false" rot="0">
              <a:off x="0" y="0"/>
              <a:ext cx="6675120" cy="2834640"/>
            </a:xfrm>
            <a:custGeom>
              <a:avLst/>
              <a:gdLst/>
              <a:ahLst/>
              <a:cxnLst/>
              <a:rect r="r" b="b" t="t" l="l"/>
              <a:pathLst>
                <a:path h="2834640" w="6675120">
                  <a:moveTo>
                    <a:pt x="0" y="146304"/>
                  </a:moveTo>
                  <a:cubicBezTo>
                    <a:pt x="0" y="65532"/>
                    <a:pt x="65532" y="0"/>
                    <a:pt x="146304" y="0"/>
                  </a:cubicBezTo>
                  <a:lnTo>
                    <a:pt x="6528816" y="0"/>
                  </a:lnTo>
                  <a:cubicBezTo>
                    <a:pt x="6609588" y="0"/>
                    <a:pt x="6675120" y="65532"/>
                    <a:pt x="6675120" y="146304"/>
                  </a:cubicBezTo>
                  <a:lnTo>
                    <a:pt x="6675120" y="2688336"/>
                  </a:lnTo>
                  <a:cubicBezTo>
                    <a:pt x="6675120" y="2769108"/>
                    <a:pt x="6609588" y="2834640"/>
                    <a:pt x="6528816" y="2834640"/>
                  </a:cubicBezTo>
                  <a:lnTo>
                    <a:pt x="146304" y="2834640"/>
                  </a:lnTo>
                  <a:cubicBezTo>
                    <a:pt x="65532" y="2834640"/>
                    <a:pt x="0" y="2769108"/>
                    <a:pt x="0" y="2688336"/>
                  </a:cubicBezTo>
                  <a:close/>
                </a:path>
              </a:pathLst>
            </a:custGeom>
            <a:solidFill>
              <a:srgbClr val="6D2E46"/>
            </a:solidFill>
          </p:spPr>
        </p:sp>
      </p:grpSp>
      <p:grpSp>
        <p:nvGrpSpPr>
          <p:cNvPr name="Group 13" id="13"/>
          <p:cNvGrpSpPr/>
          <p:nvPr/>
        </p:nvGrpSpPr>
        <p:grpSpPr>
          <a:xfrm rot="0">
            <a:off x="1261872" y="3566160"/>
            <a:ext cx="1165860" cy="1165860"/>
            <a:chOff x="0" y="0"/>
            <a:chExt cx="1554480" cy="1554480"/>
          </a:xfrm>
        </p:grpSpPr>
        <p:sp>
          <p:nvSpPr>
            <p:cNvPr name="Freeform 14" id="14"/>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A26769"/>
            </a:solidFill>
          </p:spPr>
        </p:sp>
      </p:grpSp>
      <p:grpSp>
        <p:nvGrpSpPr>
          <p:cNvPr name="Group 15" id="15"/>
          <p:cNvGrpSpPr/>
          <p:nvPr/>
        </p:nvGrpSpPr>
        <p:grpSpPr>
          <a:xfrm rot="0">
            <a:off x="1541678" y="3845966"/>
            <a:ext cx="606247" cy="606247"/>
            <a:chOff x="0" y="0"/>
            <a:chExt cx="808330" cy="808330"/>
          </a:xfrm>
        </p:grpSpPr>
        <p:sp>
          <p:nvSpPr>
            <p:cNvPr name="Freeform 16" id="16" descr="/home/claude/herbalance/icon_calendar.png"/>
            <p:cNvSpPr/>
            <p:nvPr/>
          </p:nvSpPr>
          <p:spPr>
            <a:xfrm flipH="false" flipV="false" rot="0">
              <a:off x="0" y="0"/>
              <a:ext cx="808355" cy="808355"/>
            </a:xfrm>
            <a:custGeom>
              <a:avLst/>
              <a:gdLst/>
              <a:ahLst/>
              <a:cxnLst/>
              <a:rect r="r" b="b" t="t" l="l"/>
              <a:pathLst>
                <a:path h="808355" w="808355">
                  <a:moveTo>
                    <a:pt x="0" y="0"/>
                  </a:moveTo>
                  <a:lnTo>
                    <a:pt x="808355" y="0"/>
                  </a:lnTo>
                  <a:lnTo>
                    <a:pt x="808355" y="808355"/>
                  </a:lnTo>
                  <a:lnTo>
                    <a:pt x="0" y="808355"/>
                  </a:lnTo>
                  <a:lnTo>
                    <a:pt x="0" y="0"/>
                  </a:lnTo>
                  <a:close/>
                </a:path>
              </a:pathLst>
            </a:custGeom>
            <a:blipFill>
              <a:blip r:embed="rId4"/>
              <a:stretch>
                <a:fillRect l="0" t="0" r="3" b="3"/>
              </a:stretch>
            </a:blipFill>
          </p:spPr>
        </p:sp>
      </p:grpSp>
      <p:grpSp>
        <p:nvGrpSpPr>
          <p:cNvPr name="Group 17" id="17"/>
          <p:cNvGrpSpPr/>
          <p:nvPr/>
        </p:nvGrpSpPr>
        <p:grpSpPr>
          <a:xfrm rot="0">
            <a:off x="2606040" y="3250692"/>
            <a:ext cx="3086100" cy="1796796"/>
            <a:chOff x="0" y="0"/>
            <a:chExt cx="4114800" cy="2395728"/>
          </a:xfrm>
        </p:grpSpPr>
        <p:sp>
          <p:nvSpPr>
            <p:cNvPr name="Freeform 18" id="18"/>
            <p:cNvSpPr/>
            <p:nvPr/>
          </p:nvSpPr>
          <p:spPr>
            <a:xfrm flipH="false" flipV="false" rot="0">
              <a:off x="0" y="0"/>
              <a:ext cx="4114800" cy="2395728"/>
            </a:xfrm>
            <a:custGeom>
              <a:avLst/>
              <a:gdLst/>
              <a:ahLst/>
              <a:cxnLst/>
              <a:rect r="r" b="b" t="t" l="l"/>
              <a:pathLst>
                <a:path h="2395728" w="4114800">
                  <a:moveTo>
                    <a:pt x="0" y="0"/>
                  </a:moveTo>
                  <a:lnTo>
                    <a:pt x="4114800" y="0"/>
                  </a:lnTo>
                  <a:lnTo>
                    <a:pt x="4114800" y="2395728"/>
                  </a:lnTo>
                  <a:lnTo>
                    <a:pt x="0" y="2395728"/>
                  </a:lnTo>
                  <a:close/>
                </a:path>
              </a:pathLst>
            </a:custGeom>
            <a:blipFill>
              <a:blip r:embed="rId3">
                <a:alphaModFix amt="0"/>
              </a:blip>
              <a:stretch>
                <a:fillRect l="-24701" t="0" r="-24701" b="0"/>
              </a:stretch>
            </a:blipFill>
          </p:spPr>
        </p:sp>
        <p:sp>
          <p:nvSpPr>
            <p:cNvPr name="TextBox 19" id="19"/>
            <p:cNvSpPr txBox="true"/>
            <p:nvPr/>
          </p:nvSpPr>
          <p:spPr>
            <a:xfrm>
              <a:off x="0" y="-57150"/>
              <a:ext cx="4114800" cy="2452878"/>
            </a:xfrm>
            <a:prstGeom prst="rect">
              <a:avLst/>
            </a:prstGeom>
          </p:spPr>
          <p:txBody>
            <a:bodyPr anchor="ctr" rtlCol="false" tIns="0" lIns="0" bIns="0" rIns="0"/>
            <a:lstStyle/>
            <a:p>
              <a:pPr algn="l">
                <a:lnSpc>
                  <a:spcPts val="2376"/>
                </a:lnSpc>
              </a:pPr>
              <a:r>
                <a:rPr lang="en-US" sz="1800" b="true">
                  <a:solidFill>
                    <a:srgbClr val="FFFFFF"/>
                  </a:solidFill>
                  <a:latin typeface="Calibri (MS) Bold"/>
                  <a:ea typeface="Calibri (MS) Bold"/>
                  <a:cs typeface="Calibri (MS) Bold"/>
                  <a:sym typeface="Calibri (MS) Bold"/>
                </a:rPr>
                <a:t>AI-based menstrual cycle prediction</a:t>
              </a:r>
            </a:p>
          </p:txBody>
        </p:sp>
      </p:grpSp>
      <p:grpSp>
        <p:nvGrpSpPr>
          <p:cNvPr name="Group 20" id="20"/>
          <p:cNvGrpSpPr/>
          <p:nvPr/>
        </p:nvGrpSpPr>
        <p:grpSpPr>
          <a:xfrm rot="0">
            <a:off x="6309360" y="3086100"/>
            <a:ext cx="5006340" cy="2125980"/>
            <a:chOff x="0" y="0"/>
            <a:chExt cx="6675120" cy="2834640"/>
          </a:xfrm>
        </p:grpSpPr>
        <p:sp>
          <p:nvSpPr>
            <p:cNvPr name="Freeform 21" id="21"/>
            <p:cNvSpPr/>
            <p:nvPr/>
          </p:nvSpPr>
          <p:spPr>
            <a:xfrm flipH="false" flipV="false" rot="0">
              <a:off x="0" y="0"/>
              <a:ext cx="6675120" cy="2834640"/>
            </a:xfrm>
            <a:custGeom>
              <a:avLst/>
              <a:gdLst/>
              <a:ahLst/>
              <a:cxnLst/>
              <a:rect r="r" b="b" t="t" l="l"/>
              <a:pathLst>
                <a:path h="2834640" w="6675120">
                  <a:moveTo>
                    <a:pt x="0" y="146304"/>
                  </a:moveTo>
                  <a:cubicBezTo>
                    <a:pt x="0" y="65532"/>
                    <a:pt x="65532" y="0"/>
                    <a:pt x="146304" y="0"/>
                  </a:cubicBezTo>
                  <a:lnTo>
                    <a:pt x="6528816" y="0"/>
                  </a:lnTo>
                  <a:cubicBezTo>
                    <a:pt x="6609588" y="0"/>
                    <a:pt x="6675120" y="65532"/>
                    <a:pt x="6675120" y="146304"/>
                  </a:cubicBezTo>
                  <a:lnTo>
                    <a:pt x="6675120" y="2688336"/>
                  </a:lnTo>
                  <a:cubicBezTo>
                    <a:pt x="6675120" y="2769108"/>
                    <a:pt x="6609588" y="2834640"/>
                    <a:pt x="6528816" y="2834640"/>
                  </a:cubicBezTo>
                  <a:lnTo>
                    <a:pt x="146304" y="2834640"/>
                  </a:lnTo>
                  <a:cubicBezTo>
                    <a:pt x="65532" y="2834640"/>
                    <a:pt x="0" y="2769108"/>
                    <a:pt x="0" y="2688336"/>
                  </a:cubicBezTo>
                  <a:close/>
                </a:path>
              </a:pathLst>
            </a:custGeom>
            <a:solidFill>
              <a:srgbClr val="6D2E46"/>
            </a:solidFill>
          </p:spPr>
        </p:sp>
      </p:grpSp>
      <p:grpSp>
        <p:nvGrpSpPr>
          <p:cNvPr name="Group 22" id="22"/>
          <p:cNvGrpSpPr/>
          <p:nvPr/>
        </p:nvGrpSpPr>
        <p:grpSpPr>
          <a:xfrm rot="0">
            <a:off x="6611112" y="3566160"/>
            <a:ext cx="1165860" cy="1165860"/>
            <a:chOff x="0" y="0"/>
            <a:chExt cx="1554480" cy="1554480"/>
          </a:xfrm>
        </p:grpSpPr>
        <p:sp>
          <p:nvSpPr>
            <p:cNvPr name="Freeform 23" id="23"/>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A26769"/>
            </a:solidFill>
          </p:spPr>
        </p:sp>
      </p:grpSp>
      <p:grpSp>
        <p:nvGrpSpPr>
          <p:cNvPr name="Group 24" id="24"/>
          <p:cNvGrpSpPr/>
          <p:nvPr/>
        </p:nvGrpSpPr>
        <p:grpSpPr>
          <a:xfrm rot="0">
            <a:off x="6890918" y="3845966"/>
            <a:ext cx="606247" cy="606247"/>
            <a:chOff x="0" y="0"/>
            <a:chExt cx="808330" cy="808330"/>
          </a:xfrm>
        </p:grpSpPr>
        <p:sp>
          <p:nvSpPr>
            <p:cNvPr name="Freeform 25" id="25" descr="/home/claude/herbalance/icon_smile.png"/>
            <p:cNvSpPr/>
            <p:nvPr/>
          </p:nvSpPr>
          <p:spPr>
            <a:xfrm flipH="false" flipV="false" rot="0">
              <a:off x="0" y="0"/>
              <a:ext cx="808355" cy="808355"/>
            </a:xfrm>
            <a:custGeom>
              <a:avLst/>
              <a:gdLst/>
              <a:ahLst/>
              <a:cxnLst/>
              <a:rect r="r" b="b" t="t" l="l"/>
              <a:pathLst>
                <a:path h="808355" w="808355">
                  <a:moveTo>
                    <a:pt x="0" y="0"/>
                  </a:moveTo>
                  <a:lnTo>
                    <a:pt x="808355" y="0"/>
                  </a:lnTo>
                  <a:lnTo>
                    <a:pt x="808355" y="808355"/>
                  </a:lnTo>
                  <a:lnTo>
                    <a:pt x="0" y="808355"/>
                  </a:lnTo>
                  <a:lnTo>
                    <a:pt x="0" y="0"/>
                  </a:lnTo>
                  <a:close/>
                </a:path>
              </a:pathLst>
            </a:custGeom>
            <a:blipFill>
              <a:blip r:embed="rId5"/>
              <a:stretch>
                <a:fillRect l="0" t="0" r="3" b="3"/>
              </a:stretch>
            </a:blipFill>
          </p:spPr>
        </p:sp>
      </p:grpSp>
      <p:grpSp>
        <p:nvGrpSpPr>
          <p:cNvPr name="Group 26" id="26"/>
          <p:cNvGrpSpPr/>
          <p:nvPr/>
        </p:nvGrpSpPr>
        <p:grpSpPr>
          <a:xfrm rot="0">
            <a:off x="7955280" y="3250692"/>
            <a:ext cx="3086100" cy="1796796"/>
            <a:chOff x="0" y="0"/>
            <a:chExt cx="4114800" cy="2395728"/>
          </a:xfrm>
        </p:grpSpPr>
        <p:sp>
          <p:nvSpPr>
            <p:cNvPr name="Freeform 27" id="27"/>
            <p:cNvSpPr/>
            <p:nvPr/>
          </p:nvSpPr>
          <p:spPr>
            <a:xfrm flipH="false" flipV="false" rot="0">
              <a:off x="0" y="0"/>
              <a:ext cx="4114800" cy="2395728"/>
            </a:xfrm>
            <a:custGeom>
              <a:avLst/>
              <a:gdLst/>
              <a:ahLst/>
              <a:cxnLst/>
              <a:rect r="r" b="b" t="t" l="l"/>
              <a:pathLst>
                <a:path h="2395728" w="4114800">
                  <a:moveTo>
                    <a:pt x="0" y="0"/>
                  </a:moveTo>
                  <a:lnTo>
                    <a:pt x="4114800" y="0"/>
                  </a:lnTo>
                  <a:lnTo>
                    <a:pt x="4114800" y="2395728"/>
                  </a:lnTo>
                  <a:lnTo>
                    <a:pt x="0" y="2395728"/>
                  </a:lnTo>
                  <a:close/>
                </a:path>
              </a:pathLst>
            </a:custGeom>
            <a:blipFill>
              <a:blip r:embed="rId3">
                <a:alphaModFix amt="0"/>
              </a:blip>
              <a:stretch>
                <a:fillRect l="-24701" t="0" r="-24701" b="0"/>
              </a:stretch>
            </a:blipFill>
          </p:spPr>
        </p:sp>
        <p:sp>
          <p:nvSpPr>
            <p:cNvPr name="TextBox 28" id="28"/>
            <p:cNvSpPr txBox="true"/>
            <p:nvPr/>
          </p:nvSpPr>
          <p:spPr>
            <a:xfrm>
              <a:off x="0" y="-57150"/>
              <a:ext cx="4114800" cy="2452878"/>
            </a:xfrm>
            <a:prstGeom prst="rect">
              <a:avLst/>
            </a:prstGeom>
          </p:spPr>
          <p:txBody>
            <a:bodyPr anchor="ctr" rtlCol="false" tIns="0" lIns="0" bIns="0" rIns="0"/>
            <a:lstStyle/>
            <a:p>
              <a:pPr algn="l">
                <a:lnSpc>
                  <a:spcPts val="2376"/>
                </a:lnSpc>
              </a:pPr>
              <a:r>
                <a:rPr lang="en-US" sz="1800" b="true">
                  <a:solidFill>
                    <a:srgbClr val="FFFFFF"/>
                  </a:solidFill>
                  <a:latin typeface="Calibri (MS) Bold"/>
                  <a:ea typeface="Calibri (MS) Bold"/>
                  <a:cs typeface="Calibri (MS) Bold"/>
                  <a:sym typeface="Calibri (MS) Bold"/>
                </a:rPr>
                <a:t>Skin type and skin tone analysis</a:t>
              </a:r>
            </a:p>
          </p:txBody>
        </p:sp>
      </p:grpSp>
      <p:grpSp>
        <p:nvGrpSpPr>
          <p:cNvPr name="Group 29" id="29"/>
          <p:cNvGrpSpPr/>
          <p:nvPr/>
        </p:nvGrpSpPr>
        <p:grpSpPr>
          <a:xfrm rot="0">
            <a:off x="11658600" y="3086100"/>
            <a:ext cx="5006340" cy="2125980"/>
            <a:chOff x="0" y="0"/>
            <a:chExt cx="6675120" cy="2834640"/>
          </a:xfrm>
        </p:grpSpPr>
        <p:sp>
          <p:nvSpPr>
            <p:cNvPr name="Freeform 30" id="30"/>
            <p:cNvSpPr/>
            <p:nvPr/>
          </p:nvSpPr>
          <p:spPr>
            <a:xfrm flipH="false" flipV="false" rot="0">
              <a:off x="0" y="0"/>
              <a:ext cx="6675120" cy="2834640"/>
            </a:xfrm>
            <a:custGeom>
              <a:avLst/>
              <a:gdLst/>
              <a:ahLst/>
              <a:cxnLst/>
              <a:rect r="r" b="b" t="t" l="l"/>
              <a:pathLst>
                <a:path h="2834640" w="6675120">
                  <a:moveTo>
                    <a:pt x="0" y="146304"/>
                  </a:moveTo>
                  <a:cubicBezTo>
                    <a:pt x="0" y="65532"/>
                    <a:pt x="65532" y="0"/>
                    <a:pt x="146304" y="0"/>
                  </a:cubicBezTo>
                  <a:lnTo>
                    <a:pt x="6528816" y="0"/>
                  </a:lnTo>
                  <a:cubicBezTo>
                    <a:pt x="6609588" y="0"/>
                    <a:pt x="6675120" y="65532"/>
                    <a:pt x="6675120" y="146304"/>
                  </a:cubicBezTo>
                  <a:lnTo>
                    <a:pt x="6675120" y="2688336"/>
                  </a:lnTo>
                  <a:cubicBezTo>
                    <a:pt x="6675120" y="2769108"/>
                    <a:pt x="6609588" y="2834640"/>
                    <a:pt x="6528816" y="2834640"/>
                  </a:cubicBezTo>
                  <a:lnTo>
                    <a:pt x="146304" y="2834640"/>
                  </a:lnTo>
                  <a:cubicBezTo>
                    <a:pt x="65532" y="2834640"/>
                    <a:pt x="0" y="2769108"/>
                    <a:pt x="0" y="2688336"/>
                  </a:cubicBezTo>
                  <a:close/>
                </a:path>
              </a:pathLst>
            </a:custGeom>
            <a:solidFill>
              <a:srgbClr val="6D2E46"/>
            </a:solidFill>
          </p:spPr>
        </p:sp>
      </p:grpSp>
      <p:grpSp>
        <p:nvGrpSpPr>
          <p:cNvPr name="Group 31" id="31"/>
          <p:cNvGrpSpPr/>
          <p:nvPr/>
        </p:nvGrpSpPr>
        <p:grpSpPr>
          <a:xfrm rot="0">
            <a:off x="11960352" y="3566160"/>
            <a:ext cx="1165860" cy="1165860"/>
            <a:chOff x="0" y="0"/>
            <a:chExt cx="1554480" cy="1554480"/>
          </a:xfrm>
        </p:grpSpPr>
        <p:sp>
          <p:nvSpPr>
            <p:cNvPr name="Freeform 32" id="32"/>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A26769"/>
            </a:solidFill>
          </p:spPr>
        </p:sp>
      </p:grpSp>
      <p:grpSp>
        <p:nvGrpSpPr>
          <p:cNvPr name="Group 33" id="33"/>
          <p:cNvGrpSpPr/>
          <p:nvPr/>
        </p:nvGrpSpPr>
        <p:grpSpPr>
          <a:xfrm rot="0">
            <a:off x="12240158" y="3845966"/>
            <a:ext cx="606247" cy="606247"/>
            <a:chOff x="0" y="0"/>
            <a:chExt cx="808330" cy="808330"/>
          </a:xfrm>
        </p:grpSpPr>
        <p:sp>
          <p:nvSpPr>
            <p:cNvPr name="Freeform 34" id="34" descr="/home/claude/herbalance/icon_spray.png"/>
            <p:cNvSpPr/>
            <p:nvPr/>
          </p:nvSpPr>
          <p:spPr>
            <a:xfrm flipH="false" flipV="false" rot="0">
              <a:off x="0" y="0"/>
              <a:ext cx="808355" cy="808355"/>
            </a:xfrm>
            <a:custGeom>
              <a:avLst/>
              <a:gdLst/>
              <a:ahLst/>
              <a:cxnLst/>
              <a:rect r="r" b="b" t="t" l="l"/>
              <a:pathLst>
                <a:path h="808355" w="808355">
                  <a:moveTo>
                    <a:pt x="0" y="0"/>
                  </a:moveTo>
                  <a:lnTo>
                    <a:pt x="808355" y="0"/>
                  </a:lnTo>
                  <a:lnTo>
                    <a:pt x="808355" y="808355"/>
                  </a:lnTo>
                  <a:lnTo>
                    <a:pt x="0" y="808355"/>
                  </a:lnTo>
                  <a:lnTo>
                    <a:pt x="0" y="0"/>
                  </a:lnTo>
                  <a:close/>
                </a:path>
              </a:pathLst>
            </a:custGeom>
            <a:blipFill>
              <a:blip r:embed="rId6"/>
              <a:stretch>
                <a:fillRect l="0" t="0" r="3" b="3"/>
              </a:stretch>
            </a:blipFill>
          </p:spPr>
        </p:sp>
      </p:grpSp>
      <p:grpSp>
        <p:nvGrpSpPr>
          <p:cNvPr name="Group 35" id="35"/>
          <p:cNvGrpSpPr/>
          <p:nvPr/>
        </p:nvGrpSpPr>
        <p:grpSpPr>
          <a:xfrm rot="0">
            <a:off x="13304520" y="3250692"/>
            <a:ext cx="3086100" cy="1796796"/>
            <a:chOff x="0" y="0"/>
            <a:chExt cx="4114800" cy="2395728"/>
          </a:xfrm>
        </p:grpSpPr>
        <p:sp>
          <p:nvSpPr>
            <p:cNvPr name="Freeform 36" id="36"/>
            <p:cNvSpPr/>
            <p:nvPr/>
          </p:nvSpPr>
          <p:spPr>
            <a:xfrm flipH="false" flipV="false" rot="0">
              <a:off x="0" y="0"/>
              <a:ext cx="4114800" cy="2395728"/>
            </a:xfrm>
            <a:custGeom>
              <a:avLst/>
              <a:gdLst/>
              <a:ahLst/>
              <a:cxnLst/>
              <a:rect r="r" b="b" t="t" l="l"/>
              <a:pathLst>
                <a:path h="2395728" w="4114800">
                  <a:moveTo>
                    <a:pt x="0" y="0"/>
                  </a:moveTo>
                  <a:lnTo>
                    <a:pt x="4114800" y="0"/>
                  </a:lnTo>
                  <a:lnTo>
                    <a:pt x="4114800" y="2395728"/>
                  </a:lnTo>
                  <a:lnTo>
                    <a:pt x="0" y="2395728"/>
                  </a:lnTo>
                  <a:close/>
                </a:path>
              </a:pathLst>
            </a:custGeom>
            <a:blipFill>
              <a:blip r:embed="rId3">
                <a:alphaModFix amt="0"/>
              </a:blip>
              <a:stretch>
                <a:fillRect l="-24701" t="0" r="-24701" b="0"/>
              </a:stretch>
            </a:blipFill>
          </p:spPr>
        </p:sp>
        <p:sp>
          <p:nvSpPr>
            <p:cNvPr name="TextBox 37" id="37"/>
            <p:cNvSpPr txBox="true"/>
            <p:nvPr/>
          </p:nvSpPr>
          <p:spPr>
            <a:xfrm>
              <a:off x="0" y="-57150"/>
              <a:ext cx="4114800" cy="2452878"/>
            </a:xfrm>
            <a:prstGeom prst="rect">
              <a:avLst/>
            </a:prstGeom>
          </p:spPr>
          <p:txBody>
            <a:bodyPr anchor="ctr" rtlCol="false" tIns="0" lIns="0" bIns="0" rIns="0"/>
            <a:lstStyle/>
            <a:p>
              <a:pPr algn="l">
                <a:lnSpc>
                  <a:spcPts val="2376"/>
                </a:lnSpc>
              </a:pPr>
              <a:r>
                <a:rPr lang="en-US" sz="1800" b="true">
                  <a:solidFill>
                    <a:srgbClr val="FFFFFF"/>
                  </a:solidFill>
                  <a:latin typeface="Calibri (MS) Bold"/>
                  <a:ea typeface="Calibri (MS) Bold"/>
                  <a:cs typeface="Calibri (MS) Bold"/>
                  <a:sym typeface="Calibri (MS) Bold"/>
                </a:rPr>
                <a:t>Cosmetic product recommendations</a:t>
              </a:r>
            </a:p>
          </p:txBody>
        </p:sp>
      </p:grpSp>
      <p:grpSp>
        <p:nvGrpSpPr>
          <p:cNvPr name="Group 38" id="38"/>
          <p:cNvGrpSpPr/>
          <p:nvPr/>
        </p:nvGrpSpPr>
        <p:grpSpPr>
          <a:xfrm rot="0">
            <a:off x="960120" y="5554980"/>
            <a:ext cx="5006340" cy="2125980"/>
            <a:chOff x="0" y="0"/>
            <a:chExt cx="6675120" cy="2834640"/>
          </a:xfrm>
        </p:grpSpPr>
        <p:sp>
          <p:nvSpPr>
            <p:cNvPr name="Freeform 39" id="39"/>
            <p:cNvSpPr/>
            <p:nvPr/>
          </p:nvSpPr>
          <p:spPr>
            <a:xfrm flipH="false" flipV="false" rot="0">
              <a:off x="0" y="0"/>
              <a:ext cx="6675120" cy="2834640"/>
            </a:xfrm>
            <a:custGeom>
              <a:avLst/>
              <a:gdLst/>
              <a:ahLst/>
              <a:cxnLst/>
              <a:rect r="r" b="b" t="t" l="l"/>
              <a:pathLst>
                <a:path h="2834640" w="6675120">
                  <a:moveTo>
                    <a:pt x="0" y="146304"/>
                  </a:moveTo>
                  <a:cubicBezTo>
                    <a:pt x="0" y="65532"/>
                    <a:pt x="65532" y="0"/>
                    <a:pt x="146304" y="0"/>
                  </a:cubicBezTo>
                  <a:lnTo>
                    <a:pt x="6528816" y="0"/>
                  </a:lnTo>
                  <a:cubicBezTo>
                    <a:pt x="6609588" y="0"/>
                    <a:pt x="6675120" y="65532"/>
                    <a:pt x="6675120" y="146304"/>
                  </a:cubicBezTo>
                  <a:lnTo>
                    <a:pt x="6675120" y="2688336"/>
                  </a:lnTo>
                  <a:cubicBezTo>
                    <a:pt x="6675120" y="2769108"/>
                    <a:pt x="6609588" y="2834640"/>
                    <a:pt x="6528816" y="2834640"/>
                  </a:cubicBezTo>
                  <a:lnTo>
                    <a:pt x="146304" y="2834640"/>
                  </a:lnTo>
                  <a:cubicBezTo>
                    <a:pt x="65532" y="2834640"/>
                    <a:pt x="0" y="2769108"/>
                    <a:pt x="0" y="2688336"/>
                  </a:cubicBezTo>
                  <a:close/>
                </a:path>
              </a:pathLst>
            </a:custGeom>
            <a:solidFill>
              <a:srgbClr val="6D2E46"/>
            </a:solidFill>
          </p:spPr>
        </p:sp>
      </p:grpSp>
      <p:grpSp>
        <p:nvGrpSpPr>
          <p:cNvPr name="Group 40" id="40"/>
          <p:cNvGrpSpPr/>
          <p:nvPr/>
        </p:nvGrpSpPr>
        <p:grpSpPr>
          <a:xfrm rot="0">
            <a:off x="1261872" y="6035040"/>
            <a:ext cx="1165860" cy="1165860"/>
            <a:chOff x="0" y="0"/>
            <a:chExt cx="1554480" cy="1554480"/>
          </a:xfrm>
        </p:grpSpPr>
        <p:sp>
          <p:nvSpPr>
            <p:cNvPr name="Freeform 41" id="41"/>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A26769"/>
            </a:solidFill>
          </p:spPr>
        </p:sp>
      </p:grpSp>
      <p:grpSp>
        <p:nvGrpSpPr>
          <p:cNvPr name="Group 42" id="42"/>
          <p:cNvGrpSpPr/>
          <p:nvPr/>
        </p:nvGrpSpPr>
        <p:grpSpPr>
          <a:xfrm rot="0">
            <a:off x="1541678" y="6314846"/>
            <a:ext cx="606247" cy="606247"/>
            <a:chOff x="0" y="0"/>
            <a:chExt cx="808330" cy="808330"/>
          </a:xfrm>
        </p:grpSpPr>
        <p:sp>
          <p:nvSpPr>
            <p:cNvPr name="Freeform 43" id="43" descr="/home/claude/herbalance/icon_pills.png"/>
            <p:cNvSpPr/>
            <p:nvPr/>
          </p:nvSpPr>
          <p:spPr>
            <a:xfrm flipH="false" flipV="false" rot="0">
              <a:off x="0" y="0"/>
              <a:ext cx="808355" cy="808355"/>
            </a:xfrm>
            <a:custGeom>
              <a:avLst/>
              <a:gdLst/>
              <a:ahLst/>
              <a:cxnLst/>
              <a:rect r="r" b="b" t="t" l="l"/>
              <a:pathLst>
                <a:path h="808355" w="808355">
                  <a:moveTo>
                    <a:pt x="0" y="0"/>
                  </a:moveTo>
                  <a:lnTo>
                    <a:pt x="808355" y="0"/>
                  </a:lnTo>
                  <a:lnTo>
                    <a:pt x="808355" y="808355"/>
                  </a:lnTo>
                  <a:lnTo>
                    <a:pt x="0" y="808355"/>
                  </a:lnTo>
                  <a:lnTo>
                    <a:pt x="0" y="0"/>
                  </a:lnTo>
                  <a:close/>
                </a:path>
              </a:pathLst>
            </a:custGeom>
            <a:blipFill>
              <a:blip r:embed="rId7"/>
              <a:stretch>
                <a:fillRect l="0" t="0" r="3" b="3"/>
              </a:stretch>
            </a:blipFill>
          </p:spPr>
        </p:sp>
      </p:grpSp>
      <p:grpSp>
        <p:nvGrpSpPr>
          <p:cNvPr name="Group 44" id="44"/>
          <p:cNvGrpSpPr/>
          <p:nvPr/>
        </p:nvGrpSpPr>
        <p:grpSpPr>
          <a:xfrm rot="0">
            <a:off x="2606040" y="5719572"/>
            <a:ext cx="3086100" cy="1796796"/>
            <a:chOff x="0" y="0"/>
            <a:chExt cx="4114800" cy="2395728"/>
          </a:xfrm>
        </p:grpSpPr>
        <p:sp>
          <p:nvSpPr>
            <p:cNvPr name="Freeform 45" id="45"/>
            <p:cNvSpPr/>
            <p:nvPr/>
          </p:nvSpPr>
          <p:spPr>
            <a:xfrm flipH="false" flipV="false" rot="0">
              <a:off x="0" y="0"/>
              <a:ext cx="4114800" cy="2395728"/>
            </a:xfrm>
            <a:custGeom>
              <a:avLst/>
              <a:gdLst/>
              <a:ahLst/>
              <a:cxnLst/>
              <a:rect r="r" b="b" t="t" l="l"/>
              <a:pathLst>
                <a:path h="2395728" w="4114800">
                  <a:moveTo>
                    <a:pt x="0" y="0"/>
                  </a:moveTo>
                  <a:lnTo>
                    <a:pt x="4114800" y="0"/>
                  </a:lnTo>
                  <a:lnTo>
                    <a:pt x="4114800" y="2395728"/>
                  </a:lnTo>
                  <a:lnTo>
                    <a:pt x="0" y="2395728"/>
                  </a:lnTo>
                  <a:close/>
                </a:path>
              </a:pathLst>
            </a:custGeom>
            <a:blipFill>
              <a:blip r:embed="rId3">
                <a:alphaModFix amt="0"/>
              </a:blip>
              <a:stretch>
                <a:fillRect l="-24701" t="0" r="-24701" b="0"/>
              </a:stretch>
            </a:blipFill>
          </p:spPr>
        </p:sp>
        <p:sp>
          <p:nvSpPr>
            <p:cNvPr name="TextBox 46" id="46"/>
            <p:cNvSpPr txBox="true"/>
            <p:nvPr/>
          </p:nvSpPr>
          <p:spPr>
            <a:xfrm>
              <a:off x="0" y="-57150"/>
              <a:ext cx="4114800" cy="2452878"/>
            </a:xfrm>
            <a:prstGeom prst="rect">
              <a:avLst/>
            </a:prstGeom>
          </p:spPr>
          <p:txBody>
            <a:bodyPr anchor="ctr" rtlCol="false" tIns="0" lIns="0" bIns="0" rIns="0"/>
            <a:lstStyle/>
            <a:p>
              <a:pPr algn="l">
                <a:lnSpc>
                  <a:spcPts val="2376"/>
                </a:lnSpc>
              </a:pPr>
              <a:r>
                <a:rPr lang="en-US" sz="1800" b="true">
                  <a:solidFill>
                    <a:srgbClr val="FFFFFF"/>
                  </a:solidFill>
                  <a:latin typeface="Calibri (MS) Bold"/>
                  <a:ea typeface="Calibri (MS) Bold"/>
                  <a:cs typeface="Calibri (MS) Bold"/>
                  <a:sym typeface="Calibri (MS) Bold"/>
                </a:rPr>
                <a:t>Medicine safety checker</a:t>
              </a:r>
            </a:p>
          </p:txBody>
        </p:sp>
      </p:grpSp>
      <p:grpSp>
        <p:nvGrpSpPr>
          <p:cNvPr name="Group 47" id="47"/>
          <p:cNvGrpSpPr/>
          <p:nvPr/>
        </p:nvGrpSpPr>
        <p:grpSpPr>
          <a:xfrm rot="0">
            <a:off x="6309360" y="5554980"/>
            <a:ext cx="5006340" cy="2125980"/>
            <a:chOff x="0" y="0"/>
            <a:chExt cx="6675120" cy="2834640"/>
          </a:xfrm>
        </p:grpSpPr>
        <p:sp>
          <p:nvSpPr>
            <p:cNvPr name="Freeform 48" id="48"/>
            <p:cNvSpPr/>
            <p:nvPr/>
          </p:nvSpPr>
          <p:spPr>
            <a:xfrm flipH="false" flipV="false" rot="0">
              <a:off x="0" y="0"/>
              <a:ext cx="6675120" cy="2834640"/>
            </a:xfrm>
            <a:custGeom>
              <a:avLst/>
              <a:gdLst/>
              <a:ahLst/>
              <a:cxnLst/>
              <a:rect r="r" b="b" t="t" l="l"/>
              <a:pathLst>
                <a:path h="2834640" w="6675120">
                  <a:moveTo>
                    <a:pt x="0" y="146304"/>
                  </a:moveTo>
                  <a:cubicBezTo>
                    <a:pt x="0" y="65532"/>
                    <a:pt x="65532" y="0"/>
                    <a:pt x="146304" y="0"/>
                  </a:cubicBezTo>
                  <a:lnTo>
                    <a:pt x="6528816" y="0"/>
                  </a:lnTo>
                  <a:cubicBezTo>
                    <a:pt x="6609588" y="0"/>
                    <a:pt x="6675120" y="65532"/>
                    <a:pt x="6675120" y="146304"/>
                  </a:cubicBezTo>
                  <a:lnTo>
                    <a:pt x="6675120" y="2688336"/>
                  </a:lnTo>
                  <a:cubicBezTo>
                    <a:pt x="6675120" y="2769108"/>
                    <a:pt x="6609588" y="2834640"/>
                    <a:pt x="6528816" y="2834640"/>
                  </a:cubicBezTo>
                  <a:lnTo>
                    <a:pt x="146304" y="2834640"/>
                  </a:lnTo>
                  <a:cubicBezTo>
                    <a:pt x="65532" y="2834640"/>
                    <a:pt x="0" y="2769108"/>
                    <a:pt x="0" y="2688336"/>
                  </a:cubicBezTo>
                  <a:close/>
                </a:path>
              </a:pathLst>
            </a:custGeom>
            <a:solidFill>
              <a:srgbClr val="6D2E46"/>
            </a:solidFill>
          </p:spPr>
        </p:sp>
      </p:grpSp>
      <p:grpSp>
        <p:nvGrpSpPr>
          <p:cNvPr name="Group 49" id="49"/>
          <p:cNvGrpSpPr/>
          <p:nvPr/>
        </p:nvGrpSpPr>
        <p:grpSpPr>
          <a:xfrm rot="0">
            <a:off x="6611112" y="6035040"/>
            <a:ext cx="1165860" cy="1165860"/>
            <a:chOff x="0" y="0"/>
            <a:chExt cx="1554480" cy="1554480"/>
          </a:xfrm>
        </p:grpSpPr>
        <p:sp>
          <p:nvSpPr>
            <p:cNvPr name="Freeform 50" id="50"/>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A26769"/>
            </a:solidFill>
          </p:spPr>
        </p:sp>
      </p:grpSp>
      <p:grpSp>
        <p:nvGrpSpPr>
          <p:cNvPr name="Group 51" id="51"/>
          <p:cNvGrpSpPr/>
          <p:nvPr/>
        </p:nvGrpSpPr>
        <p:grpSpPr>
          <a:xfrm rot="0">
            <a:off x="6890918" y="6314846"/>
            <a:ext cx="606247" cy="606247"/>
            <a:chOff x="0" y="0"/>
            <a:chExt cx="808330" cy="808330"/>
          </a:xfrm>
        </p:grpSpPr>
        <p:sp>
          <p:nvSpPr>
            <p:cNvPr name="Freeform 52" id="52" descr="/home/claude/herbalance/icon_filemed.png"/>
            <p:cNvSpPr/>
            <p:nvPr/>
          </p:nvSpPr>
          <p:spPr>
            <a:xfrm flipH="false" flipV="false" rot="0">
              <a:off x="0" y="0"/>
              <a:ext cx="808355" cy="808355"/>
            </a:xfrm>
            <a:custGeom>
              <a:avLst/>
              <a:gdLst/>
              <a:ahLst/>
              <a:cxnLst/>
              <a:rect r="r" b="b" t="t" l="l"/>
              <a:pathLst>
                <a:path h="808355" w="808355">
                  <a:moveTo>
                    <a:pt x="0" y="0"/>
                  </a:moveTo>
                  <a:lnTo>
                    <a:pt x="808355" y="0"/>
                  </a:lnTo>
                  <a:lnTo>
                    <a:pt x="808355" y="808355"/>
                  </a:lnTo>
                  <a:lnTo>
                    <a:pt x="0" y="808355"/>
                  </a:lnTo>
                  <a:lnTo>
                    <a:pt x="0" y="0"/>
                  </a:lnTo>
                  <a:close/>
                </a:path>
              </a:pathLst>
            </a:custGeom>
            <a:blipFill>
              <a:blip r:embed="rId8"/>
              <a:stretch>
                <a:fillRect l="0" t="0" r="3" b="3"/>
              </a:stretch>
            </a:blipFill>
          </p:spPr>
        </p:sp>
      </p:grpSp>
      <p:grpSp>
        <p:nvGrpSpPr>
          <p:cNvPr name="Group 53" id="53"/>
          <p:cNvGrpSpPr/>
          <p:nvPr/>
        </p:nvGrpSpPr>
        <p:grpSpPr>
          <a:xfrm rot="0">
            <a:off x="7955280" y="5719572"/>
            <a:ext cx="3086100" cy="1796796"/>
            <a:chOff x="0" y="0"/>
            <a:chExt cx="4114800" cy="2395728"/>
          </a:xfrm>
        </p:grpSpPr>
        <p:sp>
          <p:nvSpPr>
            <p:cNvPr name="Freeform 54" id="54"/>
            <p:cNvSpPr/>
            <p:nvPr/>
          </p:nvSpPr>
          <p:spPr>
            <a:xfrm flipH="false" flipV="false" rot="0">
              <a:off x="0" y="0"/>
              <a:ext cx="4114800" cy="2395728"/>
            </a:xfrm>
            <a:custGeom>
              <a:avLst/>
              <a:gdLst/>
              <a:ahLst/>
              <a:cxnLst/>
              <a:rect r="r" b="b" t="t" l="l"/>
              <a:pathLst>
                <a:path h="2395728" w="4114800">
                  <a:moveTo>
                    <a:pt x="0" y="0"/>
                  </a:moveTo>
                  <a:lnTo>
                    <a:pt x="4114800" y="0"/>
                  </a:lnTo>
                  <a:lnTo>
                    <a:pt x="4114800" y="2395728"/>
                  </a:lnTo>
                  <a:lnTo>
                    <a:pt x="0" y="2395728"/>
                  </a:lnTo>
                  <a:close/>
                </a:path>
              </a:pathLst>
            </a:custGeom>
            <a:blipFill>
              <a:blip r:embed="rId3">
                <a:alphaModFix amt="0"/>
              </a:blip>
              <a:stretch>
                <a:fillRect l="-24701" t="0" r="-24701" b="0"/>
              </a:stretch>
            </a:blipFill>
          </p:spPr>
        </p:sp>
        <p:sp>
          <p:nvSpPr>
            <p:cNvPr name="TextBox 55" id="55"/>
            <p:cNvSpPr txBox="true"/>
            <p:nvPr/>
          </p:nvSpPr>
          <p:spPr>
            <a:xfrm>
              <a:off x="0" y="-57150"/>
              <a:ext cx="4114800" cy="2452878"/>
            </a:xfrm>
            <a:prstGeom prst="rect">
              <a:avLst/>
            </a:prstGeom>
          </p:spPr>
          <p:txBody>
            <a:bodyPr anchor="ctr" rtlCol="false" tIns="0" lIns="0" bIns="0" rIns="0"/>
            <a:lstStyle/>
            <a:p>
              <a:pPr algn="l">
                <a:lnSpc>
                  <a:spcPts val="2376"/>
                </a:lnSpc>
              </a:pPr>
              <a:r>
                <a:rPr lang="en-US" sz="1800" b="true">
                  <a:solidFill>
                    <a:srgbClr val="FFFFFF"/>
                  </a:solidFill>
                  <a:latin typeface="Calibri (MS) Bold"/>
                  <a:ea typeface="Calibri (MS) Bold"/>
                  <a:cs typeface="Calibri (MS) Bold"/>
                  <a:sym typeface="Calibri (MS) Bold"/>
                </a:rPr>
                <a:t>Secure digital health record management</a:t>
              </a:r>
            </a:p>
          </p:txBody>
        </p:sp>
      </p:grpSp>
      <p:grpSp>
        <p:nvGrpSpPr>
          <p:cNvPr name="Group 56" id="56"/>
          <p:cNvGrpSpPr/>
          <p:nvPr/>
        </p:nvGrpSpPr>
        <p:grpSpPr>
          <a:xfrm rot="0">
            <a:off x="11658600" y="5554980"/>
            <a:ext cx="5006340" cy="2125980"/>
            <a:chOff x="0" y="0"/>
            <a:chExt cx="6675120" cy="2834640"/>
          </a:xfrm>
        </p:grpSpPr>
        <p:sp>
          <p:nvSpPr>
            <p:cNvPr name="Freeform 57" id="57"/>
            <p:cNvSpPr/>
            <p:nvPr/>
          </p:nvSpPr>
          <p:spPr>
            <a:xfrm flipH="false" flipV="false" rot="0">
              <a:off x="0" y="0"/>
              <a:ext cx="6675120" cy="2834640"/>
            </a:xfrm>
            <a:custGeom>
              <a:avLst/>
              <a:gdLst/>
              <a:ahLst/>
              <a:cxnLst/>
              <a:rect r="r" b="b" t="t" l="l"/>
              <a:pathLst>
                <a:path h="2834640" w="6675120">
                  <a:moveTo>
                    <a:pt x="0" y="146304"/>
                  </a:moveTo>
                  <a:cubicBezTo>
                    <a:pt x="0" y="65532"/>
                    <a:pt x="65532" y="0"/>
                    <a:pt x="146304" y="0"/>
                  </a:cubicBezTo>
                  <a:lnTo>
                    <a:pt x="6528816" y="0"/>
                  </a:lnTo>
                  <a:cubicBezTo>
                    <a:pt x="6609588" y="0"/>
                    <a:pt x="6675120" y="65532"/>
                    <a:pt x="6675120" y="146304"/>
                  </a:cubicBezTo>
                  <a:lnTo>
                    <a:pt x="6675120" y="2688336"/>
                  </a:lnTo>
                  <a:cubicBezTo>
                    <a:pt x="6675120" y="2769108"/>
                    <a:pt x="6609588" y="2834640"/>
                    <a:pt x="6528816" y="2834640"/>
                  </a:cubicBezTo>
                  <a:lnTo>
                    <a:pt x="146304" y="2834640"/>
                  </a:lnTo>
                  <a:cubicBezTo>
                    <a:pt x="65532" y="2834640"/>
                    <a:pt x="0" y="2769108"/>
                    <a:pt x="0" y="2688336"/>
                  </a:cubicBezTo>
                  <a:close/>
                </a:path>
              </a:pathLst>
            </a:custGeom>
            <a:solidFill>
              <a:srgbClr val="6D2E46"/>
            </a:solidFill>
          </p:spPr>
        </p:sp>
      </p:grpSp>
      <p:grpSp>
        <p:nvGrpSpPr>
          <p:cNvPr name="Group 58" id="58"/>
          <p:cNvGrpSpPr/>
          <p:nvPr/>
        </p:nvGrpSpPr>
        <p:grpSpPr>
          <a:xfrm rot="0">
            <a:off x="11960352" y="6035040"/>
            <a:ext cx="1165860" cy="1165860"/>
            <a:chOff x="0" y="0"/>
            <a:chExt cx="1554480" cy="1554480"/>
          </a:xfrm>
        </p:grpSpPr>
        <p:sp>
          <p:nvSpPr>
            <p:cNvPr name="Freeform 59" id="59"/>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A26769"/>
            </a:solidFill>
          </p:spPr>
        </p:sp>
      </p:grpSp>
      <p:grpSp>
        <p:nvGrpSpPr>
          <p:cNvPr name="Group 60" id="60"/>
          <p:cNvGrpSpPr/>
          <p:nvPr/>
        </p:nvGrpSpPr>
        <p:grpSpPr>
          <a:xfrm rot="0">
            <a:off x="12240158" y="6314846"/>
            <a:ext cx="606247" cy="606247"/>
            <a:chOff x="0" y="0"/>
            <a:chExt cx="808330" cy="808330"/>
          </a:xfrm>
        </p:grpSpPr>
        <p:sp>
          <p:nvSpPr>
            <p:cNvPr name="Freeform 61" id="61" descr="/home/claude/herbalance/icon_heartbeat.png"/>
            <p:cNvSpPr/>
            <p:nvPr/>
          </p:nvSpPr>
          <p:spPr>
            <a:xfrm flipH="false" flipV="false" rot="0">
              <a:off x="0" y="0"/>
              <a:ext cx="808355" cy="808355"/>
            </a:xfrm>
            <a:custGeom>
              <a:avLst/>
              <a:gdLst/>
              <a:ahLst/>
              <a:cxnLst/>
              <a:rect r="r" b="b" t="t" l="l"/>
              <a:pathLst>
                <a:path h="808355" w="808355">
                  <a:moveTo>
                    <a:pt x="0" y="0"/>
                  </a:moveTo>
                  <a:lnTo>
                    <a:pt x="808355" y="0"/>
                  </a:lnTo>
                  <a:lnTo>
                    <a:pt x="808355" y="808355"/>
                  </a:lnTo>
                  <a:lnTo>
                    <a:pt x="0" y="808355"/>
                  </a:lnTo>
                  <a:lnTo>
                    <a:pt x="0" y="0"/>
                  </a:lnTo>
                  <a:close/>
                </a:path>
              </a:pathLst>
            </a:custGeom>
            <a:blipFill>
              <a:blip r:embed="rId9"/>
              <a:stretch>
                <a:fillRect l="0" t="0" r="3" b="3"/>
              </a:stretch>
            </a:blipFill>
          </p:spPr>
        </p:sp>
      </p:grpSp>
      <p:grpSp>
        <p:nvGrpSpPr>
          <p:cNvPr name="Group 62" id="62"/>
          <p:cNvGrpSpPr/>
          <p:nvPr/>
        </p:nvGrpSpPr>
        <p:grpSpPr>
          <a:xfrm rot="0">
            <a:off x="13304520" y="5719572"/>
            <a:ext cx="3086100" cy="1796796"/>
            <a:chOff x="0" y="0"/>
            <a:chExt cx="4114800" cy="2395728"/>
          </a:xfrm>
        </p:grpSpPr>
        <p:sp>
          <p:nvSpPr>
            <p:cNvPr name="Freeform 63" id="63"/>
            <p:cNvSpPr/>
            <p:nvPr/>
          </p:nvSpPr>
          <p:spPr>
            <a:xfrm flipH="false" flipV="false" rot="0">
              <a:off x="0" y="0"/>
              <a:ext cx="4114800" cy="2395728"/>
            </a:xfrm>
            <a:custGeom>
              <a:avLst/>
              <a:gdLst/>
              <a:ahLst/>
              <a:cxnLst/>
              <a:rect r="r" b="b" t="t" l="l"/>
              <a:pathLst>
                <a:path h="2395728" w="4114800">
                  <a:moveTo>
                    <a:pt x="0" y="0"/>
                  </a:moveTo>
                  <a:lnTo>
                    <a:pt x="4114800" y="0"/>
                  </a:lnTo>
                  <a:lnTo>
                    <a:pt x="4114800" y="2395728"/>
                  </a:lnTo>
                  <a:lnTo>
                    <a:pt x="0" y="2395728"/>
                  </a:lnTo>
                  <a:close/>
                </a:path>
              </a:pathLst>
            </a:custGeom>
            <a:blipFill>
              <a:blip r:embed="rId3">
                <a:alphaModFix amt="0"/>
              </a:blip>
              <a:stretch>
                <a:fillRect l="-24701" t="0" r="-24701" b="0"/>
              </a:stretch>
            </a:blipFill>
          </p:spPr>
        </p:sp>
        <p:sp>
          <p:nvSpPr>
            <p:cNvPr name="TextBox 64" id="64"/>
            <p:cNvSpPr txBox="true"/>
            <p:nvPr/>
          </p:nvSpPr>
          <p:spPr>
            <a:xfrm>
              <a:off x="0" y="-57150"/>
              <a:ext cx="4114800" cy="2452878"/>
            </a:xfrm>
            <a:prstGeom prst="rect">
              <a:avLst/>
            </a:prstGeom>
          </p:spPr>
          <p:txBody>
            <a:bodyPr anchor="ctr" rtlCol="false" tIns="0" lIns="0" bIns="0" rIns="0"/>
            <a:lstStyle/>
            <a:p>
              <a:pPr algn="l">
                <a:lnSpc>
                  <a:spcPts val="2376"/>
                </a:lnSpc>
              </a:pPr>
              <a:r>
                <a:rPr lang="en-US" sz="1800" b="true">
                  <a:solidFill>
                    <a:srgbClr val="FFFFFF"/>
                  </a:solidFill>
                  <a:latin typeface="Calibri (MS) Bold"/>
                  <a:ea typeface="Calibri (MS) Bold"/>
                  <a:cs typeface="Calibri (MS) Bold"/>
                  <a:sym typeface="Calibri (MS) Bold"/>
                </a:rPr>
                <a:t>Personalized wellness suggestions</a:t>
              </a:r>
            </a:p>
          </p:txBody>
        </p:sp>
      </p:grpSp>
      <p:grpSp>
        <p:nvGrpSpPr>
          <p:cNvPr name="Group 65" id="65"/>
          <p:cNvGrpSpPr/>
          <p:nvPr/>
        </p:nvGrpSpPr>
        <p:grpSpPr>
          <a:xfrm rot="0">
            <a:off x="960120" y="9258300"/>
            <a:ext cx="16322040" cy="548640"/>
            <a:chOff x="0" y="0"/>
            <a:chExt cx="21762720" cy="731520"/>
          </a:xfrm>
        </p:grpSpPr>
        <p:sp>
          <p:nvSpPr>
            <p:cNvPr name="Freeform 66" id="66"/>
            <p:cNvSpPr/>
            <p:nvPr/>
          </p:nvSpPr>
          <p:spPr>
            <a:xfrm flipH="false" flipV="false" rot="0">
              <a:off x="0" y="0"/>
              <a:ext cx="21762720" cy="731520"/>
            </a:xfrm>
            <a:custGeom>
              <a:avLst/>
              <a:gdLst/>
              <a:ahLst/>
              <a:cxnLst/>
              <a:rect r="r" b="b" t="t" l="l"/>
              <a:pathLst>
                <a:path h="731520" w="21762720">
                  <a:moveTo>
                    <a:pt x="0" y="0"/>
                  </a:moveTo>
                  <a:lnTo>
                    <a:pt x="21762720" y="0"/>
                  </a:lnTo>
                  <a:lnTo>
                    <a:pt x="21762720" y="731520"/>
                  </a:lnTo>
                  <a:lnTo>
                    <a:pt x="0" y="731520"/>
                  </a:lnTo>
                  <a:close/>
                </a:path>
              </a:pathLst>
            </a:custGeom>
            <a:blipFill>
              <a:blip r:embed="rId3">
                <a:alphaModFix amt="0"/>
              </a:blip>
              <a:stretch>
                <a:fillRect l="0" t="-529679" r="0" b="-529679"/>
              </a:stretch>
            </a:blipFill>
          </p:spPr>
        </p:sp>
        <p:sp>
          <p:nvSpPr>
            <p:cNvPr name="TextBox 67" id="67"/>
            <p:cNvSpPr txBox="true"/>
            <p:nvPr/>
          </p:nvSpPr>
          <p:spPr>
            <a:xfrm>
              <a:off x="0" y="-38100"/>
              <a:ext cx="21762720" cy="769620"/>
            </a:xfrm>
            <a:prstGeom prst="rect">
              <a:avLst/>
            </a:prstGeom>
          </p:spPr>
          <p:txBody>
            <a:bodyPr anchor="ctr" rtlCol="false" tIns="0" lIns="0" bIns="0" rIns="0"/>
            <a:lstStyle/>
            <a:p>
              <a:pPr algn="ctr">
                <a:lnSpc>
                  <a:spcPts val="2160"/>
                </a:lnSpc>
              </a:pPr>
              <a:r>
                <a:rPr lang="en-US" sz="1800">
                  <a:solidFill>
                    <a:srgbClr val="ECE2D0"/>
                  </a:solidFill>
                  <a:latin typeface="Calibri (MS)"/>
                  <a:ea typeface="Calibri (MS)"/>
                  <a:cs typeface="Calibri (MS)"/>
                  <a:sym typeface="Calibri (MS)"/>
                </a:rPr>
                <a:t>Benefits:  Accurate recommendations   •   Improved accessibility   •   Better user experience   •   Secure data management</a:t>
              </a:r>
            </a:p>
          </p:txBody>
        </p:sp>
      </p:grpSp>
      <p:grpSp>
        <p:nvGrpSpPr>
          <p:cNvPr name="Group 68" id="68"/>
          <p:cNvGrpSpPr/>
          <p:nvPr/>
        </p:nvGrpSpPr>
        <p:grpSpPr>
          <a:xfrm rot="0">
            <a:off x="17048988" y="9532620"/>
            <a:ext cx="822960" cy="480060"/>
            <a:chOff x="0" y="0"/>
            <a:chExt cx="1097280" cy="640080"/>
          </a:xfrm>
        </p:grpSpPr>
        <p:sp>
          <p:nvSpPr>
            <p:cNvPr name="Freeform 69" id="69"/>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3">
                <a:alphaModFix amt="0"/>
              </a:blip>
              <a:stretch>
                <a:fillRect l="-24843" t="0" r="-24843" b="0"/>
              </a:stretch>
            </a:blipFill>
          </p:spPr>
        </p:sp>
        <p:sp>
          <p:nvSpPr>
            <p:cNvPr name="TextBox 70" id="70"/>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ECE2D0"/>
                  </a:solidFill>
                  <a:latin typeface="Calibri (MS)"/>
                  <a:ea typeface="Calibri (MS)"/>
                  <a:cs typeface="Calibri (MS)"/>
                  <a:sym typeface="Calibri (MS)"/>
                </a:rPr>
                <a:t>06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68580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299">
                  <a:solidFill>
                    <a:srgbClr val="6D2E46"/>
                  </a:solidFill>
                  <a:latin typeface="Calibri (MS) Bold"/>
                  <a:ea typeface="Calibri (MS) Bold"/>
                  <a:cs typeface="Calibri (MS) Bold"/>
                  <a:sym typeface="Calibri (MS) Bold"/>
                </a:rPr>
                <a:t>SYSTEM DESIGN</a:t>
              </a:r>
            </a:p>
          </p:txBody>
        </p:sp>
      </p:grpSp>
      <p:grpSp>
        <p:nvGrpSpPr>
          <p:cNvPr name="Group 5" id="5"/>
          <p:cNvGrpSpPr/>
          <p:nvPr/>
        </p:nvGrpSpPr>
        <p:grpSpPr>
          <a:xfrm rot="0">
            <a:off x="960120" y="1124712"/>
            <a:ext cx="15773400" cy="960120"/>
            <a:chOff x="0" y="0"/>
            <a:chExt cx="21031200" cy="1280160"/>
          </a:xfrm>
        </p:grpSpPr>
        <p:sp>
          <p:nvSpPr>
            <p:cNvPr name="Freeform 6" id="6"/>
            <p:cNvSpPr/>
            <p:nvPr/>
          </p:nvSpPr>
          <p:spPr>
            <a:xfrm flipH="false" flipV="false" rot="0">
              <a:off x="0" y="0"/>
              <a:ext cx="21031200" cy="1280160"/>
            </a:xfrm>
            <a:custGeom>
              <a:avLst/>
              <a:gdLst/>
              <a:ahLst/>
              <a:cxnLst/>
              <a:rect r="r" b="b" t="t" l="l"/>
              <a:pathLst>
                <a:path h="1280160" w="21031200">
                  <a:moveTo>
                    <a:pt x="0" y="0"/>
                  </a:moveTo>
                  <a:lnTo>
                    <a:pt x="21031200" y="0"/>
                  </a:lnTo>
                  <a:lnTo>
                    <a:pt x="21031200" y="1280160"/>
                  </a:lnTo>
                  <a:lnTo>
                    <a:pt x="0" y="1280160"/>
                  </a:lnTo>
                  <a:close/>
                </a:path>
              </a:pathLst>
            </a:custGeom>
            <a:blipFill>
              <a:blip r:embed="rId3">
                <a:alphaModFix amt="0"/>
              </a:blip>
              <a:stretch>
                <a:fillRect l="0" t="-270111" r="0" b="-270111"/>
              </a:stretch>
            </a:blipFill>
          </p:spPr>
        </p:sp>
        <p:sp>
          <p:nvSpPr>
            <p:cNvPr name="TextBox 7" id="7"/>
            <p:cNvSpPr txBox="true"/>
            <p:nvPr/>
          </p:nvSpPr>
          <p:spPr>
            <a:xfrm>
              <a:off x="0" y="-9525"/>
              <a:ext cx="21031200" cy="1289685"/>
            </a:xfrm>
            <a:prstGeom prst="rect">
              <a:avLst/>
            </a:prstGeom>
          </p:spPr>
          <p:txBody>
            <a:bodyPr anchor="ctr" rtlCol="false" tIns="0" lIns="0" bIns="0" rIns="0"/>
            <a:lstStyle/>
            <a:p>
              <a:pPr algn="l">
                <a:lnSpc>
                  <a:spcPts val="5040"/>
                </a:lnSpc>
              </a:pPr>
              <a:r>
                <a:rPr lang="en-US" sz="4200" b="true">
                  <a:solidFill>
                    <a:srgbClr val="3A2A2E"/>
                  </a:solidFill>
                  <a:latin typeface="Cambria Bold"/>
                  <a:ea typeface="Cambria Bold"/>
                  <a:cs typeface="Cambria Bold"/>
                  <a:sym typeface="Cambria Bold"/>
                </a:rPr>
                <a:t>Functional &amp; Non-Functional Requirements</a:t>
              </a:r>
            </a:p>
          </p:txBody>
        </p:sp>
      </p:grpSp>
      <p:grpSp>
        <p:nvGrpSpPr>
          <p:cNvPr name="Group 8" id="8"/>
          <p:cNvGrpSpPr/>
          <p:nvPr/>
        </p:nvGrpSpPr>
        <p:grpSpPr>
          <a:xfrm rot="0">
            <a:off x="960120" y="2537460"/>
            <a:ext cx="7886700" cy="6858000"/>
            <a:chOff x="0" y="0"/>
            <a:chExt cx="10515600" cy="9144000"/>
          </a:xfrm>
        </p:grpSpPr>
        <p:sp>
          <p:nvSpPr>
            <p:cNvPr name="Freeform 9" id="9"/>
            <p:cNvSpPr/>
            <p:nvPr/>
          </p:nvSpPr>
          <p:spPr>
            <a:xfrm flipH="false" flipV="false" rot="0">
              <a:off x="0" y="0"/>
              <a:ext cx="10515600" cy="9144000"/>
            </a:xfrm>
            <a:custGeom>
              <a:avLst/>
              <a:gdLst/>
              <a:ahLst/>
              <a:cxnLst/>
              <a:rect r="r" b="b" t="t" l="l"/>
              <a:pathLst>
                <a:path h="9144000" w="10515600">
                  <a:moveTo>
                    <a:pt x="0" y="182880"/>
                  </a:moveTo>
                  <a:cubicBezTo>
                    <a:pt x="0" y="81915"/>
                    <a:pt x="81915" y="0"/>
                    <a:pt x="182880" y="0"/>
                  </a:cubicBezTo>
                  <a:lnTo>
                    <a:pt x="10332720" y="0"/>
                  </a:lnTo>
                  <a:cubicBezTo>
                    <a:pt x="10433685" y="0"/>
                    <a:pt x="10515600" y="81915"/>
                    <a:pt x="10515600" y="182880"/>
                  </a:cubicBezTo>
                  <a:lnTo>
                    <a:pt x="10515600" y="8961120"/>
                  </a:lnTo>
                  <a:cubicBezTo>
                    <a:pt x="10515600" y="9062085"/>
                    <a:pt x="10433685" y="9144000"/>
                    <a:pt x="10332720" y="9144000"/>
                  </a:cubicBezTo>
                  <a:lnTo>
                    <a:pt x="182880" y="9144000"/>
                  </a:lnTo>
                  <a:cubicBezTo>
                    <a:pt x="81915" y="9144000"/>
                    <a:pt x="0" y="9062085"/>
                    <a:pt x="0" y="8961120"/>
                  </a:cubicBezTo>
                  <a:close/>
                </a:path>
              </a:pathLst>
            </a:custGeom>
            <a:solidFill>
              <a:srgbClr val="ECE2D0"/>
            </a:solidFill>
          </p:spPr>
        </p:sp>
      </p:grpSp>
      <p:grpSp>
        <p:nvGrpSpPr>
          <p:cNvPr name="Group 10" id="10"/>
          <p:cNvGrpSpPr/>
          <p:nvPr/>
        </p:nvGrpSpPr>
        <p:grpSpPr>
          <a:xfrm rot="0">
            <a:off x="1440180" y="2921508"/>
            <a:ext cx="6926580" cy="617220"/>
            <a:chOff x="0" y="0"/>
            <a:chExt cx="9235440" cy="822960"/>
          </a:xfrm>
        </p:grpSpPr>
        <p:sp>
          <p:nvSpPr>
            <p:cNvPr name="Freeform 11" id="11"/>
            <p:cNvSpPr/>
            <p:nvPr/>
          </p:nvSpPr>
          <p:spPr>
            <a:xfrm flipH="false" flipV="false" rot="0">
              <a:off x="0" y="0"/>
              <a:ext cx="9235440" cy="822960"/>
            </a:xfrm>
            <a:custGeom>
              <a:avLst/>
              <a:gdLst/>
              <a:ahLst/>
              <a:cxnLst/>
              <a:rect r="r" b="b" t="t" l="l"/>
              <a:pathLst>
                <a:path h="822960" w="9235440">
                  <a:moveTo>
                    <a:pt x="0" y="0"/>
                  </a:moveTo>
                  <a:lnTo>
                    <a:pt x="9235440" y="0"/>
                  </a:lnTo>
                  <a:lnTo>
                    <a:pt x="9235440" y="822960"/>
                  </a:lnTo>
                  <a:lnTo>
                    <a:pt x="0" y="822960"/>
                  </a:lnTo>
                  <a:close/>
                </a:path>
              </a:pathLst>
            </a:custGeom>
            <a:blipFill>
              <a:blip r:embed="rId3">
                <a:alphaModFix amt="0"/>
              </a:blip>
              <a:stretch>
                <a:fillRect l="0" t="-168665" r="0" b="-168665"/>
              </a:stretch>
            </a:blipFill>
          </p:spPr>
        </p:sp>
        <p:sp>
          <p:nvSpPr>
            <p:cNvPr name="TextBox 12" id="12"/>
            <p:cNvSpPr txBox="true"/>
            <p:nvPr/>
          </p:nvSpPr>
          <p:spPr>
            <a:xfrm>
              <a:off x="0" y="-57150"/>
              <a:ext cx="9235440" cy="880110"/>
            </a:xfrm>
            <a:prstGeom prst="rect">
              <a:avLst/>
            </a:prstGeom>
          </p:spPr>
          <p:txBody>
            <a:bodyPr anchor="ctr" rtlCol="false" tIns="0" lIns="0" bIns="0" rIns="0"/>
            <a:lstStyle/>
            <a:p>
              <a:pPr algn="l">
                <a:lnSpc>
                  <a:spcPts val="2700"/>
                </a:lnSpc>
              </a:pPr>
              <a:r>
                <a:rPr lang="en-US" sz="2250" b="true">
                  <a:solidFill>
                    <a:srgbClr val="6D2E46"/>
                  </a:solidFill>
                  <a:latin typeface="Calibri (MS) Bold"/>
                  <a:ea typeface="Calibri (MS) Bold"/>
                  <a:cs typeface="Calibri (MS) Bold"/>
                  <a:sym typeface="Calibri (MS) Bold"/>
                </a:rPr>
                <a:t>Functional Requirements</a:t>
              </a:r>
            </a:p>
          </p:txBody>
        </p:sp>
      </p:grpSp>
      <p:grpSp>
        <p:nvGrpSpPr>
          <p:cNvPr name="Group 13" id="13"/>
          <p:cNvGrpSpPr/>
          <p:nvPr/>
        </p:nvGrpSpPr>
        <p:grpSpPr>
          <a:xfrm rot="0">
            <a:off x="1440180" y="3703320"/>
            <a:ext cx="466344" cy="466344"/>
            <a:chOff x="0" y="0"/>
            <a:chExt cx="621792" cy="621792"/>
          </a:xfrm>
        </p:grpSpPr>
        <p:sp>
          <p:nvSpPr>
            <p:cNvPr name="Freeform 14" id="14"/>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84B59F"/>
            </a:solidFill>
          </p:spPr>
        </p:sp>
      </p:grpSp>
      <p:grpSp>
        <p:nvGrpSpPr>
          <p:cNvPr name="Group 15" id="15"/>
          <p:cNvGrpSpPr/>
          <p:nvPr/>
        </p:nvGrpSpPr>
        <p:grpSpPr>
          <a:xfrm rot="0">
            <a:off x="1552099" y="3815239"/>
            <a:ext cx="242497" cy="242497"/>
            <a:chOff x="0" y="0"/>
            <a:chExt cx="323329" cy="323329"/>
          </a:xfrm>
        </p:grpSpPr>
        <p:sp>
          <p:nvSpPr>
            <p:cNvPr name="Freeform 16" id="16" descr="/home/claude/herbalance/icon_check.png"/>
            <p:cNvSpPr/>
            <p:nvPr/>
          </p:nvSpPr>
          <p:spPr>
            <a:xfrm flipH="false" flipV="false" rot="0">
              <a:off x="0" y="0"/>
              <a:ext cx="323342" cy="323342"/>
            </a:xfrm>
            <a:custGeom>
              <a:avLst/>
              <a:gdLst/>
              <a:ahLst/>
              <a:cxnLst/>
              <a:rect r="r" b="b" t="t" l="l"/>
              <a:pathLst>
                <a:path h="323342" w="323342">
                  <a:moveTo>
                    <a:pt x="0" y="0"/>
                  </a:moveTo>
                  <a:lnTo>
                    <a:pt x="323342" y="0"/>
                  </a:lnTo>
                  <a:lnTo>
                    <a:pt x="323342" y="323342"/>
                  </a:lnTo>
                  <a:lnTo>
                    <a:pt x="0" y="323342"/>
                  </a:lnTo>
                  <a:lnTo>
                    <a:pt x="0" y="0"/>
                  </a:lnTo>
                  <a:close/>
                </a:path>
              </a:pathLst>
            </a:custGeom>
            <a:blipFill>
              <a:blip r:embed="rId4"/>
              <a:stretch>
                <a:fillRect l="0" t="0" r="3" b="3"/>
              </a:stretch>
            </a:blipFill>
          </p:spPr>
        </p:sp>
      </p:grpSp>
      <p:grpSp>
        <p:nvGrpSpPr>
          <p:cNvPr name="Group 17" id="17"/>
          <p:cNvGrpSpPr/>
          <p:nvPr/>
        </p:nvGrpSpPr>
        <p:grpSpPr>
          <a:xfrm rot="0">
            <a:off x="2057400" y="3662172"/>
            <a:ext cx="6583680" cy="617220"/>
            <a:chOff x="0" y="0"/>
            <a:chExt cx="8778240" cy="822960"/>
          </a:xfrm>
        </p:grpSpPr>
        <p:sp>
          <p:nvSpPr>
            <p:cNvPr name="Freeform 18" id="18"/>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19" id="19"/>
            <p:cNvSpPr txBox="true"/>
            <p:nvPr/>
          </p:nvSpPr>
          <p:spPr>
            <a:xfrm>
              <a:off x="0" y="-38100"/>
              <a:ext cx="8778240" cy="861060"/>
            </a:xfrm>
            <a:prstGeom prst="rect">
              <a:avLst/>
            </a:prstGeom>
          </p:spPr>
          <p:txBody>
            <a:bodyPr anchor="ctr" rtlCol="false" tIns="0" lIns="0" bIns="0" rIns="0"/>
            <a:lstStyle/>
            <a:p>
              <a:pPr algn="l">
                <a:lnSpc>
                  <a:spcPts val="2250"/>
                </a:lnSpc>
              </a:pPr>
              <a:r>
                <a:rPr lang="en-US" sz="1875">
                  <a:solidFill>
                    <a:srgbClr val="3A2A2E"/>
                  </a:solidFill>
                  <a:latin typeface="Calibri (MS)"/>
                  <a:ea typeface="Calibri (MS)"/>
                  <a:cs typeface="Calibri (MS)"/>
                  <a:sym typeface="Calibri (MS)"/>
                </a:rPr>
                <a:t>User registration and login</a:t>
              </a:r>
            </a:p>
          </p:txBody>
        </p:sp>
      </p:grpSp>
      <p:grpSp>
        <p:nvGrpSpPr>
          <p:cNvPr name="Group 20" id="20"/>
          <p:cNvGrpSpPr/>
          <p:nvPr/>
        </p:nvGrpSpPr>
        <p:grpSpPr>
          <a:xfrm rot="0">
            <a:off x="1440180" y="4457700"/>
            <a:ext cx="466344" cy="466344"/>
            <a:chOff x="0" y="0"/>
            <a:chExt cx="621792" cy="621792"/>
          </a:xfrm>
        </p:grpSpPr>
        <p:sp>
          <p:nvSpPr>
            <p:cNvPr name="Freeform 21" id="21"/>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84B59F"/>
            </a:solidFill>
          </p:spPr>
        </p:sp>
      </p:grpSp>
      <p:grpSp>
        <p:nvGrpSpPr>
          <p:cNvPr name="Group 22" id="22"/>
          <p:cNvGrpSpPr/>
          <p:nvPr/>
        </p:nvGrpSpPr>
        <p:grpSpPr>
          <a:xfrm rot="0">
            <a:off x="1552099" y="4569619"/>
            <a:ext cx="242497" cy="242497"/>
            <a:chOff x="0" y="0"/>
            <a:chExt cx="323329" cy="323329"/>
          </a:xfrm>
        </p:grpSpPr>
        <p:sp>
          <p:nvSpPr>
            <p:cNvPr name="Freeform 23" id="23" descr="/home/claude/herbalance/icon_check.png"/>
            <p:cNvSpPr/>
            <p:nvPr/>
          </p:nvSpPr>
          <p:spPr>
            <a:xfrm flipH="false" flipV="false" rot="0">
              <a:off x="0" y="0"/>
              <a:ext cx="323342" cy="323342"/>
            </a:xfrm>
            <a:custGeom>
              <a:avLst/>
              <a:gdLst/>
              <a:ahLst/>
              <a:cxnLst/>
              <a:rect r="r" b="b" t="t" l="l"/>
              <a:pathLst>
                <a:path h="323342" w="323342">
                  <a:moveTo>
                    <a:pt x="0" y="0"/>
                  </a:moveTo>
                  <a:lnTo>
                    <a:pt x="323342" y="0"/>
                  </a:lnTo>
                  <a:lnTo>
                    <a:pt x="323342" y="323342"/>
                  </a:lnTo>
                  <a:lnTo>
                    <a:pt x="0" y="323342"/>
                  </a:lnTo>
                  <a:lnTo>
                    <a:pt x="0" y="0"/>
                  </a:lnTo>
                  <a:close/>
                </a:path>
              </a:pathLst>
            </a:custGeom>
            <a:blipFill>
              <a:blip r:embed="rId4"/>
              <a:stretch>
                <a:fillRect l="0" t="0" r="3" b="3"/>
              </a:stretch>
            </a:blipFill>
          </p:spPr>
        </p:sp>
      </p:grpSp>
      <p:grpSp>
        <p:nvGrpSpPr>
          <p:cNvPr name="Group 24" id="24"/>
          <p:cNvGrpSpPr/>
          <p:nvPr/>
        </p:nvGrpSpPr>
        <p:grpSpPr>
          <a:xfrm rot="0">
            <a:off x="2057400" y="4416552"/>
            <a:ext cx="6583680" cy="617220"/>
            <a:chOff x="0" y="0"/>
            <a:chExt cx="8778240" cy="822960"/>
          </a:xfrm>
        </p:grpSpPr>
        <p:sp>
          <p:nvSpPr>
            <p:cNvPr name="Freeform 25" id="25"/>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26" id="26"/>
            <p:cNvSpPr txBox="true"/>
            <p:nvPr/>
          </p:nvSpPr>
          <p:spPr>
            <a:xfrm>
              <a:off x="0" y="-38100"/>
              <a:ext cx="8778240" cy="861060"/>
            </a:xfrm>
            <a:prstGeom prst="rect">
              <a:avLst/>
            </a:prstGeom>
          </p:spPr>
          <p:txBody>
            <a:bodyPr anchor="ctr" rtlCol="false" tIns="0" lIns="0" bIns="0" rIns="0"/>
            <a:lstStyle/>
            <a:p>
              <a:pPr algn="l">
                <a:lnSpc>
                  <a:spcPts val="2250"/>
                </a:lnSpc>
              </a:pPr>
              <a:r>
                <a:rPr lang="en-US" sz="1875">
                  <a:solidFill>
                    <a:srgbClr val="3A2A2E"/>
                  </a:solidFill>
                  <a:latin typeface="Calibri (MS)"/>
                  <a:ea typeface="Calibri (MS)"/>
                  <a:cs typeface="Calibri (MS)"/>
                  <a:sym typeface="Calibri (MS)"/>
                </a:rPr>
                <a:t>Menstrual cycle prediction</a:t>
              </a:r>
            </a:p>
          </p:txBody>
        </p:sp>
      </p:grpSp>
      <p:grpSp>
        <p:nvGrpSpPr>
          <p:cNvPr name="Group 27" id="27"/>
          <p:cNvGrpSpPr/>
          <p:nvPr/>
        </p:nvGrpSpPr>
        <p:grpSpPr>
          <a:xfrm rot="0">
            <a:off x="1440180" y="5212080"/>
            <a:ext cx="466344" cy="466344"/>
            <a:chOff x="0" y="0"/>
            <a:chExt cx="621792" cy="621792"/>
          </a:xfrm>
        </p:grpSpPr>
        <p:sp>
          <p:nvSpPr>
            <p:cNvPr name="Freeform 28" id="28"/>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84B59F"/>
            </a:solidFill>
          </p:spPr>
        </p:sp>
      </p:grpSp>
      <p:grpSp>
        <p:nvGrpSpPr>
          <p:cNvPr name="Group 29" id="29"/>
          <p:cNvGrpSpPr/>
          <p:nvPr/>
        </p:nvGrpSpPr>
        <p:grpSpPr>
          <a:xfrm rot="0">
            <a:off x="1552099" y="5323999"/>
            <a:ext cx="242497" cy="242497"/>
            <a:chOff x="0" y="0"/>
            <a:chExt cx="323329" cy="323329"/>
          </a:xfrm>
        </p:grpSpPr>
        <p:sp>
          <p:nvSpPr>
            <p:cNvPr name="Freeform 30" id="30" descr="/home/claude/herbalance/icon_check.png"/>
            <p:cNvSpPr/>
            <p:nvPr/>
          </p:nvSpPr>
          <p:spPr>
            <a:xfrm flipH="false" flipV="false" rot="0">
              <a:off x="0" y="0"/>
              <a:ext cx="323342" cy="323342"/>
            </a:xfrm>
            <a:custGeom>
              <a:avLst/>
              <a:gdLst/>
              <a:ahLst/>
              <a:cxnLst/>
              <a:rect r="r" b="b" t="t" l="l"/>
              <a:pathLst>
                <a:path h="323342" w="323342">
                  <a:moveTo>
                    <a:pt x="0" y="0"/>
                  </a:moveTo>
                  <a:lnTo>
                    <a:pt x="323342" y="0"/>
                  </a:lnTo>
                  <a:lnTo>
                    <a:pt x="323342" y="323342"/>
                  </a:lnTo>
                  <a:lnTo>
                    <a:pt x="0" y="323342"/>
                  </a:lnTo>
                  <a:lnTo>
                    <a:pt x="0" y="0"/>
                  </a:lnTo>
                  <a:close/>
                </a:path>
              </a:pathLst>
            </a:custGeom>
            <a:blipFill>
              <a:blip r:embed="rId4"/>
              <a:stretch>
                <a:fillRect l="0" t="0" r="3" b="3"/>
              </a:stretch>
            </a:blipFill>
          </p:spPr>
        </p:sp>
      </p:grpSp>
      <p:grpSp>
        <p:nvGrpSpPr>
          <p:cNvPr name="Group 31" id="31"/>
          <p:cNvGrpSpPr/>
          <p:nvPr/>
        </p:nvGrpSpPr>
        <p:grpSpPr>
          <a:xfrm rot="0">
            <a:off x="2057400" y="5170932"/>
            <a:ext cx="6583680" cy="617220"/>
            <a:chOff x="0" y="0"/>
            <a:chExt cx="8778240" cy="822960"/>
          </a:xfrm>
        </p:grpSpPr>
        <p:sp>
          <p:nvSpPr>
            <p:cNvPr name="Freeform 32" id="32"/>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33" id="33"/>
            <p:cNvSpPr txBox="true"/>
            <p:nvPr/>
          </p:nvSpPr>
          <p:spPr>
            <a:xfrm>
              <a:off x="0" y="-38100"/>
              <a:ext cx="8778240" cy="861060"/>
            </a:xfrm>
            <a:prstGeom prst="rect">
              <a:avLst/>
            </a:prstGeom>
          </p:spPr>
          <p:txBody>
            <a:bodyPr anchor="ctr" rtlCol="false" tIns="0" lIns="0" bIns="0" rIns="0"/>
            <a:lstStyle/>
            <a:p>
              <a:pPr algn="l">
                <a:lnSpc>
                  <a:spcPts val="2250"/>
                </a:lnSpc>
              </a:pPr>
              <a:r>
                <a:rPr lang="en-US" sz="1875">
                  <a:solidFill>
                    <a:srgbClr val="3A2A2E"/>
                  </a:solidFill>
                  <a:latin typeface="Calibri (MS)"/>
                  <a:ea typeface="Calibri (MS)"/>
                  <a:cs typeface="Calibri (MS)"/>
                  <a:sym typeface="Calibri (MS)"/>
                </a:rPr>
                <a:t>Skin analysis using AI</a:t>
              </a:r>
            </a:p>
          </p:txBody>
        </p:sp>
      </p:grpSp>
      <p:grpSp>
        <p:nvGrpSpPr>
          <p:cNvPr name="Group 34" id="34"/>
          <p:cNvGrpSpPr/>
          <p:nvPr/>
        </p:nvGrpSpPr>
        <p:grpSpPr>
          <a:xfrm rot="0">
            <a:off x="1440180" y="5966460"/>
            <a:ext cx="466344" cy="466344"/>
            <a:chOff x="0" y="0"/>
            <a:chExt cx="621792" cy="621792"/>
          </a:xfrm>
        </p:grpSpPr>
        <p:sp>
          <p:nvSpPr>
            <p:cNvPr name="Freeform 35" id="35"/>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84B59F"/>
            </a:solidFill>
          </p:spPr>
        </p:sp>
      </p:grpSp>
      <p:grpSp>
        <p:nvGrpSpPr>
          <p:cNvPr name="Group 36" id="36"/>
          <p:cNvGrpSpPr/>
          <p:nvPr/>
        </p:nvGrpSpPr>
        <p:grpSpPr>
          <a:xfrm rot="0">
            <a:off x="1552099" y="6078379"/>
            <a:ext cx="242497" cy="242497"/>
            <a:chOff x="0" y="0"/>
            <a:chExt cx="323329" cy="323329"/>
          </a:xfrm>
        </p:grpSpPr>
        <p:sp>
          <p:nvSpPr>
            <p:cNvPr name="Freeform 37" id="37" descr="/home/claude/herbalance/icon_check.png"/>
            <p:cNvSpPr/>
            <p:nvPr/>
          </p:nvSpPr>
          <p:spPr>
            <a:xfrm flipH="false" flipV="false" rot="0">
              <a:off x="0" y="0"/>
              <a:ext cx="323342" cy="323342"/>
            </a:xfrm>
            <a:custGeom>
              <a:avLst/>
              <a:gdLst/>
              <a:ahLst/>
              <a:cxnLst/>
              <a:rect r="r" b="b" t="t" l="l"/>
              <a:pathLst>
                <a:path h="323342" w="323342">
                  <a:moveTo>
                    <a:pt x="0" y="0"/>
                  </a:moveTo>
                  <a:lnTo>
                    <a:pt x="323342" y="0"/>
                  </a:lnTo>
                  <a:lnTo>
                    <a:pt x="323342" y="323342"/>
                  </a:lnTo>
                  <a:lnTo>
                    <a:pt x="0" y="323342"/>
                  </a:lnTo>
                  <a:lnTo>
                    <a:pt x="0" y="0"/>
                  </a:lnTo>
                  <a:close/>
                </a:path>
              </a:pathLst>
            </a:custGeom>
            <a:blipFill>
              <a:blip r:embed="rId4"/>
              <a:stretch>
                <a:fillRect l="0" t="0" r="3" b="3"/>
              </a:stretch>
            </a:blipFill>
          </p:spPr>
        </p:sp>
      </p:grpSp>
      <p:grpSp>
        <p:nvGrpSpPr>
          <p:cNvPr name="Group 38" id="38"/>
          <p:cNvGrpSpPr/>
          <p:nvPr/>
        </p:nvGrpSpPr>
        <p:grpSpPr>
          <a:xfrm rot="0">
            <a:off x="2057400" y="5925312"/>
            <a:ext cx="6583680" cy="617220"/>
            <a:chOff x="0" y="0"/>
            <a:chExt cx="8778240" cy="822960"/>
          </a:xfrm>
        </p:grpSpPr>
        <p:sp>
          <p:nvSpPr>
            <p:cNvPr name="Freeform 39" id="39"/>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40" id="40"/>
            <p:cNvSpPr txBox="true"/>
            <p:nvPr/>
          </p:nvSpPr>
          <p:spPr>
            <a:xfrm>
              <a:off x="0" y="-38100"/>
              <a:ext cx="8778240" cy="861060"/>
            </a:xfrm>
            <a:prstGeom prst="rect">
              <a:avLst/>
            </a:prstGeom>
          </p:spPr>
          <p:txBody>
            <a:bodyPr anchor="ctr" rtlCol="false" tIns="0" lIns="0" bIns="0" rIns="0"/>
            <a:lstStyle/>
            <a:p>
              <a:pPr algn="l">
                <a:lnSpc>
                  <a:spcPts val="2250"/>
                </a:lnSpc>
              </a:pPr>
              <a:r>
                <a:rPr lang="en-US" sz="1875">
                  <a:solidFill>
                    <a:srgbClr val="3A2A2E"/>
                  </a:solidFill>
                  <a:latin typeface="Calibri (MS)"/>
                  <a:ea typeface="Calibri (MS)"/>
                  <a:cs typeface="Calibri (MS)"/>
                  <a:sym typeface="Calibri (MS)"/>
                </a:rPr>
                <a:t>Cosmetic recommendation system</a:t>
              </a:r>
            </a:p>
          </p:txBody>
        </p:sp>
      </p:grpSp>
      <p:grpSp>
        <p:nvGrpSpPr>
          <p:cNvPr name="Group 41" id="41"/>
          <p:cNvGrpSpPr/>
          <p:nvPr/>
        </p:nvGrpSpPr>
        <p:grpSpPr>
          <a:xfrm rot="0">
            <a:off x="1440180" y="6720840"/>
            <a:ext cx="466344" cy="466344"/>
            <a:chOff x="0" y="0"/>
            <a:chExt cx="621792" cy="621792"/>
          </a:xfrm>
        </p:grpSpPr>
        <p:sp>
          <p:nvSpPr>
            <p:cNvPr name="Freeform 42" id="42"/>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84B59F"/>
            </a:solidFill>
          </p:spPr>
        </p:sp>
      </p:grpSp>
      <p:grpSp>
        <p:nvGrpSpPr>
          <p:cNvPr name="Group 43" id="43"/>
          <p:cNvGrpSpPr/>
          <p:nvPr/>
        </p:nvGrpSpPr>
        <p:grpSpPr>
          <a:xfrm rot="0">
            <a:off x="1552099" y="6832759"/>
            <a:ext cx="242497" cy="242497"/>
            <a:chOff x="0" y="0"/>
            <a:chExt cx="323329" cy="323329"/>
          </a:xfrm>
        </p:grpSpPr>
        <p:sp>
          <p:nvSpPr>
            <p:cNvPr name="Freeform 44" id="44" descr="/home/claude/herbalance/icon_check.png"/>
            <p:cNvSpPr/>
            <p:nvPr/>
          </p:nvSpPr>
          <p:spPr>
            <a:xfrm flipH="false" flipV="false" rot="0">
              <a:off x="0" y="0"/>
              <a:ext cx="323342" cy="323342"/>
            </a:xfrm>
            <a:custGeom>
              <a:avLst/>
              <a:gdLst/>
              <a:ahLst/>
              <a:cxnLst/>
              <a:rect r="r" b="b" t="t" l="l"/>
              <a:pathLst>
                <a:path h="323342" w="323342">
                  <a:moveTo>
                    <a:pt x="0" y="0"/>
                  </a:moveTo>
                  <a:lnTo>
                    <a:pt x="323342" y="0"/>
                  </a:lnTo>
                  <a:lnTo>
                    <a:pt x="323342" y="323342"/>
                  </a:lnTo>
                  <a:lnTo>
                    <a:pt x="0" y="323342"/>
                  </a:lnTo>
                  <a:lnTo>
                    <a:pt x="0" y="0"/>
                  </a:lnTo>
                  <a:close/>
                </a:path>
              </a:pathLst>
            </a:custGeom>
            <a:blipFill>
              <a:blip r:embed="rId4"/>
              <a:stretch>
                <a:fillRect l="0" t="0" r="3" b="3"/>
              </a:stretch>
            </a:blipFill>
          </p:spPr>
        </p:sp>
      </p:grpSp>
      <p:grpSp>
        <p:nvGrpSpPr>
          <p:cNvPr name="Group 45" id="45"/>
          <p:cNvGrpSpPr/>
          <p:nvPr/>
        </p:nvGrpSpPr>
        <p:grpSpPr>
          <a:xfrm rot="0">
            <a:off x="2057400" y="6679692"/>
            <a:ext cx="6583680" cy="617220"/>
            <a:chOff x="0" y="0"/>
            <a:chExt cx="8778240" cy="822960"/>
          </a:xfrm>
        </p:grpSpPr>
        <p:sp>
          <p:nvSpPr>
            <p:cNvPr name="Freeform 46" id="46"/>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47" id="47"/>
            <p:cNvSpPr txBox="true"/>
            <p:nvPr/>
          </p:nvSpPr>
          <p:spPr>
            <a:xfrm>
              <a:off x="0" y="-38100"/>
              <a:ext cx="8778240" cy="861060"/>
            </a:xfrm>
            <a:prstGeom prst="rect">
              <a:avLst/>
            </a:prstGeom>
          </p:spPr>
          <p:txBody>
            <a:bodyPr anchor="ctr" rtlCol="false" tIns="0" lIns="0" bIns="0" rIns="0"/>
            <a:lstStyle/>
            <a:p>
              <a:pPr algn="l">
                <a:lnSpc>
                  <a:spcPts val="2250"/>
                </a:lnSpc>
              </a:pPr>
              <a:r>
                <a:rPr lang="en-US" sz="1875">
                  <a:solidFill>
                    <a:srgbClr val="3A2A2E"/>
                  </a:solidFill>
                  <a:latin typeface="Calibri (MS)"/>
                  <a:ea typeface="Calibri (MS)"/>
                  <a:cs typeface="Calibri (MS)"/>
                  <a:sym typeface="Calibri (MS)"/>
                </a:rPr>
                <a:t>Medicine safety verification</a:t>
              </a:r>
            </a:p>
          </p:txBody>
        </p:sp>
      </p:grpSp>
      <p:grpSp>
        <p:nvGrpSpPr>
          <p:cNvPr name="Group 48" id="48"/>
          <p:cNvGrpSpPr/>
          <p:nvPr/>
        </p:nvGrpSpPr>
        <p:grpSpPr>
          <a:xfrm rot="0">
            <a:off x="1440180" y="7475220"/>
            <a:ext cx="466344" cy="466344"/>
            <a:chOff x="0" y="0"/>
            <a:chExt cx="621792" cy="621792"/>
          </a:xfrm>
        </p:grpSpPr>
        <p:sp>
          <p:nvSpPr>
            <p:cNvPr name="Freeform 49" id="49"/>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84B59F"/>
            </a:solidFill>
          </p:spPr>
        </p:sp>
      </p:grpSp>
      <p:grpSp>
        <p:nvGrpSpPr>
          <p:cNvPr name="Group 50" id="50"/>
          <p:cNvGrpSpPr/>
          <p:nvPr/>
        </p:nvGrpSpPr>
        <p:grpSpPr>
          <a:xfrm rot="0">
            <a:off x="1552099" y="7587139"/>
            <a:ext cx="242497" cy="242497"/>
            <a:chOff x="0" y="0"/>
            <a:chExt cx="323329" cy="323329"/>
          </a:xfrm>
        </p:grpSpPr>
        <p:sp>
          <p:nvSpPr>
            <p:cNvPr name="Freeform 51" id="51" descr="/home/claude/herbalance/icon_check.png"/>
            <p:cNvSpPr/>
            <p:nvPr/>
          </p:nvSpPr>
          <p:spPr>
            <a:xfrm flipH="false" flipV="false" rot="0">
              <a:off x="0" y="0"/>
              <a:ext cx="323342" cy="323342"/>
            </a:xfrm>
            <a:custGeom>
              <a:avLst/>
              <a:gdLst/>
              <a:ahLst/>
              <a:cxnLst/>
              <a:rect r="r" b="b" t="t" l="l"/>
              <a:pathLst>
                <a:path h="323342" w="323342">
                  <a:moveTo>
                    <a:pt x="0" y="0"/>
                  </a:moveTo>
                  <a:lnTo>
                    <a:pt x="323342" y="0"/>
                  </a:lnTo>
                  <a:lnTo>
                    <a:pt x="323342" y="323342"/>
                  </a:lnTo>
                  <a:lnTo>
                    <a:pt x="0" y="323342"/>
                  </a:lnTo>
                  <a:lnTo>
                    <a:pt x="0" y="0"/>
                  </a:lnTo>
                  <a:close/>
                </a:path>
              </a:pathLst>
            </a:custGeom>
            <a:blipFill>
              <a:blip r:embed="rId4"/>
              <a:stretch>
                <a:fillRect l="0" t="0" r="3" b="3"/>
              </a:stretch>
            </a:blipFill>
          </p:spPr>
        </p:sp>
      </p:grpSp>
      <p:grpSp>
        <p:nvGrpSpPr>
          <p:cNvPr name="Group 52" id="52"/>
          <p:cNvGrpSpPr/>
          <p:nvPr/>
        </p:nvGrpSpPr>
        <p:grpSpPr>
          <a:xfrm rot="0">
            <a:off x="2057400" y="7434072"/>
            <a:ext cx="6583680" cy="617220"/>
            <a:chOff x="0" y="0"/>
            <a:chExt cx="8778240" cy="822960"/>
          </a:xfrm>
        </p:grpSpPr>
        <p:sp>
          <p:nvSpPr>
            <p:cNvPr name="Freeform 53" id="53"/>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54" id="54"/>
            <p:cNvSpPr txBox="true"/>
            <p:nvPr/>
          </p:nvSpPr>
          <p:spPr>
            <a:xfrm>
              <a:off x="0" y="-38100"/>
              <a:ext cx="8778240" cy="861060"/>
            </a:xfrm>
            <a:prstGeom prst="rect">
              <a:avLst/>
            </a:prstGeom>
          </p:spPr>
          <p:txBody>
            <a:bodyPr anchor="ctr" rtlCol="false" tIns="0" lIns="0" bIns="0" rIns="0"/>
            <a:lstStyle/>
            <a:p>
              <a:pPr algn="l">
                <a:lnSpc>
                  <a:spcPts val="2250"/>
                </a:lnSpc>
              </a:pPr>
              <a:r>
                <a:rPr lang="en-US" sz="1875">
                  <a:solidFill>
                    <a:srgbClr val="3A2A2E"/>
                  </a:solidFill>
                  <a:latin typeface="Calibri (MS)"/>
                  <a:ea typeface="Calibri (MS)"/>
                  <a:cs typeface="Calibri (MS)"/>
                  <a:sym typeface="Calibri (MS)"/>
                </a:rPr>
                <a:t>Health record management</a:t>
              </a:r>
            </a:p>
          </p:txBody>
        </p:sp>
      </p:grpSp>
      <p:grpSp>
        <p:nvGrpSpPr>
          <p:cNvPr name="Group 55" id="55"/>
          <p:cNvGrpSpPr/>
          <p:nvPr/>
        </p:nvGrpSpPr>
        <p:grpSpPr>
          <a:xfrm rot="0">
            <a:off x="1440180" y="8229600"/>
            <a:ext cx="466344" cy="466344"/>
            <a:chOff x="0" y="0"/>
            <a:chExt cx="621792" cy="621792"/>
          </a:xfrm>
        </p:grpSpPr>
        <p:sp>
          <p:nvSpPr>
            <p:cNvPr name="Freeform 56" id="56"/>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84B59F"/>
            </a:solidFill>
          </p:spPr>
        </p:sp>
      </p:grpSp>
      <p:grpSp>
        <p:nvGrpSpPr>
          <p:cNvPr name="Group 57" id="57"/>
          <p:cNvGrpSpPr/>
          <p:nvPr/>
        </p:nvGrpSpPr>
        <p:grpSpPr>
          <a:xfrm rot="0">
            <a:off x="1552099" y="8341519"/>
            <a:ext cx="242497" cy="242497"/>
            <a:chOff x="0" y="0"/>
            <a:chExt cx="323329" cy="323329"/>
          </a:xfrm>
        </p:grpSpPr>
        <p:sp>
          <p:nvSpPr>
            <p:cNvPr name="Freeform 58" id="58" descr="/home/claude/herbalance/icon_check.png"/>
            <p:cNvSpPr/>
            <p:nvPr/>
          </p:nvSpPr>
          <p:spPr>
            <a:xfrm flipH="false" flipV="false" rot="0">
              <a:off x="0" y="0"/>
              <a:ext cx="323342" cy="323342"/>
            </a:xfrm>
            <a:custGeom>
              <a:avLst/>
              <a:gdLst/>
              <a:ahLst/>
              <a:cxnLst/>
              <a:rect r="r" b="b" t="t" l="l"/>
              <a:pathLst>
                <a:path h="323342" w="323342">
                  <a:moveTo>
                    <a:pt x="0" y="0"/>
                  </a:moveTo>
                  <a:lnTo>
                    <a:pt x="323342" y="0"/>
                  </a:lnTo>
                  <a:lnTo>
                    <a:pt x="323342" y="323342"/>
                  </a:lnTo>
                  <a:lnTo>
                    <a:pt x="0" y="323342"/>
                  </a:lnTo>
                  <a:lnTo>
                    <a:pt x="0" y="0"/>
                  </a:lnTo>
                  <a:close/>
                </a:path>
              </a:pathLst>
            </a:custGeom>
            <a:blipFill>
              <a:blip r:embed="rId4"/>
              <a:stretch>
                <a:fillRect l="0" t="0" r="3" b="3"/>
              </a:stretch>
            </a:blipFill>
          </p:spPr>
        </p:sp>
      </p:grpSp>
      <p:grpSp>
        <p:nvGrpSpPr>
          <p:cNvPr name="Group 59" id="59"/>
          <p:cNvGrpSpPr/>
          <p:nvPr/>
        </p:nvGrpSpPr>
        <p:grpSpPr>
          <a:xfrm rot="0">
            <a:off x="2057400" y="8188452"/>
            <a:ext cx="6583680" cy="617220"/>
            <a:chOff x="0" y="0"/>
            <a:chExt cx="8778240" cy="822960"/>
          </a:xfrm>
        </p:grpSpPr>
        <p:sp>
          <p:nvSpPr>
            <p:cNvPr name="Freeform 60" id="60"/>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61" id="61"/>
            <p:cNvSpPr txBox="true"/>
            <p:nvPr/>
          </p:nvSpPr>
          <p:spPr>
            <a:xfrm>
              <a:off x="0" y="-38100"/>
              <a:ext cx="8778240" cy="861060"/>
            </a:xfrm>
            <a:prstGeom prst="rect">
              <a:avLst/>
            </a:prstGeom>
          </p:spPr>
          <p:txBody>
            <a:bodyPr anchor="ctr" rtlCol="false" tIns="0" lIns="0" bIns="0" rIns="0"/>
            <a:lstStyle/>
            <a:p>
              <a:pPr algn="l">
                <a:lnSpc>
                  <a:spcPts val="2250"/>
                </a:lnSpc>
              </a:pPr>
              <a:r>
                <a:rPr lang="en-US" sz="1875">
                  <a:solidFill>
                    <a:srgbClr val="3A2A2E"/>
                  </a:solidFill>
                  <a:latin typeface="Calibri (MS)"/>
                  <a:ea typeface="Calibri (MS)"/>
                  <a:cs typeface="Calibri (MS)"/>
                  <a:sym typeface="Calibri (MS)"/>
                </a:rPr>
                <a:t>Personalized health insights</a:t>
              </a:r>
            </a:p>
          </p:txBody>
        </p:sp>
      </p:grpSp>
      <p:grpSp>
        <p:nvGrpSpPr>
          <p:cNvPr name="Group 62" id="62"/>
          <p:cNvGrpSpPr/>
          <p:nvPr/>
        </p:nvGrpSpPr>
        <p:grpSpPr>
          <a:xfrm rot="0">
            <a:off x="9395460" y="2537460"/>
            <a:ext cx="7886700" cy="6858000"/>
            <a:chOff x="0" y="0"/>
            <a:chExt cx="10515600" cy="9144000"/>
          </a:xfrm>
        </p:grpSpPr>
        <p:sp>
          <p:nvSpPr>
            <p:cNvPr name="Freeform 63" id="63"/>
            <p:cNvSpPr/>
            <p:nvPr/>
          </p:nvSpPr>
          <p:spPr>
            <a:xfrm flipH="false" flipV="false" rot="0">
              <a:off x="0" y="0"/>
              <a:ext cx="10515600" cy="9144000"/>
            </a:xfrm>
            <a:custGeom>
              <a:avLst/>
              <a:gdLst/>
              <a:ahLst/>
              <a:cxnLst/>
              <a:rect r="r" b="b" t="t" l="l"/>
              <a:pathLst>
                <a:path h="9144000" w="10515600">
                  <a:moveTo>
                    <a:pt x="0" y="182880"/>
                  </a:moveTo>
                  <a:cubicBezTo>
                    <a:pt x="0" y="81915"/>
                    <a:pt x="81915" y="0"/>
                    <a:pt x="182880" y="0"/>
                  </a:cubicBezTo>
                  <a:lnTo>
                    <a:pt x="10332720" y="0"/>
                  </a:lnTo>
                  <a:cubicBezTo>
                    <a:pt x="10433685" y="0"/>
                    <a:pt x="10515600" y="81915"/>
                    <a:pt x="10515600" y="182880"/>
                  </a:cubicBezTo>
                  <a:lnTo>
                    <a:pt x="10515600" y="8961120"/>
                  </a:lnTo>
                  <a:cubicBezTo>
                    <a:pt x="10515600" y="9062085"/>
                    <a:pt x="10433685" y="9144000"/>
                    <a:pt x="10332720" y="9144000"/>
                  </a:cubicBezTo>
                  <a:lnTo>
                    <a:pt x="182880" y="9144000"/>
                  </a:lnTo>
                  <a:cubicBezTo>
                    <a:pt x="81915" y="9144000"/>
                    <a:pt x="0" y="9062085"/>
                    <a:pt x="0" y="8961120"/>
                  </a:cubicBezTo>
                  <a:close/>
                </a:path>
              </a:pathLst>
            </a:custGeom>
            <a:solidFill>
              <a:srgbClr val="6D2E46"/>
            </a:solidFill>
          </p:spPr>
        </p:sp>
      </p:grpSp>
      <p:grpSp>
        <p:nvGrpSpPr>
          <p:cNvPr name="Group 64" id="64"/>
          <p:cNvGrpSpPr/>
          <p:nvPr/>
        </p:nvGrpSpPr>
        <p:grpSpPr>
          <a:xfrm rot="0">
            <a:off x="9875520" y="2921508"/>
            <a:ext cx="6926580" cy="617220"/>
            <a:chOff x="0" y="0"/>
            <a:chExt cx="9235440" cy="822960"/>
          </a:xfrm>
        </p:grpSpPr>
        <p:sp>
          <p:nvSpPr>
            <p:cNvPr name="Freeform 65" id="65"/>
            <p:cNvSpPr/>
            <p:nvPr/>
          </p:nvSpPr>
          <p:spPr>
            <a:xfrm flipH="false" flipV="false" rot="0">
              <a:off x="0" y="0"/>
              <a:ext cx="9235440" cy="822960"/>
            </a:xfrm>
            <a:custGeom>
              <a:avLst/>
              <a:gdLst/>
              <a:ahLst/>
              <a:cxnLst/>
              <a:rect r="r" b="b" t="t" l="l"/>
              <a:pathLst>
                <a:path h="822960" w="9235440">
                  <a:moveTo>
                    <a:pt x="0" y="0"/>
                  </a:moveTo>
                  <a:lnTo>
                    <a:pt x="9235440" y="0"/>
                  </a:lnTo>
                  <a:lnTo>
                    <a:pt x="9235440" y="822960"/>
                  </a:lnTo>
                  <a:lnTo>
                    <a:pt x="0" y="822960"/>
                  </a:lnTo>
                  <a:close/>
                </a:path>
              </a:pathLst>
            </a:custGeom>
            <a:blipFill>
              <a:blip r:embed="rId3">
                <a:alphaModFix amt="0"/>
              </a:blip>
              <a:stretch>
                <a:fillRect l="0" t="-168665" r="0" b="-168665"/>
              </a:stretch>
            </a:blipFill>
          </p:spPr>
        </p:sp>
        <p:sp>
          <p:nvSpPr>
            <p:cNvPr name="TextBox 66" id="66"/>
            <p:cNvSpPr txBox="true"/>
            <p:nvPr/>
          </p:nvSpPr>
          <p:spPr>
            <a:xfrm>
              <a:off x="0" y="-57150"/>
              <a:ext cx="9235440" cy="880110"/>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Non-Functional Requirements</a:t>
              </a:r>
            </a:p>
          </p:txBody>
        </p:sp>
      </p:grpSp>
      <p:grpSp>
        <p:nvGrpSpPr>
          <p:cNvPr name="Group 67" id="67"/>
          <p:cNvGrpSpPr/>
          <p:nvPr/>
        </p:nvGrpSpPr>
        <p:grpSpPr>
          <a:xfrm rot="0">
            <a:off x="9875520" y="3703320"/>
            <a:ext cx="466344" cy="466344"/>
            <a:chOff x="0" y="0"/>
            <a:chExt cx="621792" cy="621792"/>
          </a:xfrm>
        </p:grpSpPr>
        <p:sp>
          <p:nvSpPr>
            <p:cNvPr name="Freeform 68" id="68"/>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ECE2D0"/>
            </a:solidFill>
          </p:spPr>
        </p:sp>
      </p:grpSp>
      <p:grpSp>
        <p:nvGrpSpPr>
          <p:cNvPr name="Group 69" id="69"/>
          <p:cNvGrpSpPr/>
          <p:nvPr/>
        </p:nvGrpSpPr>
        <p:grpSpPr>
          <a:xfrm rot="0">
            <a:off x="9987439" y="3815239"/>
            <a:ext cx="242497" cy="242497"/>
            <a:chOff x="0" y="0"/>
            <a:chExt cx="323329" cy="323329"/>
          </a:xfrm>
        </p:grpSpPr>
        <p:sp>
          <p:nvSpPr>
            <p:cNvPr name="Freeform 70" id="70" descr="/home/claude/herbalance/icon_check.png"/>
            <p:cNvSpPr/>
            <p:nvPr/>
          </p:nvSpPr>
          <p:spPr>
            <a:xfrm flipH="false" flipV="false" rot="0">
              <a:off x="0" y="0"/>
              <a:ext cx="323342" cy="323342"/>
            </a:xfrm>
            <a:custGeom>
              <a:avLst/>
              <a:gdLst/>
              <a:ahLst/>
              <a:cxnLst/>
              <a:rect r="r" b="b" t="t" l="l"/>
              <a:pathLst>
                <a:path h="323342" w="323342">
                  <a:moveTo>
                    <a:pt x="0" y="0"/>
                  </a:moveTo>
                  <a:lnTo>
                    <a:pt x="323342" y="0"/>
                  </a:lnTo>
                  <a:lnTo>
                    <a:pt x="323342" y="323342"/>
                  </a:lnTo>
                  <a:lnTo>
                    <a:pt x="0" y="323342"/>
                  </a:lnTo>
                  <a:lnTo>
                    <a:pt x="0" y="0"/>
                  </a:lnTo>
                  <a:close/>
                </a:path>
              </a:pathLst>
            </a:custGeom>
            <a:blipFill>
              <a:blip r:embed="rId4"/>
              <a:stretch>
                <a:fillRect l="0" t="0" r="3" b="3"/>
              </a:stretch>
            </a:blipFill>
          </p:spPr>
        </p:sp>
      </p:grpSp>
      <p:grpSp>
        <p:nvGrpSpPr>
          <p:cNvPr name="Group 71" id="71"/>
          <p:cNvGrpSpPr/>
          <p:nvPr/>
        </p:nvGrpSpPr>
        <p:grpSpPr>
          <a:xfrm rot="0">
            <a:off x="10492740" y="3662172"/>
            <a:ext cx="6583680" cy="617220"/>
            <a:chOff x="0" y="0"/>
            <a:chExt cx="8778240" cy="822960"/>
          </a:xfrm>
        </p:grpSpPr>
        <p:sp>
          <p:nvSpPr>
            <p:cNvPr name="Freeform 72" id="72"/>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73" id="73"/>
            <p:cNvSpPr txBox="true"/>
            <p:nvPr/>
          </p:nvSpPr>
          <p:spPr>
            <a:xfrm>
              <a:off x="0" y="-38100"/>
              <a:ext cx="8778240" cy="86106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High security and privacy</a:t>
              </a:r>
            </a:p>
          </p:txBody>
        </p:sp>
      </p:grpSp>
      <p:grpSp>
        <p:nvGrpSpPr>
          <p:cNvPr name="Group 74" id="74"/>
          <p:cNvGrpSpPr/>
          <p:nvPr/>
        </p:nvGrpSpPr>
        <p:grpSpPr>
          <a:xfrm rot="0">
            <a:off x="9875520" y="4457700"/>
            <a:ext cx="466344" cy="466344"/>
            <a:chOff x="0" y="0"/>
            <a:chExt cx="621792" cy="621792"/>
          </a:xfrm>
        </p:grpSpPr>
        <p:sp>
          <p:nvSpPr>
            <p:cNvPr name="Freeform 75" id="75"/>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ECE2D0"/>
            </a:solidFill>
          </p:spPr>
        </p:sp>
      </p:grpSp>
      <p:grpSp>
        <p:nvGrpSpPr>
          <p:cNvPr name="Group 76" id="76"/>
          <p:cNvGrpSpPr/>
          <p:nvPr/>
        </p:nvGrpSpPr>
        <p:grpSpPr>
          <a:xfrm rot="0">
            <a:off x="9987439" y="4569619"/>
            <a:ext cx="242497" cy="242497"/>
            <a:chOff x="0" y="0"/>
            <a:chExt cx="323329" cy="323329"/>
          </a:xfrm>
        </p:grpSpPr>
        <p:sp>
          <p:nvSpPr>
            <p:cNvPr name="Freeform 77" id="77" descr="/home/claude/herbalance/icon_check.png"/>
            <p:cNvSpPr/>
            <p:nvPr/>
          </p:nvSpPr>
          <p:spPr>
            <a:xfrm flipH="false" flipV="false" rot="0">
              <a:off x="0" y="0"/>
              <a:ext cx="323342" cy="323342"/>
            </a:xfrm>
            <a:custGeom>
              <a:avLst/>
              <a:gdLst/>
              <a:ahLst/>
              <a:cxnLst/>
              <a:rect r="r" b="b" t="t" l="l"/>
              <a:pathLst>
                <a:path h="323342" w="323342">
                  <a:moveTo>
                    <a:pt x="0" y="0"/>
                  </a:moveTo>
                  <a:lnTo>
                    <a:pt x="323342" y="0"/>
                  </a:lnTo>
                  <a:lnTo>
                    <a:pt x="323342" y="323342"/>
                  </a:lnTo>
                  <a:lnTo>
                    <a:pt x="0" y="323342"/>
                  </a:lnTo>
                  <a:lnTo>
                    <a:pt x="0" y="0"/>
                  </a:lnTo>
                  <a:close/>
                </a:path>
              </a:pathLst>
            </a:custGeom>
            <a:blipFill>
              <a:blip r:embed="rId4"/>
              <a:stretch>
                <a:fillRect l="0" t="0" r="3" b="3"/>
              </a:stretch>
            </a:blipFill>
          </p:spPr>
        </p:sp>
      </p:grpSp>
      <p:grpSp>
        <p:nvGrpSpPr>
          <p:cNvPr name="Group 78" id="78"/>
          <p:cNvGrpSpPr/>
          <p:nvPr/>
        </p:nvGrpSpPr>
        <p:grpSpPr>
          <a:xfrm rot="0">
            <a:off x="10492740" y="4416552"/>
            <a:ext cx="6583680" cy="617220"/>
            <a:chOff x="0" y="0"/>
            <a:chExt cx="8778240" cy="822960"/>
          </a:xfrm>
        </p:grpSpPr>
        <p:sp>
          <p:nvSpPr>
            <p:cNvPr name="Freeform 79" id="79"/>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80" id="80"/>
            <p:cNvSpPr txBox="true"/>
            <p:nvPr/>
          </p:nvSpPr>
          <p:spPr>
            <a:xfrm>
              <a:off x="0" y="-38100"/>
              <a:ext cx="8778240" cy="86106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Fast response time</a:t>
              </a:r>
            </a:p>
          </p:txBody>
        </p:sp>
      </p:grpSp>
      <p:grpSp>
        <p:nvGrpSpPr>
          <p:cNvPr name="Group 81" id="81"/>
          <p:cNvGrpSpPr/>
          <p:nvPr/>
        </p:nvGrpSpPr>
        <p:grpSpPr>
          <a:xfrm rot="0">
            <a:off x="9875520" y="5212080"/>
            <a:ext cx="466344" cy="466344"/>
            <a:chOff x="0" y="0"/>
            <a:chExt cx="621792" cy="621792"/>
          </a:xfrm>
        </p:grpSpPr>
        <p:sp>
          <p:nvSpPr>
            <p:cNvPr name="Freeform 82" id="82"/>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ECE2D0"/>
            </a:solidFill>
          </p:spPr>
        </p:sp>
      </p:grpSp>
      <p:grpSp>
        <p:nvGrpSpPr>
          <p:cNvPr name="Group 83" id="83"/>
          <p:cNvGrpSpPr/>
          <p:nvPr/>
        </p:nvGrpSpPr>
        <p:grpSpPr>
          <a:xfrm rot="0">
            <a:off x="9987439" y="5323999"/>
            <a:ext cx="242497" cy="242497"/>
            <a:chOff x="0" y="0"/>
            <a:chExt cx="323329" cy="323329"/>
          </a:xfrm>
        </p:grpSpPr>
        <p:sp>
          <p:nvSpPr>
            <p:cNvPr name="Freeform 84" id="84" descr="/home/claude/herbalance/icon_check.png"/>
            <p:cNvSpPr/>
            <p:nvPr/>
          </p:nvSpPr>
          <p:spPr>
            <a:xfrm flipH="false" flipV="false" rot="0">
              <a:off x="0" y="0"/>
              <a:ext cx="323342" cy="323342"/>
            </a:xfrm>
            <a:custGeom>
              <a:avLst/>
              <a:gdLst/>
              <a:ahLst/>
              <a:cxnLst/>
              <a:rect r="r" b="b" t="t" l="l"/>
              <a:pathLst>
                <a:path h="323342" w="323342">
                  <a:moveTo>
                    <a:pt x="0" y="0"/>
                  </a:moveTo>
                  <a:lnTo>
                    <a:pt x="323342" y="0"/>
                  </a:lnTo>
                  <a:lnTo>
                    <a:pt x="323342" y="323342"/>
                  </a:lnTo>
                  <a:lnTo>
                    <a:pt x="0" y="323342"/>
                  </a:lnTo>
                  <a:lnTo>
                    <a:pt x="0" y="0"/>
                  </a:lnTo>
                  <a:close/>
                </a:path>
              </a:pathLst>
            </a:custGeom>
            <a:blipFill>
              <a:blip r:embed="rId4"/>
              <a:stretch>
                <a:fillRect l="0" t="0" r="3" b="3"/>
              </a:stretch>
            </a:blipFill>
          </p:spPr>
        </p:sp>
      </p:grpSp>
      <p:grpSp>
        <p:nvGrpSpPr>
          <p:cNvPr name="Group 85" id="85"/>
          <p:cNvGrpSpPr/>
          <p:nvPr/>
        </p:nvGrpSpPr>
        <p:grpSpPr>
          <a:xfrm rot="0">
            <a:off x="10492740" y="5170932"/>
            <a:ext cx="6583680" cy="617220"/>
            <a:chOff x="0" y="0"/>
            <a:chExt cx="8778240" cy="822960"/>
          </a:xfrm>
        </p:grpSpPr>
        <p:sp>
          <p:nvSpPr>
            <p:cNvPr name="Freeform 86" id="86"/>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87" id="87"/>
            <p:cNvSpPr txBox="true"/>
            <p:nvPr/>
          </p:nvSpPr>
          <p:spPr>
            <a:xfrm>
              <a:off x="0" y="-38100"/>
              <a:ext cx="8778240" cy="86106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Scalability</a:t>
              </a:r>
            </a:p>
          </p:txBody>
        </p:sp>
      </p:grpSp>
      <p:grpSp>
        <p:nvGrpSpPr>
          <p:cNvPr name="Group 88" id="88"/>
          <p:cNvGrpSpPr/>
          <p:nvPr/>
        </p:nvGrpSpPr>
        <p:grpSpPr>
          <a:xfrm rot="0">
            <a:off x="9875520" y="5966460"/>
            <a:ext cx="466344" cy="466344"/>
            <a:chOff x="0" y="0"/>
            <a:chExt cx="621792" cy="621792"/>
          </a:xfrm>
        </p:grpSpPr>
        <p:sp>
          <p:nvSpPr>
            <p:cNvPr name="Freeform 89" id="89"/>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ECE2D0"/>
            </a:solidFill>
          </p:spPr>
        </p:sp>
      </p:grpSp>
      <p:grpSp>
        <p:nvGrpSpPr>
          <p:cNvPr name="Group 90" id="90"/>
          <p:cNvGrpSpPr/>
          <p:nvPr/>
        </p:nvGrpSpPr>
        <p:grpSpPr>
          <a:xfrm rot="0">
            <a:off x="9987439" y="6078379"/>
            <a:ext cx="242497" cy="242497"/>
            <a:chOff x="0" y="0"/>
            <a:chExt cx="323329" cy="323329"/>
          </a:xfrm>
        </p:grpSpPr>
        <p:sp>
          <p:nvSpPr>
            <p:cNvPr name="Freeform 91" id="91" descr="/home/claude/herbalance/icon_check.png"/>
            <p:cNvSpPr/>
            <p:nvPr/>
          </p:nvSpPr>
          <p:spPr>
            <a:xfrm flipH="false" flipV="false" rot="0">
              <a:off x="0" y="0"/>
              <a:ext cx="323342" cy="323342"/>
            </a:xfrm>
            <a:custGeom>
              <a:avLst/>
              <a:gdLst/>
              <a:ahLst/>
              <a:cxnLst/>
              <a:rect r="r" b="b" t="t" l="l"/>
              <a:pathLst>
                <a:path h="323342" w="323342">
                  <a:moveTo>
                    <a:pt x="0" y="0"/>
                  </a:moveTo>
                  <a:lnTo>
                    <a:pt x="323342" y="0"/>
                  </a:lnTo>
                  <a:lnTo>
                    <a:pt x="323342" y="323342"/>
                  </a:lnTo>
                  <a:lnTo>
                    <a:pt x="0" y="323342"/>
                  </a:lnTo>
                  <a:lnTo>
                    <a:pt x="0" y="0"/>
                  </a:lnTo>
                  <a:close/>
                </a:path>
              </a:pathLst>
            </a:custGeom>
            <a:blipFill>
              <a:blip r:embed="rId4"/>
              <a:stretch>
                <a:fillRect l="0" t="0" r="3" b="3"/>
              </a:stretch>
            </a:blipFill>
          </p:spPr>
        </p:sp>
      </p:grpSp>
      <p:grpSp>
        <p:nvGrpSpPr>
          <p:cNvPr name="Group 92" id="92"/>
          <p:cNvGrpSpPr/>
          <p:nvPr/>
        </p:nvGrpSpPr>
        <p:grpSpPr>
          <a:xfrm rot="0">
            <a:off x="10492740" y="5925312"/>
            <a:ext cx="6583680" cy="617220"/>
            <a:chOff x="0" y="0"/>
            <a:chExt cx="8778240" cy="822960"/>
          </a:xfrm>
        </p:grpSpPr>
        <p:sp>
          <p:nvSpPr>
            <p:cNvPr name="Freeform 93" id="93"/>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94" id="94"/>
            <p:cNvSpPr txBox="true"/>
            <p:nvPr/>
          </p:nvSpPr>
          <p:spPr>
            <a:xfrm>
              <a:off x="0" y="-38100"/>
              <a:ext cx="8778240" cy="86106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User-friendly interface</a:t>
              </a:r>
            </a:p>
          </p:txBody>
        </p:sp>
      </p:grpSp>
      <p:grpSp>
        <p:nvGrpSpPr>
          <p:cNvPr name="Group 95" id="95"/>
          <p:cNvGrpSpPr/>
          <p:nvPr/>
        </p:nvGrpSpPr>
        <p:grpSpPr>
          <a:xfrm rot="0">
            <a:off x="9875520" y="6720840"/>
            <a:ext cx="466344" cy="466344"/>
            <a:chOff x="0" y="0"/>
            <a:chExt cx="621792" cy="621792"/>
          </a:xfrm>
        </p:grpSpPr>
        <p:sp>
          <p:nvSpPr>
            <p:cNvPr name="Freeform 96" id="96"/>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ECE2D0"/>
            </a:solidFill>
          </p:spPr>
        </p:sp>
      </p:grpSp>
      <p:grpSp>
        <p:nvGrpSpPr>
          <p:cNvPr name="Group 97" id="97"/>
          <p:cNvGrpSpPr/>
          <p:nvPr/>
        </p:nvGrpSpPr>
        <p:grpSpPr>
          <a:xfrm rot="0">
            <a:off x="9987439" y="6832759"/>
            <a:ext cx="242497" cy="242497"/>
            <a:chOff x="0" y="0"/>
            <a:chExt cx="323329" cy="323329"/>
          </a:xfrm>
        </p:grpSpPr>
        <p:sp>
          <p:nvSpPr>
            <p:cNvPr name="Freeform 98" id="98" descr="/home/claude/herbalance/icon_check.png"/>
            <p:cNvSpPr/>
            <p:nvPr/>
          </p:nvSpPr>
          <p:spPr>
            <a:xfrm flipH="false" flipV="false" rot="0">
              <a:off x="0" y="0"/>
              <a:ext cx="323342" cy="323342"/>
            </a:xfrm>
            <a:custGeom>
              <a:avLst/>
              <a:gdLst/>
              <a:ahLst/>
              <a:cxnLst/>
              <a:rect r="r" b="b" t="t" l="l"/>
              <a:pathLst>
                <a:path h="323342" w="323342">
                  <a:moveTo>
                    <a:pt x="0" y="0"/>
                  </a:moveTo>
                  <a:lnTo>
                    <a:pt x="323342" y="0"/>
                  </a:lnTo>
                  <a:lnTo>
                    <a:pt x="323342" y="323342"/>
                  </a:lnTo>
                  <a:lnTo>
                    <a:pt x="0" y="323342"/>
                  </a:lnTo>
                  <a:lnTo>
                    <a:pt x="0" y="0"/>
                  </a:lnTo>
                  <a:close/>
                </a:path>
              </a:pathLst>
            </a:custGeom>
            <a:blipFill>
              <a:blip r:embed="rId4"/>
              <a:stretch>
                <a:fillRect l="0" t="0" r="3" b="3"/>
              </a:stretch>
            </a:blipFill>
          </p:spPr>
        </p:sp>
      </p:grpSp>
      <p:grpSp>
        <p:nvGrpSpPr>
          <p:cNvPr name="Group 99" id="99"/>
          <p:cNvGrpSpPr/>
          <p:nvPr/>
        </p:nvGrpSpPr>
        <p:grpSpPr>
          <a:xfrm rot="0">
            <a:off x="10492740" y="6679692"/>
            <a:ext cx="6583680" cy="617220"/>
            <a:chOff x="0" y="0"/>
            <a:chExt cx="8778240" cy="822960"/>
          </a:xfrm>
        </p:grpSpPr>
        <p:sp>
          <p:nvSpPr>
            <p:cNvPr name="Freeform 100" id="100"/>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101" id="101"/>
            <p:cNvSpPr txBox="true"/>
            <p:nvPr/>
          </p:nvSpPr>
          <p:spPr>
            <a:xfrm>
              <a:off x="0" y="-38100"/>
              <a:ext cx="8778240" cy="86106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High availability</a:t>
              </a:r>
            </a:p>
          </p:txBody>
        </p:sp>
      </p:grpSp>
      <p:grpSp>
        <p:nvGrpSpPr>
          <p:cNvPr name="Group 102" id="102"/>
          <p:cNvGrpSpPr/>
          <p:nvPr/>
        </p:nvGrpSpPr>
        <p:grpSpPr>
          <a:xfrm rot="0">
            <a:off x="9875520" y="7475220"/>
            <a:ext cx="466344" cy="466344"/>
            <a:chOff x="0" y="0"/>
            <a:chExt cx="621792" cy="621792"/>
          </a:xfrm>
        </p:grpSpPr>
        <p:sp>
          <p:nvSpPr>
            <p:cNvPr name="Freeform 103" id="103"/>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ECE2D0"/>
            </a:solidFill>
          </p:spPr>
        </p:sp>
      </p:grpSp>
      <p:grpSp>
        <p:nvGrpSpPr>
          <p:cNvPr name="Group 104" id="104"/>
          <p:cNvGrpSpPr/>
          <p:nvPr/>
        </p:nvGrpSpPr>
        <p:grpSpPr>
          <a:xfrm rot="0">
            <a:off x="9987439" y="7587139"/>
            <a:ext cx="242497" cy="242497"/>
            <a:chOff x="0" y="0"/>
            <a:chExt cx="323329" cy="323329"/>
          </a:xfrm>
        </p:grpSpPr>
        <p:sp>
          <p:nvSpPr>
            <p:cNvPr name="Freeform 105" id="105" descr="/home/claude/herbalance/icon_check.png"/>
            <p:cNvSpPr/>
            <p:nvPr/>
          </p:nvSpPr>
          <p:spPr>
            <a:xfrm flipH="false" flipV="false" rot="0">
              <a:off x="0" y="0"/>
              <a:ext cx="323342" cy="323342"/>
            </a:xfrm>
            <a:custGeom>
              <a:avLst/>
              <a:gdLst/>
              <a:ahLst/>
              <a:cxnLst/>
              <a:rect r="r" b="b" t="t" l="l"/>
              <a:pathLst>
                <a:path h="323342" w="323342">
                  <a:moveTo>
                    <a:pt x="0" y="0"/>
                  </a:moveTo>
                  <a:lnTo>
                    <a:pt x="323342" y="0"/>
                  </a:lnTo>
                  <a:lnTo>
                    <a:pt x="323342" y="323342"/>
                  </a:lnTo>
                  <a:lnTo>
                    <a:pt x="0" y="323342"/>
                  </a:lnTo>
                  <a:lnTo>
                    <a:pt x="0" y="0"/>
                  </a:lnTo>
                  <a:close/>
                </a:path>
              </a:pathLst>
            </a:custGeom>
            <a:blipFill>
              <a:blip r:embed="rId4"/>
              <a:stretch>
                <a:fillRect l="0" t="0" r="3" b="3"/>
              </a:stretch>
            </a:blipFill>
          </p:spPr>
        </p:sp>
      </p:grpSp>
      <p:grpSp>
        <p:nvGrpSpPr>
          <p:cNvPr name="Group 106" id="106"/>
          <p:cNvGrpSpPr/>
          <p:nvPr/>
        </p:nvGrpSpPr>
        <p:grpSpPr>
          <a:xfrm rot="0">
            <a:off x="10492740" y="7434072"/>
            <a:ext cx="6583680" cy="617220"/>
            <a:chOff x="0" y="0"/>
            <a:chExt cx="8778240" cy="822960"/>
          </a:xfrm>
        </p:grpSpPr>
        <p:sp>
          <p:nvSpPr>
            <p:cNvPr name="Freeform 107" id="107"/>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108" id="108"/>
            <p:cNvSpPr txBox="true"/>
            <p:nvPr/>
          </p:nvSpPr>
          <p:spPr>
            <a:xfrm>
              <a:off x="0" y="-38100"/>
              <a:ext cx="8778240" cy="86106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Reliability</a:t>
              </a:r>
            </a:p>
          </p:txBody>
        </p:sp>
      </p:grpSp>
      <p:grpSp>
        <p:nvGrpSpPr>
          <p:cNvPr name="Group 109" id="109"/>
          <p:cNvGrpSpPr/>
          <p:nvPr/>
        </p:nvGrpSpPr>
        <p:grpSpPr>
          <a:xfrm rot="0">
            <a:off x="9875520" y="8229600"/>
            <a:ext cx="466344" cy="466344"/>
            <a:chOff x="0" y="0"/>
            <a:chExt cx="621792" cy="621792"/>
          </a:xfrm>
        </p:grpSpPr>
        <p:sp>
          <p:nvSpPr>
            <p:cNvPr name="Freeform 110" id="110"/>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ECE2D0"/>
            </a:solidFill>
          </p:spPr>
        </p:sp>
      </p:grpSp>
      <p:grpSp>
        <p:nvGrpSpPr>
          <p:cNvPr name="Group 111" id="111"/>
          <p:cNvGrpSpPr/>
          <p:nvPr/>
        </p:nvGrpSpPr>
        <p:grpSpPr>
          <a:xfrm rot="0">
            <a:off x="9987439" y="8341519"/>
            <a:ext cx="242497" cy="242497"/>
            <a:chOff x="0" y="0"/>
            <a:chExt cx="323329" cy="323329"/>
          </a:xfrm>
        </p:grpSpPr>
        <p:sp>
          <p:nvSpPr>
            <p:cNvPr name="Freeform 112" id="112" descr="/home/claude/herbalance/icon_check.png"/>
            <p:cNvSpPr/>
            <p:nvPr/>
          </p:nvSpPr>
          <p:spPr>
            <a:xfrm flipH="false" flipV="false" rot="0">
              <a:off x="0" y="0"/>
              <a:ext cx="323342" cy="323342"/>
            </a:xfrm>
            <a:custGeom>
              <a:avLst/>
              <a:gdLst/>
              <a:ahLst/>
              <a:cxnLst/>
              <a:rect r="r" b="b" t="t" l="l"/>
              <a:pathLst>
                <a:path h="323342" w="323342">
                  <a:moveTo>
                    <a:pt x="0" y="0"/>
                  </a:moveTo>
                  <a:lnTo>
                    <a:pt x="323342" y="0"/>
                  </a:lnTo>
                  <a:lnTo>
                    <a:pt x="323342" y="323342"/>
                  </a:lnTo>
                  <a:lnTo>
                    <a:pt x="0" y="323342"/>
                  </a:lnTo>
                  <a:lnTo>
                    <a:pt x="0" y="0"/>
                  </a:lnTo>
                  <a:close/>
                </a:path>
              </a:pathLst>
            </a:custGeom>
            <a:blipFill>
              <a:blip r:embed="rId4"/>
              <a:stretch>
                <a:fillRect l="0" t="0" r="3" b="3"/>
              </a:stretch>
            </a:blipFill>
          </p:spPr>
        </p:sp>
      </p:grpSp>
      <p:grpSp>
        <p:nvGrpSpPr>
          <p:cNvPr name="Group 113" id="113"/>
          <p:cNvGrpSpPr/>
          <p:nvPr/>
        </p:nvGrpSpPr>
        <p:grpSpPr>
          <a:xfrm rot="0">
            <a:off x="10492740" y="8188452"/>
            <a:ext cx="6583680" cy="617220"/>
            <a:chOff x="0" y="0"/>
            <a:chExt cx="8778240" cy="822960"/>
          </a:xfrm>
        </p:grpSpPr>
        <p:sp>
          <p:nvSpPr>
            <p:cNvPr name="Freeform 114" id="114"/>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840" r="0" b="-157840"/>
              </a:stretch>
            </a:blipFill>
          </p:spPr>
        </p:sp>
        <p:sp>
          <p:nvSpPr>
            <p:cNvPr name="TextBox 115" id="115"/>
            <p:cNvSpPr txBox="true"/>
            <p:nvPr/>
          </p:nvSpPr>
          <p:spPr>
            <a:xfrm>
              <a:off x="0" y="-38100"/>
              <a:ext cx="8778240" cy="86106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Cross-platform compatibility</a:t>
              </a:r>
            </a:p>
          </p:txBody>
        </p:sp>
      </p:grpSp>
      <p:grpSp>
        <p:nvGrpSpPr>
          <p:cNvPr name="Group 116" id="116"/>
          <p:cNvGrpSpPr/>
          <p:nvPr/>
        </p:nvGrpSpPr>
        <p:grpSpPr>
          <a:xfrm rot="0">
            <a:off x="17048988" y="9532620"/>
            <a:ext cx="822960" cy="480060"/>
            <a:chOff x="0" y="0"/>
            <a:chExt cx="1097280" cy="640080"/>
          </a:xfrm>
        </p:grpSpPr>
        <p:sp>
          <p:nvSpPr>
            <p:cNvPr name="Freeform 117" id="117"/>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3">
                <a:alphaModFix amt="0"/>
              </a:blip>
              <a:stretch>
                <a:fillRect l="-24843" t="0" r="-24843" b="0"/>
              </a:stretch>
            </a:blipFill>
          </p:spPr>
        </p:sp>
        <p:sp>
          <p:nvSpPr>
            <p:cNvPr name="TextBox 118" id="118"/>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8A7478"/>
                  </a:solidFill>
                  <a:latin typeface="Calibri (MS)"/>
                  <a:ea typeface="Calibri (MS)"/>
                  <a:cs typeface="Calibri (MS)"/>
                  <a:sym typeface="Calibri (MS)"/>
                </a:rPr>
                <a:t>07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CE2D0"/>
        </a:solidFill>
      </p:bgPr>
    </p:bg>
    <p:spTree>
      <p:nvGrpSpPr>
        <p:cNvPr id="1" name=""/>
        <p:cNvGrpSpPr/>
        <p:nvPr/>
      </p:nvGrpSpPr>
      <p:grpSpPr>
        <a:xfrm>
          <a:off x="0" y="0"/>
          <a:ext cx="0" cy="0"/>
          <a:chOff x="0" y="0"/>
          <a:chExt cx="0" cy="0"/>
        </a:xfrm>
      </p:grpSpPr>
      <p:grpSp>
        <p:nvGrpSpPr>
          <p:cNvPr name="Group 2" id="2"/>
          <p:cNvGrpSpPr/>
          <p:nvPr/>
        </p:nvGrpSpPr>
        <p:grpSpPr>
          <a:xfrm rot="0">
            <a:off x="960120" y="685800"/>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38100"/>
              <a:ext cx="14630400" cy="678180"/>
            </a:xfrm>
            <a:prstGeom prst="rect">
              <a:avLst/>
            </a:prstGeom>
          </p:spPr>
          <p:txBody>
            <a:bodyPr anchor="ctr" rtlCol="false" tIns="0" lIns="0" bIns="0" rIns="0"/>
            <a:lstStyle/>
            <a:p>
              <a:pPr algn="l">
                <a:lnSpc>
                  <a:spcPts val="2160"/>
                </a:lnSpc>
              </a:pPr>
              <a:r>
                <a:rPr lang="en-US" b="true" sz="1800" spc="299">
                  <a:solidFill>
                    <a:srgbClr val="6D2E46"/>
                  </a:solidFill>
                  <a:latin typeface="Calibri (MS) Bold"/>
                  <a:ea typeface="Calibri (MS) Bold"/>
                  <a:cs typeface="Calibri (MS) Bold"/>
                  <a:sym typeface="Calibri (MS) Bold"/>
                </a:rPr>
                <a:t>WHAT'S NEXT</a:t>
              </a:r>
            </a:p>
          </p:txBody>
        </p:sp>
      </p:grpSp>
      <p:grpSp>
        <p:nvGrpSpPr>
          <p:cNvPr name="Group 5" id="5"/>
          <p:cNvGrpSpPr/>
          <p:nvPr/>
        </p:nvGrpSpPr>
        <p:grpSpPr>
          <a:xfrm rot="0">
            <a:off x="960120" y="1124712"/>
            <a:ext cx="12344400" cy="960120"/>
            <a:chOff x="0" y="0"/>
            <a:chExt cx="16459200" cy="1280160"/>
          </a:xfrm>
        </p:grpSpPr>
        <p:sp>
          <p:nvSpPr>
            <p:cNvPr name="Freeform 6" id="6"/>
            <p:cNvSpPr/>
            <p:nvPr/>
          </p:nvSpPr>
          <p:spPr>
            <a:xfrm flipH="false" flipV="false" rot="0">
              <a:off x="0" y="0"/>
              <a:ext cx="16459200" cy="1280160"/>
            </a:xfrm>
            <a:custGeom>
              <a:avLst/>
              <a:gdLst/>
              <a:ahLst/>
              <a:cxnLst/>
              <a:rect r="r" b="b" t="t" l="l"/>
              <a:pathLst>
                <a:path h="1280160" w="16459200">
                  <a:moveTo>
                    <a:pt x="0" y="0"/>
                  </a:moveTo>
                  <a:lnTo>
                    <a:pt x="16459200" y="0"/>
                  </a:lnTo>
                  <a:lnTo>
                    <a:pt x="16459200" y="1280160"/>
                  </a:lnTo>
                  <a:lnTo>
                    <a:pt x="0" y="1280160"/>
                  </a:lnTo>
                  <a:close/>
                </a:path>
              </a:pathLst>
            </a:custGeom>
            <a:blipFill>
              <a:blip r:embed="rId3">
                <a:alphaModFix amt="0"/>
              </a:blip>
              <a:stretch>
                <a:fillRect l="0" t="-200521" r="0" b="-200521"/>
              </a:stretch>
            </a:blipFill>
          </p:spPr>
        </p:sp>
        <p:sp>
          <p:nvSpPr>
            <p:cNvPr name="TextBox 7" id="7"/>
            <p:cNvSpPr txBox="true"/>
            <p:nvPr/>
          </p:nvSpPr>
          <p:spPr>
            <a:xfrm>
              <a:off x="0" y="-9525"/>
              <a:ext cx="16459200" cy="1289685"/>
            </a:xfrm>
            <a:prstGeom prst="rect">
              <a:avLst/>
            </a:prstGeom>
          </p:spPr>
          <p:txBody>
            <a:bodyPr anchor="ctr" rtlCol="false" tIns="0" lIns="0" bIns="0" rIns="0"/>
            <a:lstStyle/>
            <a:p>
              <a:pPr algn="l">
                <a:lnSpc>
                  <a:spcPts val="6120"/>
                </a:lnSpc>
              </a:pPr>
              <a:r>
                <a:rPr lang="en-US" sz="5100" b="true">
                  <a:solidFill>
                    <a:srgbClr val="3A2A2E"/>
                  </a:solidFill>
                  <a:latin typeface="Cambria Bold"/>
                  <a:ea typeface="Cambria Bold"/>
                  <a:cs typeface="Cambria Bold"/>
                  <a:sym typeface="Cambria Bold"/>
                </a:rPr>
                <a:t>Future Scope</a:t>
              </a:r>
            </a:p>
          </p:txBody>
        </p:sp>
      </p:grpSp>
      <p:grpSp>
        <p:nvGrpSpPr>
          <p:cNvPr name="Group 8" id="8"/>
          <p:cNvGrpSpPr/>
          <p:nvPr/>
        </p:nvGrpSpPr>
        <p:grpSpPr>
          <a:xfrm rot="0">
            <a:off x="960120" y="2537460"/>
            <a:ext cx="3881628" cy="2948940"/>
            <a:chOff x="0" y="0"/>
            <a:chExt cx="5175504" cy="3931920"/>
          </a:xfrm>
        </p:grpSpPr>
        <p:sp>
          <p:nvSpPr>
            <p:cNvPr name="Freeform 9" id="9"/>
            <p:cNvSpPr/>
            <p:nvPr/>
          </p:nvSpPr>
          <p:spPr>
            <a:xfrm flipH="false" flipV="false" rot="0">
              <a:off x="0" y="0"/>
              <a:ext cx="5175504" cy="3931920"/>
            </a:xfrm>
            <a:custGeom>
              <a:avLst/>
              <a:gdLst/>
              <a:ahLst/>
              <a:cxnLst/>
              <a:rect r="r" b="b" t="t" l="l"/>
              <a:pathLst>
                <a:path h="3931920" w="5175504">
                  <a:moveTo>
                    <a:pt x="0" y="164592"/>
                  </a:moveTo>
                  <a:cubicBezTo>
                    <a:pt x="0" y="73660"/>
                    <a:pt x="73660" y="0"/>
                    <a:pt x="164592" y="0"/>
                  </a:cubicBezTo>
                  <a:lnTo>
                    <a:pt x="5010912" y="0"/>
                  </a:lnTo>
                  <a:cubicBezTo>
                    <a:pt x="5101844" y="0"/>
                    <a:pt x="5175504" y="73660"/>
                    <a:pt x="5175504" y="164592"/>
                  </a:cubicBezTo>
                  <a:lnTo>
                    <a:pt x="5175504" y="3767328"/>
                  </a:lnTo>
                  <a:cubicBezTo>
                    <a:pt x="5175504" y="3858260"/>
                    <a:pt x="5101844" y="3931920"/>
                    <a:pt x="5010912" y="3931920"/>
                  </a:cubicBezTo>
                  <a:lnTo>
                    <a:pt x="164592" y="3931920"/>
                  </a:lnTo>
                  <a:cubicBezTo>
                    <a:pt x="73660" y="3931920"/>
                    <a:pt x="0" y="3858260"/>
                    <a:pt x="0" y="3767328"/>
                  </a:cubicBezTo>
                  <a:close/>
                </a:path>
              </a:pathLst>
            </a:custGeom>
            <a:solidFill>
              <a:srgbClr val="FFFFFF"/>
            </a:solidFill>
          </p:spPr>
        </p:sp>
      </p:grpSp>
      <p:grpSp>
        <p:nvGrpSpPr>
          <p:cNvPr name="Group 10" id="10"/>
          <p:cNvGrpSpPr/>
          <p:nvPr/>
        </p:nvGrpSpPr>
        <p:grpSpPr>
          <a:xfrm rot="0">
            <a:off x="2352294" y="2921508"/>
            <a:ext cx="1097280" cy="1097280"/>
            <a:chOff x="0" y="0"/>
            <a:chExt cx="1463040" cy="1463040"/>
          </a:xfrm>
        </p:grpSpPr>
        <p:sp>
          <p:nvSpPr>
            <p:cNvPr name="Freeform 11" id="11"/>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6D2E46"/>
            </a:solidFill>
          </p:spPr>
        </p:sp>
      </p:grpSp>
      <p:grpSp>
        <p:nvGrpSpPr>
          <p:cNvPr name="Group 12" id="12"/>
          <p:cNvGrpSpPr/>
          <p:nvPr/>
        </p:nvGrpSpPr>
        <p:grpSpPr>
          <a:xfrm rot="0">
            <a:off x="2615641" y="3184855"/>
            <a:ext cx="570586" cy="570586"/>
            <a:chOff x="0" y="0"/>
            <a:chExt cx="760781" cy="760781"/>
          </a:xfrm>
        </p:grpSpPr>
        <p:sp>
          <p:nvSpPr>
            <p:cNvPr name="Freeform 13" id="13" descr="/home/claude/herbalance/icon_chatmed.png"/>
            <p:cNvSpPr/>
            <p:nvPr/>
          </p:nvSpPr>
          <p:spPr>
            <a:xfrm flipH="false" flipV="false" rot="0">
              <a:off x="0" y="0"/>
              <a:ext cx="760730" cy="760730"/>
            </a:xfrm>
            <a:custGeom>
              <a:avLst/>
              <a:gdLst/>
              <a:ahLst/>
              <a:cxnLst/>
              <a:rect r="r" b="b" t="t" l="l"/>
              <a:pathLst>
                <a:path h="760730" w="760730">
                  <a:moveTo>
                    <a:pt x="0" y="0"/>
                  </a:moveTo>
                  <a:lnTo>
                    <a:pt x="760730" y="0"/>
                  </a:lnTo>
                  <a:lnTo>
                    <a:pt x="760730" y="760730"/>
                  </a:lnTo>
                  <a:lnTo>
                    <a:pt x="0" y="760730"/>
                  </a:lnTo>
                  <a:lnTo>
                    <a:pt x="0" y="0"/>
                  </a:lnTo>
                  <a:close/>
                </a:path>
              </a:pathLst>
            </a:custGeom>
            <a:blipFill>
              <a:blip r:embed="rId4"/>
              <a:stretch>
                <a:fillRect l="0" t="0" r="-6" b="-6"/>
              </a:stretch>
            </a:blipFill>
          </p:spPr>
        </p:sp>
      </p:grpSp>
      <p:sp>
        <p:nvSpPr>
          <p:cNvPr name="TextBox 14" id="14"/>
          <p:cNvSpPr txBox="true"/>
          <p:nvPr/>
        </p:nvSpPr>
        <p:spPr>
          <a:xfrm rot="0">
            <a:off x="1257300" y="4171950"/>
            <a:ext cx="3287268" cy="1131570"/>
          </a:xfrm>
          <a:prstGeom prst="rect">
            <a:avLst/>
          </a:prstGeom>
        </p:spPr>
        <p:txBody>
          <a:bodyPr anchor="t" rtlCol="false" tIns="0" lIns="0" bIns="0" rIns="0">
            <a:spAutoFit/>
          </a:bodyPr>
          <a:lstStyle/>
          <a:p>
            <a:pPr algn="ctr">
              <a:lnSpc>
                <a:spcPts val="2277"/>
              </a:lnSpc>
            </a:pPr>
            <a:r>
              <a:rPr lang="en-US" sz="1725">
                <a:solidFill>
                  <a:srgbClr val="3A2A2E"/>
                </a:solidFill>
                <a:latin typeface="Calibri (MS)"/>
                <a:ea typeface="Calibri (MS)"/>
                <a:cs typeface="Calibri (MS)"/>
                <a:sym typeface="Calibri (MS)"/>
              </a:rPr>
              <a:t>AI chatbot for health consultation</a:t>
            </a:r>
          </a:p>
        </p:txBody>
      </p:sp>
      <p:grpSp>
        <p:nvGrpSpPr>
          <p:cNvPr name="Group 15" id="15"/>
          <p:cNvGrpSpPr/>
          <p:nvPr/>
        </p:nvGrpSpPr>
        <p:grpSpPr>
          <a:xfrm rot="0">
            <a:off x="5143500" y="2537460"/>
            <a:ext cx="3881628" cy="2948940"/>
            <a:chOff x="0" y="0"/>
            <a:chExt cx="5175504" cy="3931920"/>
          </a:xfrm>
        </p:grpSpPr>
        <p:sp>
          <p:nvSpPr>
            <p:cNvPr name="Freeform 16" id="16"/>
            <p:cNvSpPr/>
            <p:nvPr/>
          </p:nvSpPr>
          <p:spPr>
            <a:xfrm flipH="false" flipV="false" rot="0">
              <a:off x="0" y="0"/>
              <a:ext cx="5175504" cy="3931920"/>
            </a:xfrm>
            <a:custGeom>
              <a:avLst/>
              <a:gdLst/>
              <a:ahLst/>
              <a:cxnLst/>
              <a:rect r="r" b="b" t="t" l="l"/>
              <a:pathLst>
                <a:path h="3931920" w="5175504">
                  <a:moveTo>
                    <a:pt x="0" y="164592"/>
                  </a:moveTo>
                  <a:cubicBezTo>
                    <a:pt x="0" y="73660"/>
                    <a:pt x="73660" y="0"/>
                    <a:pt x="164592" y="0"/>
                  </a:cubicBezTo>
                  <a:lnTo>
                    <a:pt x="5010912" y="0"/>
                  </a:lnTo>
                  <a:cubicBezTo>
                    <a:pt x="5101844" y="0"/>
                    <a:pt x="5175504" y="73660"/>
                    <a:pt x="5175504" y="164592"/>
                  </a:cubicBezTo>
                  <a:lnTo>
                    <a:pt x="5175504" y="3767328"/>
                  </a:lnTo>
                  <a:cubicBezTo>
                    <a:pt x="5175504" y="3858260"/>
                    <a:pt x="5101844" y="3931920"/>
                    <a:pt x="5010912" y="3931920"/>
                  </a:cubicBezTo>
                  <a:lnTo>
                    <a:pt x="164592" y="3931920"/>
                  </a:lnTo>
                  <a:cubicBezTo>
                    <a:pt x="73660" y="3931920"/>
                    <a:pt x="0" y="3858260"/>
                    <a:pt x="0" y="3767328"/>
                  </a:cubicBezTo>
                  <a:close/>
                </a:path>
              </a:pathLst>
            </a:custGeom>
            <a:solidFill>
              <a:srgbClr val="FFFFFF"/>
            </a:solidFill>
          </p:spPr>
        </p:sp>
      </p:grpSp>
      <p:grpSp>
        <p:nvGrpSpPr>
          <p:cNvPr name="Group 17" id="17"/>
          <p:cNvGrpSpPr/>
          <p:nvPr/>
        </p:nvGrpSpPr>
        <p:grpSpPr>
          <a:xfrm rot="0">
            <a:off x="6535674" y="2921508"/>
            <a:ext cx="1097280" cy="1097280"/>
            <a:chOff x="0" y="0"/>
            <a:chExt cx="1463040" cy="1463040"/>
          </a:xfrm>
        </p:grpSpPr>
        <p:sp>
          <p:nvSpPr>
            <p:cNvPr name="Freeform 18" id="18"/>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6D2E46"/>
            </a:solidFill>
          </p:spPr>
        </p:sp>
      </p:grpSp>
      <p:grpSp>
        <p:nvGrpSpPr>
          <p:cNvPr name="Group 19" id="19"/>
          <p:cNvGrpSpPr/>
          <p:nvPr/>
        </p:nvGrpSpPr>
        <p:grpSpPr>
          <a:xfrm rot="0">
            <a:off x="6799021" y="3184855"/>
            <a:ext cx="570586" cy="570586"/>
            <a:chOff x="0" y="0"/>
            <a:chExt cx="760781" cy="760781"/>
          </a:xfrm>
        </p:grpSpPr>
        <p:sp>
          <p:nvSpPr>
            <p:cNvPr name="Freeform 20" id="20" descr="/home/claude/herbalance/icon_monitor.png"/>
            <p:cNvSpPr/>
            <p:nvPr/>
          </p:nvSpPr>
          <p:spPr>
            <a:xfrm flipH="false" flipV="false" rot="0">
              <a:off x="0" y="0"/>
              <a:ext cx="760730" cy="760730"/>
            </a:xfrm>
            <a:custGeom>
              <a:avLst/>
              <a:gdLst/>
              <a:ahLst/>
              <a:cxnLst/>
              <a:rect r="r" b="b" t="t" l="l"/>
              <a:pathLst>
                <a:path h="760730" w="760730">
                  <a:moveTo>
                    <a:pt x="0" y="0"/>
                  </a:moveTo>
                  <a:lnTo>
                    <a:pt x="760730" y="0"/>
                  </a:lnTo>
                  <a:lnTo>
                    <a:pt x="760730" y="760730"/>
                  </a:lnTo>
                  <a:lnTo>
                    <a:pt x="0" y="760730"/>
                  </a:lnTo>
                  <a:lnTo>
                    <a:pt x="0" y="0"/>
                  </a:lnTo>
                  <a:close/>
                </a:path>
              </a:pathLst>
            </a:custGeom>
            <a:blipFill>
              <a:blip r:embed="rId5"/>
              <a:stretch>
                <a:fillRect l="0" t="0" r="-6" b="-6"/>
              </a:stretch>
            </a:blipFill>
          </p:spPr>
        </p:sp>
      </p:grpSp>
      <p:sp>
        <p:nvSpPr>
          <p:cNvPr name="TextBox 21" id="21"/>
          <p:cNvSpPr txBox="true"/>
          <p:nvPr/>
        </p:nvSpPr>
        <p:spPr>
          <a:xfrm rot="0">
            <a:off x="5440680" y="4171950"/>
            <a:ext cx="3287268" cy="1131570"/>
          </a:xfrm>
          <a:prstGeom prst="rect">
            <a:avLst/>
          </a:prstGeom>
        </p:spPr>
        <p:txBody>
          <a:bodyPr anchor="t" rtlCol="false" tIns="0" lIns="0" bIns="0" rIns="0">
            <a:spAutoFit/>
          </a:bodyPr>
          <a:lstStyle/>
          <a:p>
            <a:pPr algn="ctr">
              <a:lnSpc>
                <a:spcPts val="2277"/>
              </a:lnSpc>
            </a:pPr>
            <a:r>
              <a:rPr lang="en-US" sz="1725">
                <a:solidFill>
                  <a:srgbClr val="3A2A2E"/>
                </a:solidFill>
                <a:latin typeface="Calibri (MS)"/>
                <a:ea typeface="Calibri (MS)"/>
                <a:cs typeface="Calibri (MS)"/>
                <a:sym typeface="Calibri (MS)"/>
              </a:rPr>
              <a:t>Integration with wearable health devices</a:t>
            </a:r>
          </a:p>
        </p:txBody>
      </p:sp>
      <p:grpSp>
        <p:nvGrpSpPr>
          <p:cNvPr name="Group 22" id="22"/>
          <p:cNvGrpSpPr/>
          <p:nvPr/>
        </p:nvGrpSpPr>
        <p:grpSpPr>
          <a:xfrm rot="0">
            <a:off x="9326880" y="2537460"/>
            <a:ext cx="3881628" cy="2948940"/>
            <a:chOff x="0" y="0"/>
            <a:chExt cx="5175504" cy="3931920"/>
          </a:xfrm>
        </p:grpSpPr>
        <p:sp>
          <p:nvSpPr>
            <p:cNvPr name="Freeform 23" id="23"/>
            <p:cNvSpPr/>
            <p:nvPr/>
          </p:nvSpPr>
          <p:spPr>
            <a:xfrm flipH="false" flipV="false" rot="0">
              <a:off x="0" y="0"/>
              <a:ext cx="5175504" cy="3931920"/>
            </a:xfrm>
            <a:custGeom>
              <a:avLst/>
              <a:gdLst/>
              <a:ahLst/>
              <a:cxnLst/>
              <a:rect r="r" b="b" t="t" l="l"/>
              <a:pathLst>
                <a:path h="3931920" w="5175504">
                  <a:moveTo>
                    <a:pt x="0" y="164592"/>
                  </a:moveTo>
                  <a:cubicBezTo>
                    <a:pt x="0" y="73660"/>
                    <a:pt x="73660" y="0"/>
                    <a:pt x="164592" y="0"/>
                  </a:cubicBezTo>
                  <a:lnTo>
                    <a:pt x="5010912" y="0"/>
                  </a:lnTo>
                  <a:cubicBezTo>
                    <a:pt x="5101844" y="0"/>
                    <a:pt x="5175504" y="73660"/>
                    <a:pt x="5175504" y="164592"/>
                  </a:cubicBezTo>
                  <a:lnTo>
                    <a:pt x="5175504" y="3767328"/>
                  </a:lnTo>
                  <a:cubicBezTo>
                    <a:pt x="5175504" y="3858260"/>
                    <a:pt x="5101844" y="3931920"/>
                    <a:pt x="5010912" y="3931920"/>
                  </a:cubicBezTo>
                  <a:lnTo>
                    <a:pt x="164592" y="3931920"/>
                  </a:lnTo>
                  <a:cubicBezTo>
                    <a:pt x="73660" y="3931920"/>
                    <a:pt x="0" y="3858260"/>
                    <a:pt x="0" y="3767328"/>
                  </a:cubicBezTo>
                  <a:close/>
                </a:path>
              </a:pathLst>
            </a:custGeom>
            <a:solidFill>
              <a:srgbClr val="FFFFFF"/>
            </a:solidFill>
          </p:spPr>
        </p:sp>
      </p:grpSp>
      <p:grpSp>
        <p:nvGrpSpPr>
          <p:cNvPr name="Group 24" id="24"/>
          <p:cNvGrpSpPr/>
          <p:nvPr/>
        </p:nvGrpSpPr>
        <p:grpSpPr>
          <a:xfrm rot="0">
            <a:off x="10719054" y="2921508"/>
            <a:ext cx="1097280" cy="1097280"/>
            <a:chOff x="0" y="0"/>
            <a:chExt cx="1463040" cy="1463040"/>
          </a:xfrm>
        </p:grpSpPr>
        <p:sp>
          <p:nvSpPr>
            <p:cNvPr name="Freeform 25" id="25"/>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6D2E46"/>
            </a:solidFill>
          </p:spPr>
        </p:sp>
      </p:grpSp>
      <p:grpSp>
        <p:nvGrpSpPr>
          <p:cNvPr name="Group 26" id="26"/>
          <p:cNvGrpSpPr/>
          <p:nvPr/>
        </p:nvGrpSpPr>
        <p:grpSpPr>
          <a:xfrm rot="0">
            <a:off x="10982401" y="3184855"/>
            <a:ext cx="570586" cy="570586"/>
            <a:chOff x="0" y="0"/>
            <a:chExt cx="760781" cy="760781"/>
          </a:xfrm>
        </p:grpSpPr>
        <p:sp>
          <p:nvSpPr>
            <p:cNvPr name="Freeform 27" id="27" descr="/home/claude/herbalance/icon_video.png"/>
            <p:cNvSpPr/>
            <p:nvPr/>
          </p:nvSpPr>
          <p:spPr>
            <a:xfrm flipH="false" flipV="false" rot="0">
              <a:off x="0" y="0"/>
              <a:ext cx="760730" cy="760730"/>
            </a:xfrm>
            <a:custGeom>
              <a:avLst/>
              <a:gdLst/>
              <a:ahLst/>
              <a:cxnLst/>
              <a:rect r="r" b="b" t="t" l="l"/>
              <a:pathLst>
                <a:path h="760730" w="760730">
                  <a:moveTo>
                    <a:pt x="0" y="0"/>
                  </a:moveTo>
                  <a:lnTo>
                    <a:pt x="760730" y="0"/>
                  </a:lnTo>
                  <a:lnTo>
                    <a:pt x="760730" y="760730"/>
                  </a:lnTo>
                  <a:lnTo>
                    <a:pt x="0" y="760730"/>
                  </a:lnTo>
                  <a:lnTo>
                    <a:pt x="0" y="0"/>
                  </a:lnTo>
                  <a:close/>
                </a:path>
              </a:pathLst>
            </a:custGeom>
            <a:blipFill>
              <a:blip r:embed="rId6"/>
              <a:stretch>
                <a:fillRect l="0" t="0" r="-6" b="-6"/>
              </a:stretch>
            </a:blipFill>
          </p:spPr>
        </p:sp>
      </p:grpSp>
      <p:sp>
        <p:nvSpPr>
          <p:cNvPr name="TextBox 28" id="28"/>
          <p:cNvSpPr txBox="true"/>
          <p:nvPr/>
        </p:nvSpPr>
        <p:spPr>
          <a:xfrm rot="0">
            <a:off x="9624060" y="4171950"/>
            <a:ext cx="3287268" cy="1131570"/>
          </a:xfrm>
          <a:prstGeom prst="rect">
            <a:avLst/>
          </a:prstGeom>
        </p:spPr>
        <p:txBody>
          <a:bodyPr anchor="t" rtlCol="false" tIns="0" lIns="0" bIns="0" rIns="0">
            <a:spAutoFit/>
          </a:bodyPr>
          <a:lstStyle/>
          <a:p>
            <a:pPr algn="ctr">
              <a:lnSpc>
                <a:spcPts val="2277"/>
              </a:lnSpc>
            </a:pPr>
            <a:r>
              <a:rPr lang="en-US" sz="1725">
                <a:solidFill>
                  <a:srgbClr val="3A2A2E"/>
                </a:solidFill>
                <a:latin typeface="Calibri (MS)"/>
                <a:ea typeface="Calibri (MS)"/>
                <a:cs typeface="Calibri (MS)"/>
                <a:sym typeface="Calibri (MS)"/>
              </a:rPr>
              <a:t>Telemedicine support</a:t>
            </a:r>
          </a:p>
        </p:txBody>
      </p:sp>
      <p:grpSp>
        <p:nvGrpSpPr>
          <p:cNvPr name="Group 29" id="29"/>
          <p:cNvGrpSpPr/>
          <p:nvPr/>
        </p:nvGrpSpPr>
        <p:grpSpPr>
          <a:xfrm rot="0">
            <a:off x="13510260" y="2537460"/>
            <a:ext cx="3881628" cy="2948940"/>
            <a:chOff x="0" y="0"/>
            <a:chExt cx="5175504" cy="3931920"/>
          </a:xfrm>
        </p:grpSpPr>
        <p:sp>
          <p:nvSpPr>
            <p:cNvPr name="Freeform 30" id="30"/>
            <p:cNvSpPr/>
            <p:nvPr/>
          </p:nvSpPr>
          <p:spPr>
            <a:xfrm flipH="false" flipV="false" rot="0">
              <a:off x="0" y="0"/>
              <a:ext cx="5175504" cy="3931920"/>
            </a:xfrm>
            <a:custGeom>
              <a:avLst/>
              <a:gdLst/>
              <a:ahLst/>
              <a:cxnLst/>
              <a:rect r="r" b="b" t="t" l="l"/>
              <a:pathLst>
                <a:path h="3931920" w="5175504">
                  <a:moveTo>
                    <a:pt x="0" y="164592"/>
                  </a:moveTo>
                  <a:cubicBezTo>
                    <a:pt x="0" y="73660"/>
                    <a:pt x="73660" y="0"/>
                    <a:pt x="164592" y="0"/>
                  </a:cubicBezTo>
                  <a:lnTo>
                    <a:pt x="5010912" y="0"/>
                  </a:lnTo>
                  <a:cubicBezTo>
                    <a:pt x="5101844" y="0"/>
                    <a:pt x="5175504" y="73660"/>
                    <a:pt x="5175504" y="164592"/>
                  </a:cubicBezTo>
                  <a:lnTo>
                    <a:pt x="5175504" y="3767328"/>
                  </a:lnTo>
                  <a:cubicBezTo>
                    <a:pt x="5175504" y="3858260"/>
                    <a:pt x="5101844" y="3931920"/>
                    <a:pt x="5010912" y="3931920"/>
                  </a:cubicBezTo>
                  <a:lnTo>
                    <a:pt x="164592" y="3931920"/>
                  </a:lnTo>
                  <a:cubicBezTo>
                    <a:pt x="73660" y="3931920"/>
                    <a:pt x="0" y="3858260"/>
                    <a:pt x="0" y="3767328"/>
                  </a:cubicBezTo>
                  <a:close/>
                </a:path>
              </a:pathLst>
            </a:custGeom>
            <a:solidFill>
              <a:srgbClr val="FFFFFF"/>
            </a:solidFill>
          </p:spPr>
        </p:sp>
      </p:grpSp>
      <p:grpSp>
        <p:nvGrpSpPr>
          <p:cNvPr name="Group 31" id="31"/>
          <p:cNvGrpSpPr/>
          <p:nvPr/>
        </p:nvGrpSpPr>
        <p:grpSpPr>
          <a:xfrm rot="0">
            <a:off x="14902434" y="2921508"/>
            <a:ext cx="1097280" cy="1097280"/>
            <a:chOff x="0" y="0"/>
            <a:chExt cx="1463040" cy="1463040"/>
          </a:xfrm>
        </p:grpSpPr>
        <p:sp>
          <p:nvSpPr>
            <p:cNvPr name="Freeform 32" id="32"/>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6D2E46"/>
            </a:solidFill>
          </p:spPr>
        </p:sp>
      </p:grpSp>
      <p:grpSp>
        <p:nvGrpSpPr>
          <p:cNvPr name="Group 33" id="33"/>
          <p:cNvGrpSpPr/>
          <p:nvPr/>
        </p:nvGrpSpPr>
        <p:grpSpPr>
          <a:xfrm rot="0">
            <a:off x="15165781" y="3184855"/>
            <a:ext cx="570586" cy="570586"/>
            <a:chOff x="0" y="0"/>
            <a:chExt cx="760781" cy="760781"/>
          </a:xfrm>
        </p:grpSpPr>
        <p:sp>
          <p:nvSpPr>
            <p:cNvPr name="Freeform 34" id="34" descr="/home/claude/herbalance/icon_baby.png"/>
            <p:cNvSpPr/>
            <p:nvPr/>
          </p:nvSpPr>
          <p:spPr>
            <a:xfrm flipH="false" flipV="false" rot="0">
              <a:off x="0" y="0"/>
              <a:ext cx="760730" cy="760730"/>
            </a:xfrm>
            <a:custGeom>
              <a:avLst/>
              <a:gdLst/>
              <a:ahLst/>
              <a:cxnLst/>
              <a:rect r="r" b="b" t="t" l="l"/>
              <a:pathLst>
                <a:path h="760730" w="760730">
                  <a:moveTo>
                    <a:pt x="0" y="0"/>
                  </a:moveTo>
                  <a:lnTo>
                    <a:pt x="760730" y="0"/>
                  </a:lnTo>
                  <a:lnTo>
                    <a:pt x="760730" y="760730"/>
                  </a:lnTo>
                  <a:lnTo>
                    <a:pt x="0" y="760730"/>
                  </a:lnTo>
                  <a:lnTo>
                    <a:pt x="0" y="0"/>
                  </a:lnTo>
                  <a:close/>
                </a:path>
              </a:pathLst>
            </a:custGeom>
            <a:blipFill>
              <a:blip r:embed="rId7"/>
              <a:stretch>
                <a:fillRect l="0" t="0" r="-6" b="-6"/>
              </a:stretch>
            </a:blipFill>
          </p:spPr>
        </p:sp>
      </p:grpSp>
      <p:sp>
        <p:nvSpPr>
          <p:cNvPr name="TextBox 35" id="35"/>
          <p:cNvSpPr txBox="true"/>
          <p:nvPr/>
        </p:nvSpPr>
        <p:spPr>
          <a:xfrm rot="0">
            <a:off x="13807440" y="4171950"/>
            <a:ext cx="3287268" cy="1131570"/>
          </a:xfrm>
          <a:prstGeom prst="rect">
            <a:avLst/>
          </a:prstGeom>
        </p:spPr>
        <p:txBody>
          <a:bodyPr anchor="t" rtlCol="false" tIns="0" lIns="0" bIns="0" rIns="0">
            <a:spAutoFit/>
          </a:bodyPr>
          <a:lstStyle/>
          <a:p>
            <a:pPr algn="ctr">
              <a:lnSpc>
                <a:spcPts val="2277"/>
              </a:lnSpc>
            </a:pPr>
            <a:r>
              <a:rPr lang="en-US" sz="1725">
                <a:solidFill>
                  <a:srgbClr val="3A2A2E"/>
                </a:solidFill>
                <a:latin typeface="Calibri (MS)"/>
                <a:ea typeface="Calibri (MS)"/>
                <a:cs typeface="Calibri (MS)"/>
                <a:sym typeface="Calibri (MS)"/>
              </a:rPr>
              <a:t>Pregnancy monitoring</a:t>
            </a:r>
          </a:p>
        </p:txBody>
      </p:sp>
      <p:grpSp>
        <p:nvGrpSpPr>
          <p:cNvPr name="Group 36" id="36"/>
          <p:cNvGrpSpPr/>
          <p:nvPr/>
        </p:nvGrpSpPr>
        <p:grpSpPr>
          <a:xfrm rot="0">
            <a:off x="960120" y="5829300"/>
            <a:ext cx="3881628" cy="2948940"/>
            <a:chOff x="0" y="0"/>
            <a:chExt cx="5175504" cy="3931920"/>
          </a:xfrm>
        </p:grpSpPr>
        <p:sp>
          <p:nvSpPr>
            <p:cNvPr name="Freeform 37" id="37"/>
            <p:cNvSpPr/>
            <p:nvPr/>
          </p:nvSpPr>
          <p:spPr>
            <a:xfrm flipH="false" flipV="false" rot="0">
              <a:off x="0" y="0"/>
              <a:ext cx="5175504" cy="3931920"/>
            </a:xfrm>
            <a:custGeom>
              <a:avLst/>
              <a:gdLst/>
              <a:ahLst/>
              <a:cxnLst/>
              <a:rect r="r" b="b" t="t" l="l"/>
              <a:pathLst>
                <a:path h="3931920" w="5175504">
                  <a:moveTo>
                    <a:pt x="0" y="164592"/>
                  </a:moveTo>
                  <a:cubicBezTo>
                    <a:pt x="0" y="73660"/>
                    <a:pt x="73660" y="0"/>
                    <a:pt x="164592" y="0"/>
                  </a:cubicBezTo>
                  <a:lnTo>
                    <a:pt x="5010912" y="0"/>
                  </a:lnTo>
                  <a:cubicBezTo>
                    <a:pt x="5101844" y="0"/>
                    <a:pt x="5175504" y="73660"/>
                    <a:pt x="5175504" y="164592"/>
                  </a:cubicBezTo>
                  <a:lnTo>
                    <a:pt x="5175504" y="3767328"/>
                  </a:lnTo>
                  <a:cubicBezTo>
                    <a:pt x="5175504" y="3858260"/>
                    <a:pt x="5101844" y="3931920"/>
                    <a:pt x="5010912" y="3931920"/>
                  </a:cubicBezTo>
                  <a:lnTo>
                    <a:pt x="164592" y="3931920"/>
                  </a:lnTo>
                  <a:cubicBezTo>
                    <a:pt x="73660" y="3931920"/>
                    <a:pt x="0" y="3858260"/>
                    <a:pt x="0" y="3767328"/>
                  </a:cubicBezTo>
                  <a:close/>
                </a:path>
              </a:pathLst>
            </a:custGeom>
            <a:solidFill>
              <a:srgbClr val="FFFFFF"/>
            </a:solidFill>
          </p:spPr>
        </p:sp>
      </p:grpSp>
      <p:grpSp>
        <p:nvGrpSpPr>
          <p:cNvPr name="Group 38" id="38"/>
          <p:cNvGrpSpPr/>
          <p:nvPr/>
        </p:nvGrpSpPr>
        <p:grpSpPr>
          <a:xfrm rot="0">
            <a:off x="2352294" y="6213348"/>
            <a:ext cx="1097280" cy="1097280"/>
            <a:chOff x="0" y="0"/>
            <a:chExt cx="1463040" cy="1463040"/>
          </a:xfrm>
        </p:grpSpPr>
        <p:sp>
          <p:nvSpPr>
            <p:cNvPr name="Freeform 39" id="39"/>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6D2E46"/>
            </a:solidFill>
          </p:spPr>
        </p:sp>
      </p:grpSp>
      <p:grpSp>
        <p:nvGrpSpPr>
          <p:cNvPr name="Group 40" id="40"/>
          <p:cNvGrpSpPr/>
          <p:nvPr/>
        </p:nvGrpSpPr>
        <p:grpSpPr>
          <a:xfrm rot="0">
            <a:off x="2615641" y="6476695"/>
            <a:ext cx="570586" cy="570586"/>
            <a:chOff x="0" y="0"/>
            <a:chExt cx="760781" cy="760781"/>
          </a:xfrm>
        </p:grpSpPr>
        <p:sp>
          <p:nvSpPr>
            <p:cNvPr name="Freeform 41" id="41" descr="/home/claude/herbalance/icon_apple.png"/>
            <p:cNvSpPr/>
            <p:nvPr/>
          </p:nvSpPr>
          <p:spPr>
            <a:xfrm flipH="false" flipV="false" rot="0">
              <a:off x="0" y="0"/>
              <a:ext cx="760730" cy="760730"/>
            </a:xfrm>
            <a:custGeom>
              <a:avLst/>
              <a:gdLst/>
              <a:ahLst/>
              <a:cxnLst/>
              <a:rect r="r" b="b" t="t" l="l"/>
              <a:pathLst>
                <a:path h="760730" w="760730">
                  <a:moveTo>
                    <a:pt x="0" y="0"/>
                  </a:moveTo>
                  <a:lnTo>
                    <a:pt x="760730" y="0"/>
                  </a:lnTo>
                  <a:lnTo>
                    <a:pt x="760730" y="760730"/>
                  </a:lnTo>
                  <a:lnTo>
                    <a:pt x="0" y="760730"/>
                  </a:lnTo>
                  <a:lnTo>
                    <a:pt x="0" y="0"/>
                  </a:lnTo>
                  <a:close/>
                </a:path>
              </a:pathLst>
            </a:custGeom>
            <a:blipFill>
              <a:blip r:embed="rId8"/>
              <a:stretch>
                <a:fillRect l="0" t="0" r="-6" b="-6"/>
              </a:stretch>
            </a:blipFill>
          </p:spPr>
        </p:sp>
      </p:grpSp>
      <p:sp>
        <p:nvSpPr>
          <p:cNvPr name="TextBox 42" id="42"/>
          <p:cNvSpPr txBox="true"/>
          <p:nvPr/>
        </p:nvSpPr>
        <p:spPr>
          <a:xfrm rot="0">
            <a:off x="1257300" y="7463790"/>
            <a:ext cx="3287268" cy="1131570"/>
          </a:xfrm>
          <a:prstGeom prst="rect">
            <a:avLst/>
          </a:prstGeom>
        </p:spPr>
        <p:txBody>
          <a:bodyPr anchor="t" rtlCol="false" tIns="0" lIns="0" bIns="0" rIns="0">
            <a:spAutoFit/>
          </a:bodyPr>
          <a:lstStyle/>
          <a:p>
            <a:pPr algn="ctr">
              <a:lnSpc>
                <a:spcPts val="2277"/>
              </a:lnSpc>
            </a:pPr>
            <a:r>
              <a:rPr lang="en-US" sz="1725">
                <a:solidFill>
                  <a:srgbClr val="3A2A2E"/>
                </a:solidFill>
                <a:latin typeface="Calibri (MS)"/>
                <a:ea typeface="Calibri (MS)"/>
                <a:cs typeface="Calibri (MS)"/>
                <a:sym typeface="Calibri (MS)"/>
              </a:rPr>
              <a:t>Nutrition and fitness tracking</a:t>
            </a:r>
          </a:p>
        </p:txBody>
      </p:sp>
      <p:grpSp>
        <p:nvGrpSpPr>
          <p:cNvPr name="Group 43" id="43"/>
          <p:cNvGrpSpPr/>
          <p:nvPr/>
        </p:nvGrpSpPr>
        <p:grpSpPr>
          <a:xfrm rot="0">
            <a:off x="5143500" y="5829300"/>
            <a:ext cx="3881628" cy="2948940"/>
            <a:chOff x="0" y="0"/>
            <a:chExt cx="5175504" cy="3931920"/>
          </a:xfrm>
        </p:grpSpPr>
        <p:sp>
          <p:nvSpPr>
            <p:cNvPr name="Freeform 44" id="44"/>
            <p:cNvSpPr/>
            <p:nvPr/>
          </p:nvSpPr>
          <p:spPr>
            <a:xfrm flipH="false" flipV="false" rot="0">
              <a:off x="0" y="0"/>
              <a:ext cx="5175504" cy="3931920"/>
            </a:xfrm>
            <a:custGeom>
              <a:avLst/>
              <a:gdLst/>
              <a:ahLst/>
              <a:cxnLst/>
              <a:rect r="r" b="b" t="t" l="l"/>
              <a:pathLst>
                <a:path h="3931920" w="5175504">
                  <a:moveTo>
                    <a:pt x="0" y="164592"/>
                  </a:moveTo>
                  <a:cubicBezTo>
                    <a:pt x="0" y="73660"/>
                    <a:pt x="73660" y="0"/>
                    <a:pt x="164592" y="0"/>
                  </a:cubicBezTo>
                  <a:lnTo>
                    <a:pt x="5010912" y="0"/>
                  </a:lnTo>
                  <a:cubicBezTo>
                    <a:pt x="5101844" y="0"/>
                    <a:pt x="5175504" y="73660"/>
                    <a:pt x="5175504" y="164592"/>
                  </a:cubicBezTo>
                  <a:lnTo>
                    <a:pt x="5175504" y="3767328"/>
                  </a:lnTo>
                  <a:cubicBezTo>
                    <a:pt x="5175504" y="3858260"/>
                    <a:pt x="5101844" y="3931920"/>
                    <a:pt x="5010912" y="3931920"/>
                  </a:cubicBezTo>
                  <a:lnTo>
                    <a:pt x="164592" y="3931920"/>
                  </a:lnTo>
                  <a:cubicBezTo>
                    <a:pt x="73660" y="3931920"/>
                    <a:pt x="0" y="3858260"/>
                    <a:pt x="0" y="3767328"/>
                  </a:cubicBezTo>
                  <a:close/>
                </a:path>
              </a:pathLst>
            </a:custGeom>
            <a:solidFill>
              <a:srgbClr val="FFFFFF"/>
            </a:solidFill>
          </p:spPr>
        </p:sp>
      </p:grpSp>
      <p:grpSp>
        <p:nvGrpSpPr>
          <p:cNvPr name="Group 45" id="45"/>
          <p:cNvGrpSpPr/>
          <p:nvPr/>
        </p:nvGrpSpPr>
        <p:grpSpPr>
          <a:xfrm rot="0">
            <a:off x="6535674" y="6213348"/>
            <a:ext cx="1097280" cy="1097280"/>
            <a:chOff x="0" y="0"/>
            <a:chExt cx="1463040" cy="1463040"/>
          </a:xfrm>
        </p:grpSpPr>
        <p:sp>
          <p:nvSpPr>
            <p:cNvPr name="Freeform 46" id="46"/>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6D2E46"/>
            </a:solidFill>
          </p:spPr>
        </p:sp>
      </p:grpSp>
      <p:grpSp>
        <p:nvGrpSpPr>
          <p:cNvPr name="Group 47" id="47"/>
          <p:cNvGrpSpPr/>
          <p:nvPr/>
        </p:nvGrpSpPr>
        <p:grpSpPr>
          <a:xfrm rot="0">
            <a:off x="6799021" y="6476695"/>
            <a:ext cx="570586" cy="570586"/>
            <a:chOff x="0" y="0"/>
            <a:chExt cx="760781" cy="760781"/>
          </a:xfrm>
        </p:grpSpPr>
        <p:sp>
          <p:nvSpPr>
            <p:cNvPr name="Freeform 48" id="48" descr="/home/claude/herbalance/icon_smile.png"/>
            <p:cNvSpPr/>
            <p:nvPr/>
          </p:nvSpPr>
          <p:spPr>
            <a:xfrm flipH="false" flipV="false" rot="0">
              <a:off x="0" y="0"/>
              <a:ext cx="760730" cy="760730"/>
            </a:xfrm>
            <a:custGeom>
              <a:avLst/>
              <a:gdLst/>
              <a:ahLst/>
              <a:cxnLst/>
              <a:rect r="r" b="b" t="t" l="l"/>
              <a:pathLst>
                <a:path h="760730" w="760730">
                  <a:moveTo>
                    <a:pt x="0" y="0"/>
                  </a:moveTo>
                  <a:lnTo>
                    <a:pt x="760730" y="0"/>
                  </a:lnTo>
                  <a:lnTo>
                    <a:pt x="760730" y="760730"/>
                  </a:lnTo>
                  <a:lnTo>
                    <a:pt x="0" y="760730"/>
                  </a:lnTo>
                  <a:lnTo>
                    <a:pt x="0" y="0"/>
                  </a:lnTo>
                  <a:close/>
                </a:path>
              </a:pathLst>
            </a:custGeom>
            <a:blipFill>
              <a:blip r:embed="rId9"/>
              <a:stretch>
                <a:fillRect l="0" t="0" r="-6" b="-6"/>
              </a:stretch>
            </a:blipFill>
          </p:spPr>
        </p:sp>
      </p:grpSp>
      <p:sp>
        <p:nvSpPr>
          <p:cNvPr name="TextBox 49" id="49"/>
          <p:cNvSpPr txBox="true"/>
          <p:nvPr/>
        </p:nvSpPr>
        <p:spPr>
          <a:xfrm rot="0">
            <a:off x="5440680" y="7463790"/>
            <a:ext cx="3287268" cy="1131570"/>
          </a:xfrm>
          <a:prstGeom prst="rect">
            <a:avLst/>
          </a:prstGeom>
        </p:spPr>
        <p:txBody>
          <a:bodyPr anchor="t" rtlCol="false" tIns="0" lIns="0" bIns="0" rIns="0">
            <a:spAutoFit/>
          </a:bodyPr>
          <a:lstStyle/>
          <a:p>
            <a:pPr algn="ctr">
              <a:lnSpc>
                <a:spcPts val="2277"/>
              </a:lnSpc>
            </a:pPr>
            <a:r>
              <a:rPr lang="en-US" sz="1725">
                <a:solidFill>
                  <a:srgbClr val="3A2A2E"/>
                </a:solidFill>
                <a:latin typeface="Calibri (MS)"/>
                <a:ea typeface="Calibri (MS)"/>
                <a:cs typeface="Calibri (MS)"/>
                <a:sym typeface="Calibri (MS)"/>
              </a:rPr>
              <a:t>Mental health assistance</a:t>
            </a:r>
          </a:p>
        </p:txBody>
      </p:sp>
      <p:grpSp>
        <p:nvGrpSpPr>
          <p:cNvPr name="Group 50" id="50"/>
          <p:cNvGrpSpPr/>
          <p:nvPr/>
        </p:nvGrpSpPr>
        <p:grpSpPr>
          <a:xfrm rot="0">
            <a:off x="9326880" y="5829300"/>
            <a:ext cx="3881628" cy="2948940"/>
            <a:chOff x="0" y="0"/>
            <a:chExt cx="5175504" cy="3931920"/>
          </a:xfrm>
        </p:grpSpPr>
        <p:sp>
          <p:nvSpPr>
            <p:cNvPr name="Freeform 51" id="51"/>
            <p:cNvSpPr/>
            <p:nvPr/>
          </p:nvSpPr>
          <p:spPr>
            <a:xfrm flipH="false" flipV="false" rot="0">
              <a:off x="0" y="0"/>
              <a:ext cx="5175504" cy="3931920"/>
            </a:xfrm>
            <a:custGeom>
              <a:avLst/>
              <a:gdLst/>
              <a:ahLst/>
              <a:cxnLst/>
              <a:rect r="r" b="b" t="t" l="l"/>
              <a:pathLst>
                <a:path h="3931920" w="5175504">
                  <a:moveTo>
                    <a:pt x="0" y="164592"/>
                  </a:moveTo>
                  <a:cubicBezTo>
                    <a:pt x="0" y="73660"/>
                    <a:pt x="73660" y="0"/>
                    <a:pt x="164592" y="0"/>
                  </a:cubicBezTo>
                  <a:lnTo>
                    <a:pt x="5010912" y="0"/>
                  </a:lnTo>
                  <a:cubicBezTo>
                    <a:pt x="5101844" y="0"/>
                    <a:pt x="5175504" y="73660"/>
                    <a:pt x="5175504" y="164592"/>
                  </a:cubicBezTo>
                  <a:lnTo>
                    <a:pt x="5175504" y="3767328"/>
                  </a:lnTo>
                  <a:cubicBezTo>
                    <a:pt x="5175504" y="3858260"/>
                    <a:pt x="5101844" y="3931920"/>
                    <a:pt x="5010912" y="3931920"/>
                  </a:cubicBezTo>
                  <a:lnTo>
                    <a:pt x="164592" y="3931920"/>
                  </a:lnTo>
                  <a:cubicBezTo>
                    <a:pt x="73660" y="3931920"/>
                    <a:pt x="0" y="3858260"/>
                    <a:pt x="0" y="3767328"/>
                  </a:cubicBezTo>
                  <a:close/>
                </a:path>
              </a:pathLst>
            </a:custGeom>
            <a:solidFill>
              <a:srgbClr val="FFFFFF"/>
            </a:solidFill>
          </p:spPr>
        </p:sp>
      </p:grpSp>
      <p:grpSp>
        <p:nvGrpSpPr>
          <p:cNvPr name="Group 52" id="52"/>
          <p:cNvGrpSpPr/>
          <p:nvPr/>
        </p:nvGrpSpPr>
        <p:grpSpPr>
          <a:xfrm rot="0">
            <a:off x="10719054" y="6213348"/>
            <a:ext cx="1097280" cy="1097280"/>
            <a:chOff x="0" y="0"/>
            <a:chExt cx="1463040" cy="1463040"/>
          </a:xfrm>
        </p:grpSpPr>
        <p:sp>
          <p:nvSpPr>
            <p:cNvPr name="Freeform 53" id="53"/>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6D2E46"/>
            </a:solidFill>
          </p:spPr>
        </p:sp>
      </p:grpSp>
      <p:grpSp>
        <p:nvGrpSpPr>
          <p:cNvPr name="Group 54" id="54"/>
          <p:cNvGrpSpPr/>
          <p:nvPr/>
        </p:nvGrpSpPr>
        <p:grpSpPr>
          <a:xfrm rot="0">
            <a:off x="10982401" y="6476695"/>
            <a:ext cx="570586" cy="570586"/>
            <a:chOff x="0" y="0"/>
            <a:chExt cx="760781" cy="760781"/>
          </a:xfrm>
        </p:grpSpPr>
        <p:sp>
          <p:nvSpPr>
            <p:cNvPr name="Freeform 55" id="55" descr="/home/claude/herbalance/icon_globe.png"/>
            <p:cNvSpPr/>
            <p:nvPr/>
          </p:nvSpPr>
          <p:spPr>
            <a:xfrm flipH="false" flipV="false" rot="0">
              <a:off x="0" y="0"/>
              <a:ext cx="760730" cy="760730"/>
            </a:xfrm>
            <a:custGeom>
              <a:avLst/>
              <a:gdLst/>
              <a:ahLst/>
              <a:cxnLst/>
              <a:rect r="r" b="b" t="t" l="l"/>
              <a:pathLst>
                <a:path h="760730" w="760730">
                  <a:moveTo>
                    <a:pt x="0" y="0"/>
                  </a:moveTo>
                  <a:lnTo>
                    <a:pt x="760730" y="0"/>
                  </a:lnTo>
                  <a:lnTo>
                    <a:pt x="760730" y="760730"/>
                  </a:lnTo>
                  <a:lnTo>
                    <a:pt x="0" y="760730"/>
                  </a:lnTo>
                  <a:lnTo>
                    <a:pt x="0" y="0"/>
                  </a:lnTo>
                  <a:close/>
                </a:path>
              </a:pathLst>
            </a:custGeom>
            <a:blipFill>
              <a:blip r:embed="rId10"/>
              <a:stretch>
                <a:fillRect l="0" t="0" r="-6" b="-6"/>
              </a:stretch>
            </a:blipFill>
          </p:spPr>
        </p:sp>
      </p:grpSp>
      <p:sp>
        <p:nvSpPr>
          <p:cNvPr name="TextBox 56" id="56"/>
          <p:cNvSpPr txBox="true"/>
          <p:nvPr/>
        </p:nvSpPr>
        <p:spPr>
          <a:xfrm rot="0">
            <a:off x="9624060" y="7463790"/>
            <a:ext cx="3287268" cy="1131570"/>
          </a:xfrm>
          <a:prstGeom prst="rect">
            <a:avLst/>
          </a:prstGeom>
        </p:spPr>
        <p:txBody>
          <a:bodyPr anchor="t" rtlCol="false" tIns="0" lIns="0" bIns="0" rIns="0">
            <a:spAutoFit/>
          </a:bodyPr>
          <a:lstStyle/>
          <a:p>
            <a:pPr algn="ctr">
              <a:lnSpc>
                <a:spcPts val="2277"/>
              </a:lnSpc>
            </a:pPr>
            <a:r>
              <a:rPr lang="en-US" sz="1725">
                <a:solidFill>
                  <a:srgbClr val="3A2A2E"/>
                </a:solidFill>
                <a:latin typeface="Calibri (MS)"/>
                <a:ea typeface="Calibri (MS)"/>
                <a:cs typeface="Calibri (MS)"/>
                <a:sym typeface="Calibri (MS)"/>
              </a:rPr>
              <a:t>Multi-language support</a:t>
            </a:r>
          </a:p>
        </p:txBody>
      </p:sp>
      <p:grpSp>
        <p:nvGrpSpPr>
          <p:cNvPr name="Group 57" id="57"/>
          <p:cNvGrpSpPr/>
          <p:nvPr/>
        </p:nvGrpSpPr>
        <p:grpSpPr>
          <a:xfrm rot="0">
            <a:off x="13510260" y="5829300"/>
            <a:ext cx="3881628" cy="2948940"/>
            <a:chOff x="0" y="0"/>
            <a:chExt cx="5175504" cy="3931920"/>
          </a:xfrm>
        </p:grpSpPr>
        <p:sp>
          <p:nvSpPr>
            <p:cNvPr name="Freeform 58" id="58"/>
            <p:cNvSpPr/>
            <p:nvPr/>
          </p:nvSpPr>
          <p:spPr>
            <a:xfrm flipH="false" flipV="false" rot="0">
              <a:off x="0" y="0"/>
              <a:ext cx="5175504" cy="3931920"/>
            </a:xfrm>
            <a:custGeom>
              <a:avLst/>
              <a:gdLst/>
              <a:ahLst/>
              <a:cxnLst/>
              <a:rect r="r" b="b" t="t" l="l"/>
              <a:pathLst>
                <a:path h="3931920" w="5175504">
                  <a:moveTo>
                    <a:pt x="0" y="164592"/>
                  </a:moveTo>
                  <a:cubicBezTo>
                    <a:pt x="0" y="73660"/>
                    <a:pt x="73660" y="0"/>
                    <a:pt x="164592" y="0"/>
                  </a:cubicBezTo>
                  <a:lnTo>
                    <a:pt x="5010912" y="0"/>
                  </a:lnTo>
                  <a:cubicBezTo>
                    <a:pt x="5101844" y="0"/>
                    <a:pt x="5175504" y="73660"/>
                    <a:pt x="5175504" y="164592"/>
                  </a:cubicBezTo>
                  <a:lnTo>
                    <a:pt x="5175504" y="3767328"/>
                  </a:lnTo>
                  <a:cubicBezTo>
                    <a:pt x="5175504" y="3858260"/>
                    <a:pt x="5101844" y="3931920"/>
                    <a:pt x="5010912" y="3931920"/>
                  </a:cubicBezTo>
                  <a:lnTo>
                    <a:pt x="164592" y="3931920"/>
                  </a:lnTo>
                  <a:cubicBezTo>
                    <a:pt x="73660" y="3931920"/>
                    <a:pt x="0" y="3858260"/>
                    <a:pt x="0" y="3767328"/>
                  </a:cubicBezTo>
                  <a:close/>
                </a:path>
              </a:pathLst>
            </a:custGeom>
            <a:solidFill>
              <a:srgbClr val="FFFFFF"/>
            </a:solidFill>
          </p:spPr>
        </p:sp>
      </p:grpSp>
      <p:grpSp>
        <p:nvGrpSpPr>
          <p:cNvPr name="Group 59" id="59"/>
          <p:cNvGrpSpPr/>
          <p:nvPr/>
        </p:nvGrpSpPr>
        <p:grpSpPr>
          <a:xfrm rot="0">
            <a:off x="14902434" y="6213348"/>
            <a:ext cx="1097280" cy="1097280"/>
            <a:chOff x="0" y="0"/>
            <a:chExt cx="1463040" cy="1463040"/>
          </a:xfrm>
        </p:grpSpPr>
        <p:sp>
          <p:nvSpPr>
            <p:cNvPr name="Freeform 60" id="60"/>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6D2E46"/>
            </a:solidFill>
          </p:spPr>
        </p:sp>
      </p:grpSp>
      <p:grpSp>
        <p:nvGrpSpPr>
          <p:cNvPr name="Group 61" id="61"/>
          <p:cNvGrpSpPr/>
          <p:nvPr/>
        </p:nvGrpSpPr>
        <p:grpSpPr>
          <a:xfrm rot="0">
            <a:off x="15165781" y="6476695"/>
            <a:ext cx="570586" cy="570586"/>
            <a:chOff x="0" y="0"/>
            <a:chExt cx="760781" cy="760781"/>
          </a:xfrm>
        </p:grpSpPr>
        <p:sp>
          <p:nvSpPr>
            <p:cNvPr name="Freeform 62" id="62" descr="/home/claude/herbalance/icon_dna.png"/>
            <p:cNvSpPr/>
            <p:nvPr/>
          </p:nvSpPr>
          <p:spPr>
            <a:xfrm flipH="false" flipV="false" rot="0">
              <a:off x="0" y="0"/>
              <a:ext cx="760730" cy="760730"/>
            </a:xfrm>
            <a:custGeom>
              <a:avLst/>
              <a:gdLst/>
              <a:ahLst/>
              <a:cxnLst/>
              <a:rect r="r" b="b" t="t" l="l"/>
              <a:pathLst>
                <a:path h="760730" w="760730">
                  <a:moveTo>
                    <a:pt x="0" y="0"/>
                  </a:moveTo>
                  <a:lnTo>
                    <a:pt x="760730" y="0"/>
                  </a:lnTo>
                  <a:lnTo>
                    <a:pt x="760730" y="760730"/>
                  </a:lnTo>
                  <a:lnTo>
                    <a:pt x="0" y="760730"/>
                  </a:lnTo>
                  <a:lnTo>
                    <a:pt x="0" y="0"/>
                  </a:lnTo>
                  <a:close/>
                </a:path>
              </a:pathLst>
            </a:custGeom>
            <a:blipFill>
              <a:blip r:embed="rId11"/>
              <a:stretch>
                <a:fillRect l="0" t="0" r="-6" b="-6"/>
              </a:stretch>
            </a:blipFill>
          </p:spPr>
        </p:sp>
      </p:grpSp>
      <p:sp>
        <p:nvSpPr>
          <p:cNvPr name="TextBox 63" id="63"/>
          <p:cNvSpPr txBox="true"/>
          <p:nvPr/>
        </p:nvSpPr>
        <p:spPr>
          <a:xfrm rot="0">
            <a:off x="13807440" y="7463790"/>
            <a:ext cx="3287268" cy="1131570"/>
          </a:xfrm>
          <a:prstGeom prst="rect">
            <a:avLst/>
          </a:prstGeom>
        </p:spPr>
        <p:txBody>
          <a:bodyPr anchor="t" rtlCol="false" tIns="0" lIns="0" bIns="0" rIns="0">
            <a:spAutoFit/>
          </a:bodyPr>
          <a:lstStyle/>
          <a:p>
            <a:pPr algn="ctr">
              <a:lnSpc>
                <a:spcPts val="2277"/>
              </a:lnSpc>
            </a:pPr>
            <a:r>
              <a:rPr lang="en-US" sz="1725">
                <a:solidFill>
                  <a:srgbClr val="3A2A2E"/>
                </a:solidFill>
                <a:latin typeface="Calibri (MS)"/>
                <a:ea typeface="Calibri (MS)"/>
                <a:cs typeface="Calibri (MS)"/>
                <a:sym typeface="Calibri (MS)"/>
              </a:rPr>
              <a:t>Advanced disease prediction using AI</a:t>
            </a:r>
          </a:p>
        </p:txBody>
      </p:sp>
      <p:grpSp>
        <p:nvGrpSpPr>
          <p:cNvPr name="Group 64" id="64"/>
          <p:cNvGrpSpPr/>
          <p:nvPr/>
        </p:nvGrpSpPr>
        <p:grpSpPr>
          <a:xfrm rot="0">
            <a:off x="17048988" y="9532620"/>
            <a:ext cx="822960" cy="480060"/>
            <a:chOff x="0" y="0"/>
            <a:chExt cx="1097280" cy="640080"/>
          </a:xfrm>
        </p:grpSpPr>
        <p:sp>
          <p:nvSpPr>
            <p:cNvPr name="Freeform 65" id="65"/>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3">
                <a:alphaModFix amt="0"/>
              </a:blip>
              <a:stretch>
                <a:fillRect l="-24843" t="0" r="-24843" b="0"/>
              </a:stretch>
            </a:blipFill>
          </p:spPr>
        </p:sp>
        <p:sp>
          <p:nvSpPr>
            <p:cNvPr name="TextBox 66" id="66"/>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8A7478"/>
                  </a:solidFill>
                  <a:latin typeface="Calibri (MS)"/>
                  <a:ea typeface="Calibri (MS)"/>
                  <a:cs typeface="Calibri (MS)"/>
                  <a:sym typeface="Calibri (MS)"/>
                </a:rPr>
                <a:t>08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4A1F30"/>
        </a:solidFill>
      </p:bgPr>
    </p:bg>
    <p:spTree>
      <p:nvGrpSpPr>
        <p:cNvPr id="1" name=""/>
        <p:cNvGrpSpPr/>
        <p:nvPr/>
      </p:nvGrpSpPr>
      <p:grpSpPr>
        <a:xfrm>
          <a:off x="0" y="0"/>
          <a:ext cx="0" cy="0"/>
          <a:chOff x="0" y="0"/>
          <a:chExt cx="0" cy="0"/>
        </a:xfrm>
      </p:grpSpPr>
      <p:grpSp>
        <p:nvGrpSpPr>
          <p:cNvPr name="Group 2" id="2"/>
          <p:cNvGrpSpPr/>
          <p:nvPr/>
        </p:nvGrpSpPr>
        <p:grpSpPr>
          <a:xfrm rot="0">
            <a:off x="-2743200" y="-3429000"/>
            <a:ext cx="8229600" cy="8229600"/>
            <a:chOff x="0" y="0"/>
            <a:chExt cx="10972800" cy="10972800"/>
          </a:xfrm>
        </p:grpSpPr>
        <p:sp>
          <p:nvSpPr>
            <p:cNvPr name="Freeform 3" id="3"/>
            <p:cNvSpPr/>
            <p:nvPr/>
          </p:nvSpPr>
          <p:spPr>
            <a:xfrm flipH="false" flipV="false" rot="0">
              <a:off x="0" y="0"/>
              <a:ext cx="10972800" cy="10972800"/>
            </a:xfrm>
            <a:custGeom>
              <a:avLst/>
              <a:gdLst/>
              <a:ahLst/>
              <a:cxnLst/>
              <a:rect r="r" b="b" t="t" l="l"/>
              <a:pathLst>
                <a:path h="10972800" w="10972800">
                  <a:moveTo>
                    <a:pt x="0" y="5486400"/>
                  </a:moveTo>
                  <a:cubicBezTo>
                    <a:pt x="0" y="2456307"/>
                    <a:pt x="2456307" y="0"/>
                    <a:pt x="5486400" y="0"/>
                  </a:cubicBezTo>
                  <a:cubicBezTo>
                    <a:pt x="8516493" y="0"/>
                    <a:pt x="10972800" y="2456307"/>
                    <a:pt x="10972800" y="5486400"/>
                  </a:cubicBezTo>
                  <a:cubicBezTo>
                    <a:pt x="10972800" y="8516493"/>
                    <a:pt x="8516493" y="10972800"/>
                    <a:pt x="5486400" y="10972800"/>
                  </a:cubicBezTo>
                  <a:cubicBezTo>
                    <a:pt x="2456307" y="10972800"/>
                    <a:pt x="0" y="8516493"/>
                    <a:pt x="0" y="5486400"/>
                  </a:cubicBezTo>
                  <a:close/>
                </a:path>
              </a:pathLst>
            </a:custGeom>
            <a:solidFill>
              <a:srgbClr val="6D2E46">
                <a:alpha val="35686"/>
              </a:srgbClr>
            </a:solidFill>
          </p:spPr>
        </p:sp>
      </p:grpSp>
      <p:grpSp>
        <p:nvGrpSpPr>
          <p:cNvPr name="Group 4" id="4"/>
          <p:cNvGrpSpPr/>
          <p:nvPr/>
        </p:nvGrpSpPr>
        <p:grpSpPr>
          <a:xfrm rot="0">
            <a:off x="13441680" y="5486400"/>
            <a:ext cx="7543800" cy="7543800"/>
            <a:chOff x="0" y="0"/>
            <a:chExt cx="10058400" cy="10058400"/>
          </a:xfrm>
        </p:grpSpPr>
        <p:sp>
          <p:nvSpPr>
            <p:cNvPr name="Freeform 5" id="5"/>
            <p:cNvSpPr/>
            <p:nvPr/>
          </p:nvSpPr>
          <p:spPr>
            <a:xfrm flipH="false" flipV="false" rot="0">
              <a:off x="0" y="0"/>
              <a:ext cx="10058400" cy="10058400"/>
            </a:xfrm>
            <a:custGeom>
              <a:avLst/>
              <a:gdLst/>
              <a:ahLst/>
              <a:cxnLst/>
              <a:rect r="r" b="b" t="t" l="l"/>
              <a:pathLst>
                <a:path h="10058400" w="10058400">
                  <a:moveTo>
                    <a:pt x="0" y="5029200"/>
                  </a:moveTo>
                  <a:cubicBezTo>
                    <a:pt x="0" y="2251710"/>
                    <a:pt x="2251710" y="0"/>
                    <a:pt x="5029200" y="0"/>
                  </a:cubicBezTo>
                  <a:cubicBezTo>
                    <a:pt x="7806690" y="0"/>
                    <a:pt x="10058400" y="2251710"/>
                    <a:pt x="10058400" y="5029200"/>
                  </a:cubicBezTo>
                  <a:cubicBezTo>
                    <a:pt x="10058400" y="7806690"/>
                    <a:pt x="7806690" y="10058400"/>
                    <a:pt x="5029200" y="10058400"/>
                  </a:cubicBezTo>
                  <a:cubicBezTo>
                    <a:pt x="2251710" y="10058400"/>
                    <a:pt x="0" y="7806690"/>
                    <a:pt x="0" y="5029200"/>
                  </a:cubicBezTo>
                  <a:close/>
                </a:path>
              </a:pathLst>
            </a:custGeom>
            <a:solidFill>
              <a:srgbClr val="A26769">
                <a:alpha val="35686"/>
              </a:srgbClr>
            </a:solidFill>
          </p:spPr>
        </p:sp>
      </p:grpSp>
      <p:grpSp>
        <p:nvGrpSpPr>
          <p:cNvPr name="Group 6" id="6"/>
          <p:cNvGrpSpPr/>
          <p:nvPr/>
        </p:nvGrpSpPr>
        <p:grpSpPr>
          <a:xfrm rot="0">
            <a:off x="8092440" y="1165860"/>
            <a:ext cx="1165860" cy="1165860"/>
            <a:chOff x="0" y="0"/>
            <a:chExt cx="1554480" cy="1554480"/>
          </a:xfrm>
        </p:grpSpPr>
        <p:sp>
          <p:nvSpPr>
            <p:cNvPr name="Freeform 7" id="7"/>
            <p:cNvSpPr/>
            <p:nvPr/>
          </p:nvSpPr>
          <p:spPr>
            <a:xfrm flipH="false" flipV="false" rot="0">
              <a:off x="0" y="0"/>
              <a:ext cx="1554480" cy="1554480"/>
            </a:xfrm>
            <a:custGeom>
              <a:avLst/>
              <a:gdLst/>
              <a:ahLst/>
              <a:cxnLst/>
              <a:rect r="r" b="b" t="t" l="l"/>
              <a:pathLst>
                <a:path h="1554480" w="1554480">
                  <a:moveTo>
                    <a:pt x="0" y="777240"/>
                  </a:moveTo>
                  <a:cubicBezTo>
                    <a:pt x="0" y="347980"/>
                    <a:pt x="347980" y="0"/>
                    <a:pt x="777240" y="0"/>
                  </a:cubicBezTo>
                  <a:cubicBezTo>
                    <a:pt x="1206500" y="0"/>
                    <a:pt x="1554480" y="347980"/>
                    <a:pt x="1554480" y="777240"/>
                  </a:cubicBezTo>
                  <a:cubicBezTo>
                    <a:pt x="1554480" y="1206500"/>
                    <a:pt x="1206500" y="1554480"/>
                    <a:pt x="777240" y="1554480"/>
                  </a:cubicBezTo>
                  <a:cubicBezTo>
                    <a:pt x="347980" y="1554480"/>
                    <a:pt x="0" y="1206500"/>
                    <a:pt x="0" y="777240"/>
                  </a:cubicBezTo>
                  <a:close/>
                </a:path>
              </a:pathLst>
            </a:custGeom>
            <a:solidFill>
              <a:srgbClr val="A26769"/>
            </a:solidFill>
          </p:spPr>
        </p:sp>
      </p:grpSp>
      <p:grpSp>
        <p:nvGrpSpPr>
          <p:cNvPr name="Group 8" id="8"/>
          <p:cNvGrpSpPr/>
          <p:nvPr/>
        </p:nvGrpSpPr>
        <p:grpSpPr>
          <a:xfrm rot="0">
            <a:off x="8372246" y="1445666"/>
            <a:ext cx="606247" cy="606247"/>
            <a:chOff x="0" y="0"/>
            <a:chExt cx="808330" cy="808330"/>
          </a:xfrm>
        </p:grpSpPr>
        <p:sp>
          <p:nvSpPr>
            <p:cNvPr name="Freeform 9" id="9" descr="/home/claude/herbalance/icon_leaf.png"/>
            <p:cNvSpPr/>
            <p:nvPr/>
          </p:nvSpPr>
          <p:spPr>
            <a:xfrm flipH="false" flipV="false" rot="0">
              <a:off x="0" y="0"/>
              <a:ext cx="808355" cy="808355"/>
            </a:xfrm>
            <a:custGeom>
              <a:avLst/>
              <a:gdLst/>
              <a:ahLst/>
              <a:cxnLst/>
              <a:rect r="r" b="b" t="t" l="l"/>
              <a:pathLst>
                <a:path h="808355" w="808355">
                  <a:moveTo>
                    <a:pt x="0" y="0"/>
                  </a:moveTo>
                  <a:lnTo>
                    <a:pt x="808355" y="0"/>
                  </a:lnTo>
                  <a:lnTo>
                    <a:pt x="808355" y="808355"/>
                  </a:lnTo>
                  <a:lnTo>
                    <a:pt x="0" y="808355"/>
                  </a:lnTo>
                  <a:lnTo>
                    <a:pt x="0" y="0"/>
                  </a:lnTo>
                  <a:close/>
                </a:path>
              </a:pathLst>
            </a:custGeom>
            <a:blipFill>
              <a:blip r:embed="rId3"/>
              <a:stretch>
                <a:fillRect l="0" t="0" r="3" b="3"/>
              </a:stretch>
            </a:blipFill>
          </p:spPr>
        </p:sp>
      </p:grpSp>
      <p:grpSp>
        <p:nvGrpSpPr>
          <p:cNvPr name="Group 10" id="10"/>
          <p:cNvGrpSpPr/>
          <p:nvPr/>
        </p:nvGrpSpPr>
        <p:grpSpPr>
          <a:xfrm rot="0">
            <a:off x="960120" y="2743200"/>
            <a:ext cx="16322040" cy="1097280"/>
            <a:chOff x="0" y="0"/>
            <a:chExt cx="21762720" cy="1463040"/>
          </a:xfrm>
        </p:grpSpPr>
        <p:sp>
          <p:nvSpPr>
            <p:cNvPr name="Freeform 11" id="11"/>
            <p:cNvSpPr/>
            <p:nvPr/>
          </p:nvSpPr>
          <p:spPr>
            <a:xfrm flipH="false" flipV="false" rot="0">
              <a:off x="0" y="0"/>
              <a:ext cx="21762720" cy="1463040"/>
            </a:xfrm>
            <a:custGeom>
              <a:avLst/>
              <a:gdLst/>
              <a:ahLst/>
              <a:cxnLst/>
              <a:rect r="r" b="b" t="t" l="l"/>
              <a:pathLst>
                <a:path h="1463040" w="21762720">
                  <a:moveTo>
                    <a:pt x="0" y="0"/>
                  </a:moveTo>
                  <a:lnTo>
                    <a:pt x="21762720" y="0"/>
                  </a:lnTo>
                  <a:lnTo>
                    <a:pt x="21762720" y="1463040"/>
                  </a:lnTo>
                  <a:lnTo>
                    <a:pt x="0" y="1463040"/>
                  </a:lnTo>
                  <a:close/>
                </a:path>
              </a:pathLst>
            </a:custGeom>
            <a:blipFill>
              <a:blip r:embed="rId4">
                <a:alphaModFix amt="0"/>
              </a:blip>
              <a:stretch>
                <a:fillRect l="0" t="-239839" r="0" b="-239839"/>
              </a:stretch>
            </a:blipFill>
          </p:spPr>
        </p:sp>
        <p:sp>
          <p:nvSpPr>
            <p:cNvPr name="TextBox 12" id="12"/>
            <p:cNvSpPr txBox="true"/>
            <p:nvPr/>
          </p:nvSpPr>
          <p:spPr>
            <a:xfrm>
              <a:off x="0" y="-9525"/>
              <a:ext cx="21762720" cy="1472565"/>
            </a:xfrm>
            <a:prstGeom prst="rect">
              <a:avLst/>
            </a:prstGeom>
          </p:spPr>
          <p:txBody>
            <a:bodyPr anchor="ctr" rtlCol="false" tIns="0" lIns="0" bIns="0" rIns="0"/>
            <a:lstStyle/>
            <a:p>
              <a:pPr algn="ctr">
                <a:lnSpc>
                  <a:spcPts val="6480"/>
                </a:lnSpc>
              </a:pPr>
              <a:r>
                <a:rPr lang="en-US" sz="5400" b="true">
                  <a:solidFill>
                    <a:srgbClr val="FFFFFF"/>
                  </a:solidFill>
                  <a:latin typeface="Cambria Bold"/>
                  <a:ea typeface="Cambria Bold"/>
                  <a:cs typeface="Cambria Bold"/>
                  <a:sym typeface="Cambria Bold"/>
                </a:rPr>
                <a:t>Conclusion</a:t>
              </a:r>
            </a:p>
          </p:txBody>
        </p:sp>
      </p:grpSp>
      <p:sp>
        <p:nvSpPr>
          <p:cNvPr name="TextBox 13" id="13"/>
          <p:cNvSpPr txBox="true"/>
          <p:nvPr/>
        </p:nvSpPr>
        <p:spPr>
          <a:xfrm rot="0">
            <a:off x="3040380" y="3958590"/>
            <a:ext cx="12161520" cy="2785110"/>
          </a:xfrm>
          <a:prstGeom prst="rect">
            <a:avLst/>
          </a:prstGeom>
        </p:spPr>
        <p:txBody>
          <a:bodyPr anchor="t" rtlCol="false" tIns="0" lIns="0" bIns="0" rIns="0">
            <a:spAutoFit/>
          </a:bodyPr>
          <a:lstStyle/>
          <a:p>
            <a:pPr algn="ctr">
              <a:lnSpc>
                <a:spcPts val="3510"/>
              </a:lnSpc>
            </a:pPr>
            <a:r>
              <a:rPr lang="en-US" sz="2250">
                <a:solidFill>
                  <a:srgbClr val="ECE2D0"/>
                </a:solidFill>
                <a:latin typeface="Calibri (MS)"/>
                <a:ea typeface="Calibri (MS)"/>
                <a:cs typeface="Calibri (MS)"/>
                <a:sym typeface="Calibri (MS)"/>
              </a:rPr>
              <a:t>HERBALANCE AI provides an intelligent, secure, and comprehensive platform for women's health management. By combining AI technologies with personalized healthcare services, the system improves accessibility, promotes preventive care, and empowers women to make informed health decisions. Future enhancements will further expand its capabilities and impact.</a:t>
            </a:r>
          </a:p>
        </p:txBody>
      </p:sp>
      <p:grpSp>
        <p:nvGrpSpPr>
          <p:cNvPr name="Group 14" id="14"/>
          <p:cNvGrpSpPr/>
          <p:nvPr/>
        </p:nvGrpSpPr>
        <p:grpSpPr>
          <a:xfrm rot="0">
            <a:off x="7392353" y="7186612"/>
            <a:ext cx="3457575" cy="28575"/>
            <a:chOff x="0" y="0"/>
            <a:chExt cx="4610100" cy="38100"/>
          </a:xfrm>
        </p:grpSpPr>
        <p:sp>
          <p:nvSpPr>
            <p:cNvPr name="Freeform 15" id="15"/>
            <p:cNvSpPr/>
            <p:nvPr/>
          </p:nvSpPr>
          <p:spPr>
            <a:xfrm flipH="false" flipV="false" rot="0">
              <a:off x="0" y="0"/>
              <a:ext cx="4610100" cy="38100"/>
            </a:xfrm>
            <a:custGeom>
              <a:avLst/>
              <a:gdLst/>
              <a:ahLst/>
              <a:cxnLst/>
              <a:rect r="r" b="b" t="t" l="l"/>
              <a:pathLst>
                <a:path h="38100" w="4610100">
                  <a:moveTo>
                    <a:pt x="0" y="0"/>
                  </a:moveTo>
                  <a:lnTo>
                    <a:pt x="4610100" y="38100"/>
                  </a:lnTo>
                </a:path>
              </a:pathLst>
            </a:custGeom>
            <a:blipFill>
              <a:blip r:embed="rId4">
                <a:alphaModFix amt="0"/>
              </a:blip>
              <a:stretch>
                <a:fillRect l="0" t="-2307689" r="0" b="-2307689"/>
              </a:stretch>
            </a:blipFill>
            <a:ln w="28575" cap="sq">
              <a:solidFill>
                <a:srgbClr val="A26769"/>
              </a:solidFill>
              <a:prstDash val="solid"/>
              <a:miter/>
            </a:ln>
          </p:spPr>
        </p:sp>
      </p:grpSp>
      <p:grpSp>
        <p:nvGrpSpPr>
          <p:cNvPr name="Group 16" id="16"/>
          <p:cNvGrpSpPr/>
          <p:nvPr/>
        </p:nvGrpSpPr>
        <p:grpSpPr>
          <a:xfrm rot="0">
            <a:off x="960120" y="7612380"/>
            <a:ext cx="16322040" cy="754380"/>
            <a:chOff x="0" y="0"/>
            <a:chExt cx="21762720" cy="1005840"/>
          </a:xfrm>
        </p:grpSpPr>
        <p:sp>
          <p:nvSpPr>
            <p:cNvPr name="Freeform 17" id="17"/>
            <p:cNvSpPr/>
            <p:nvPr/>
          </p:nvSpPr>
          <p:spPr>
            <a:xfrm flipH="false" flipV="false" rot="0">
              <a:off x="0" y="0"/>
              <a:ext cx="21762720" cy="1005840"/>
            </a:xfrm>
            <a:custGeom>
              <a:avLst/>
              <a:gdLst/>
              <a:ahLst/>
              <a:cxnLst/>
              <a:rect r="r" b="b" t="t" l="l"/>
              <a:pathLst>
                <a:path h="1005840" w="21762720">
                  <a:moveTo>
                    <a:pt x="0" y="0"/>
                  </a:moveTo>
                  <a:lnTo>
                    <a:pt x="21762720" y="0"/>
                  </a:lnTo>
                  <a:lnTo>
                    <a:pt x="21762720" y="1005840"/>
                  </a:lnTo>
                  <a:lnTo>
                    <a:pt x="0" y="1005840"/>
                  </a:lnTo>
                  <a:close/>
                </a:path>
              </a:pathLst>
            </a:custGeom>
            <a:blipFill>
              <a:blip r:embed="rId4">
                <a:alphaModFix amt="0"/>
              </a:blip>
              <a:stretch>
                <a:fillRect l="0" t="-371585" r="0" b="-371585"/>
              </a:stretch>
            </a:blipFill>
          </p:spPr>
        </p:sp>
        <p:sp>
          <p:nvSpPr>
            <p:cNvPr name="TextBox 18" id="18"/>
            <p:cNvSpPr txBox="true"/>
            <p:nvPr/>
          </p:nvSpPr>
          <p:spPr>
            <a:xfrm>
              <a:off x="0" y="-19050"/>
              <a:ext cx="21762720" cy="1024890"/>
            </a:xfrm>
            <a:prstGeom prst="rect">
              <a:avLst/>
            </a:prstGeom>
          </p:spPr>
          <p:txBody>
            <a:bodyPr anchor="ctr" rtlCol="false" tIns="0" lIns="0" bIns="0" rIns="0"/>
            <a:lstStyle/>
            <a:p>
              <a:pPr algn="ctr">
                <a:lnSpc>
                  <a:spcPts val="3600"/>
                </a:lnSpc>
              </a:pPr>
              <a:r>
                <a:rPr lang="en-US" sz="3000" i="true">
                  <a:solidFill>
                    <a:srgbClr val="A26769"/>
                  </a:solidFill>
                  <a:latin typeface="Cambria Italics"/>
                  <a:ea typeface="Cambria Italics"/>
                  <a:cs typeface="Cambria Italics"/>
                  <a:sym typeface="Cambria Italics"/>
                </a:rPr>
                <a:t>Thank You</a:t>
              </a:r>
            </a:p>
          </p:txBody>
        </p:sp>
      </p:grpSp>
      <p:grpSp>
        <p:nvGrpSpPr>
          <p:cNvPr name="Group 19" id="19"/>
          <p:cNvGrpSpPr/>
          <p:nvPr/>
        </p:nvGrpSpPr>
        <p:grpSpPr>
          <a:xfrm rot="0">
            <a:off x="17048988" y="9532620"/>
            <a:ext cx="822960" cy="480060"/>
            <a:chOff x="0" y="0"/>
            <a:chExt cx="1097280" cy="640080"/>
          </a:xfrm>
        </p:grpSpPr>
        <p:sp>
          <p:nvSpPr>
            <p:cNvPr name="Freeform 20" id="20"/>
            <p:cNvSpPr/>
            <p:nvPr/>
          </p:nvSpPr>
          <p:spPr>
            <a:xfrm flipH="false" flipV="false" rot="0">
              <a:off x="0" y="0"/>
              <a:ext cx="1097280" cy="640080"/>
            </a:xfrm>
            <a:custGeom>
              <a:avLst/>
              <a:gdLst/>
              <a:ahLst/>
              <a:cxnLst/>
              <a:rect r="r" b="b" t="t" l="l"/>
              <a:pathLst>
                <a:path h="640080" w="1097280">
                  <a:moveTo>
                    <a:pt x="0" y="0"/>
                  </a:moveTo>
                  <a:lnTo>
                    <a:pt x="1097280" y="0"/>
                  </a:lnTo>
                  <a:lnTo>
                    <a:pt x="1097280" y="640080"/>
                  </a:lnTo>
                  <a:lnTo>
                    <a:pt x="0" y="640080"/>
                  </a:lnTo>
                  <a:close/>
                </a:path>
              </a:pathLst>
            </a:custGeom>
            <a:blipFill>
              <a:blip r:embed="rId4">
                <a:alphaModFix amt="0"/>
              </a:blip>
              <a:stretch>
                <a:fillRect l="-24843" t="0" r="-24843" b="0"/>
              </a:stretch>
            </a:blipFill>
          </p:spPr>
        </p:sp>
        <p:sp>
          <p:nvSpPr>
            <p:cNvPr name="TextBox 21" id="21"/>
            <p:cNvSpPr txBox="true"/>
            <p:nvPr/>
          </p:nvSpPr>
          <p:spPr>
            <a:xfrm>
              <a:off x="0" y="-38100"/>
              <a:ext cx="1097280" cy="678180"/>
            </a:xfrm>
            <a:prstGeom prst="rect">
              <a:avLst/>
            </a:prstGeom>
          </p:spPr>
          <p:txBody>
            <a:bodyPr anchor="ctr" rtlCol="false" tIns="0" lIns="0" bIns="0" rIns="0"/>
            <a:lstStyle/>
            <a:p>
              <a:pPr algn="r">
                <a:lnSpc>
                  <a:spcPts val="1800"/>
                </a:lnSpc>
              </a:pPr>
              <a:r>
                <a:rPr lang="en-US" sz="1500">
                  <a:solidFill>
                    <a:srgbClr val="ECE2D0"/>
                  </a:solidFill>
                  <a:latin typeface="Calibri (MS)"/>
                  <a:ea typeface="Calibri (MS)"/>
                  <a:cs typeface="Calibri (MS)"/>
                  <a:sym typeface="Calibri (MS)"/>
                </a:rPr>
                <a:t>09</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DAHP8Pg8CbI</dc:identifier>
  <dcterms:modified xsi:type="dcterms:W3CDTF">2011-08-01T06:04:30Z</dcterms:modified>
  <cp:revision>1</cp:revision>
  <dc:title>HERBALANCE_AI.pptx</dc:title>
</cp:coreProperties>
</file>