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9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60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48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841E-AB7B-AB53-96A2-AD4750F1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0619E-737D-302D-88B2-68FA3112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5E4BC-2880-6714-7ED6-F936E593C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A9A7F-45FA-E964-A9D0-BF88B07BD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7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228E-B8AF-4F8B-8884-FD9EDC8F0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3A12F-FBD3-6F5E-982A-E07E1CF17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C2C8B-69B7-FC1F-8C16-0AD8F7CA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F598E-5A03-4FA1-FF13-B08D4C50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D9C4-D38C-89E6-7FC5-65658962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84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8011-F744-C980-77AB-D0F2C097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AE57-0B83-5DE6-AA74-CC3F3C68D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D8A7-8A5F-8337-A216-7E7E4C58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E1461-16F8-EEB7-F4C6-09B66C67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257-43C8-18A8-62AA-50D63F88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8775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E0DB-C38F-EE96-2A40-3C18E527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D60B7-36F1-2240-7181-631068477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C5037-3BC2-FFDD-6CB8-7D90587F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C510-F2D5-62E2-0314-4A4A6E8E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A9EC2-2EBC-C074-4410-6C51712F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684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4A09F-121A-1399-AA21-9F479430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0AD6-80E2-6DCA-2A31-68C1B5D62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62D4-98F3-2425-A474-7F652A998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F2298-C7FF-E30D-D0DB-3EE93387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90AE5-BAB1-4A08-3F5D-75B14804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09AF-DAC9-6000-9BC1-BCD4F226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10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7AA6-A9E0-E2CB-2F61-657AEB64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89919-92C2-13D7-EB6C-3E4FDE36D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F5B44-8EC1-4461-3B3D-D02BA19B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A2FE6-DD46-08EF-AC80-BD3B1481F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978C4-A31F-447F-829A-4055C5B87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EE1B4-DC46-98AA-B764-6BA94288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6ECDA-9BBA-64D3-3AA0-8F494E33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32B1F-CEFD-6D67-DD02-ED106DB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936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BF90-4188-6C7B-3304-C652D20F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57F22-3B51-D822-68A5-0693197A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6D814-A1DA-005E-4209-8BE1AC62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DD9FB-1F68-EE07-6C55-AF571506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369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D06D5-0A12-D293-04CC-39058E34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D4C3F-C683-32D9-D854-59C7C0E5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4A22-B663-2F60-DA04-0D18847A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009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23B4-9E40-E701-85EB-F5786ABD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24DE-A412-76F5-24C2-DF1979F09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51C34-E80C-8AD8-0062-64F9D6B05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3497E-218B-1381-260A-B4808016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DB2F9-6C72-DA6B-37D2-C860875A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80C29-86D3-38F9-BBE9-85D624D8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31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1E80-A961-CB65-C6CD-66FA1F3A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7B3DA-AFDD-8AE5-AD1C-C606AA0B7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B89BB-D784-934B-905A-91B7C52BB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565A0-29A3-33A7-5A82-F99522A9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49E02-F5F5-35CA-BEEE-335A319B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A8DA5-CA4E-F424-9164-5BABB9B7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252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900E-2583-469D-6BC0-F5E6C96B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FC85E-C670-8136-EC06-0DF4020AA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00B7A-170E-9345-9EEE-3B9A753E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B05EB-00D1-874D-EF51-1E9E868C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D9609-51A2-65AF-BF04-51EAC1D9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428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D92273-9306-7BA1-15FD-1D0F8013E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D8833-0699-E309-8AB4-FB632AF8C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0AF0-DE1A-2034-A58C-7B84AA642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998B-123C-C056-1D3E-B3E838F81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92D0D-0DE7-96FB-E1FA-6F622D17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449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3394B-1A4B-439E-EDB0-D2EF4357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89A86-709E-CFCC-319F-2CCCE717A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62748-E998-4C08-A305-315CFDADB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7/28/2026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D5A94-A498-C605-EDF2-9AEEF6F59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4BAE-2FCE-CA9D-3FE8-C2B533F3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1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HERBALANCE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Papers for Personalized Nutrition, Fitness and Cosmetic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82880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Peer-reviewed research supporting an AI system that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personalized nutrition, fitness and cosmetic recommendations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personal health data.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evaluation, and gaps across the reference papers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33172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11556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(Year)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115568"/>
            <a:ext cx="278892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7" name="Text 5"/>
          <p:cNvSpPr/>
          <p:nvPr/>
        </p:nvSpPr>
        <p:spPr>
          <a:xfrm>
            <a:off x="2944368" y="1115568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23560" y="1115568"/>
            <a:ext cx="288036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Text 7"/>
          <p:cNvSpPr/>
          <p:nvPr/>
        </p:nvSpPr>
        <p:spPr>
          <a:xfrm>
            <a:off x="5733288" y="1115568"/>
            <a:ext cx="266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/ Accuracy Reported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1124712"/>
            <a:ext cx="315468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11" name="Text 9"/>
          <p:cNvSpPr/>
          <p:nvPr/>
        </p:nvSpPr>
        <p:spPr>
          <a:xfrm>
            <a:off x="8613648" y="1115568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609342"/>
            <a:ext cx="11155680" cy="14264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160020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Effect of Menstrual Cycle Phase, Symptoms, Motivation &amp; Readiness on Resistance Training Performance (2026)</a:t>
            </a:r>
            <a:endParaRPr lang="en-US" sz="1000" dirty="0">
              <a:latin typeface="Georgia" panose="02040502050405020303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Munteanu et al., Sports Medicine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44368" y="1600200"/>
            <a:ext cx="25694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Prospective longitudinal repeated-measures study; N=28 resistance-trained females; 2 mesocycles (~8 wks, 22 sessions); cycle phase verified via calendar counting, ovulation tests &amp; serum estradiol/progesterone; linear mixed-effects models.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33288" y="160020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Observed vs. expected concentric velocity (m·s⁻¹) with Cohen's d; significant phase effects in bench press (p=0.011, 0.005) &amp; deadlift (p=0.038, 0.049); motivation β=0.0004, p=0.021; pain–bench press p=0.018, pain–deadlift p&lt;0.001.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13648" y="1600200"/>
            <a:ext cx="293522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Prior research limited to isolated testing timepoints, not real training; small, non-diverse sample; linear velocity-change assumption; fixed mesocycle start phase confounds fatigue with hormonal phase</a:t>
            </a:r>
            <a:r>
              <a:rPr lang="en-US" sz="93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35808"/>
            <a:ext cx="11155680" cy="1508760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10896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Utilizing ML Algorithms for Personalized Workout Recommendations &amp; Monitoring: A Systematic Review on Smartwatch-Assisted Exercise Prescription (2025)</a:t>
            </a:r>
            <a:endParaRPr lang="en-US" sz="1000" dirty="0">
              <a:latin typeface="Georgia" panose="02040502050405020303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Jubair &amp; Mehenaz, DIGITAL HEALTH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44368" y="3108960"/>
            <a:ext cx="25694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PRISMA-guided systematic review; 5 databases searched (PubMed, Scopus, IEEE Xplore, Web of Science, SPORTDiscus); studies from Jan 2000–Dec 2023; included empirical human studies using smartwatch + ML for exercise monitoring/prescription</a:t>
            </a: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33288" y="310896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Narrative synthesis (not meta-analysis) of ML performance reported across included studies — e.g., energy-expenditure prediction, HR-based exercise-zone classification, and activity recognition accuracy; no single pooled accuracy value.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13648" y="3108960"/>
            <a:ext cx="293522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Highly heterogeneous study designs &amp; ML models hinder direct comparison; inconsistent outcome metrics; predominantly small samples; limited long-term, real-world validation; comorbid populations excluded.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454456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544568"/>
            <a:ext cx="1115568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461772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 AI-Based Nutrition Recommendation System: Technical Validation with Insights from Mediterranean Cuisine (2025)</a:t>
            </a:r>
            <a:endParaRPr lang="en-US" sz="1000" dirty="0">
              <a:latin typeface="Georgia" panose="02040502050405020303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Kalpakoglou et al., Frontiers in Nutrition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44368" y="4617720"/>
            <a:ext cx="25694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Rule-based AI Nutrition Recommender (AINR); 180 expert-validated Mediterranean meals (90 Spanish, 90 Turkish); 4-step pipeline — filter by season/preference/allergy, score plans against Daily Energy Requirement &amp; macronutrient rules; tested on 4,000 simulated user profiles.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33288" y="461772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100% accuracy filtering by allergy/preference/season; ~90% of profiles received a complete rule-compliant weekly plan; 98% accuracy in caloric matching; &gt;90% accuracy in macronutrient &amp; fruit-vegetable targets.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13648" y="4617720"/>
            <a:ext cx="293522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Limited to Mediterranean (Spanish/Turkish) cuisine, not generalized; validated on simulated, not real, users; rule-based rather than adaptive/learning; no palatability or taste-preference optimization.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605332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1115568"/>
            <a:ext cx="11155680" cy="4937760"/>
          </a:xfrm>
          <a:prstGeom prst="rect">
            <a:avLst/>
          </a:prstGeom>
          <a:ln w="9525">
            <a:solidFill>
              <a:srgbClr val="E3E3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evaluation, and gaps across the reference papers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49830"/>
              </p:ext>
            </p:extLst>
          </p:nvPr>
        </p:nvGraphicFramePr>
        <p:xfrm>
          <a:off x="457200" y="1280158"/>
          <a:ext cx="11247120" cy="4542143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18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Paper Title (Year)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Methodology Used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Evaluation Metrics / Accuracy Reported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Gaps Identified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Exercise-Induced Muscle Damage During the Menstrual Cycle: A Systematic Review and Meta-Analysis (2021)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PRISMA-based Systematic Review and Meta-analysis of 19 studies examining exercise-induced muscle damage (EIMD) across different menstrual cycle phases.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Evaluated using </a:t>
                      </a: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Delayed Onset Muscle Soreness (DOMS), Strength Loss, and Creatine Kinase (CK)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. Significant differences were observed for DOMS and strength loss (p &lt; 0.05), while CK showed no significant difference.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Small number of high-quality studies, inconsistent menstrual phase verification, varied exercise protocols, and lack of standardized methods across studies.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1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Artificial Intelligence That Predicts Sensitizing Potential of Cosmetic Ingredients with Accuracy Comparable to Animal and In Vitro Tests (2023)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Machine Learning-based in silico prediction model using WEKA and Naïve Bayes classifier trained on physicochemical descriptors of cosmetic ingredients.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Accuracy: 86% • Sensitivity: 80% • Specificity: 90%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using the best-performing Naïve Bayes model.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Limited to cosmetic ingredient safety prediction; does not address personalized healthcare, menstrual health, or fitness recommendations.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 Predictive Model for Next Cycle Start Date That Accounts for Adherence in Menstrual Self-Tracking (2022)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Probabilistic Machine Learning model trained on menstrual self-tracking data from over 186,000 users, incorporating user adherence behavior into prediction.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Evaluated using RMSE, Absolute Error, Median Absolute Error, and Cycle Length Difference (CLD)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. The proposed model outperformed mean, median, CNN, RNN, and LSTM baseline models.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Focuses only on menstrual cycle prediction and tracking adherence; does not provide integrated workout, nutrition, or comprehensive women's health recommendations.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C0E0-D7C2-1BB3-4475-FF2FDBE5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6D8808-8616-291E-C568-4D6D70340C8B}"/>
              </a:ext>
            </a:extLst>
          </p:cNvPr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Summary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124DB5-FAB6-5941-819A-0BCB0D2426A8}"/>
              </a:ext>
            </a:extLst>
          </p:cNvPr>
          <p:cNvSpPr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evaluation, and gaps across the reference papers</a:t>
            </a:r>
            <a:endParaRPr lang="en-US" sz="13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52EC2458-BC2C-0ACB-44A3-E72B9D471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595850"/>
              </p:ext>
            </p:extLst>
          </p:nvPr>
        </p:nvGraphicFramePr>
        <p:xfrm>
          <a:off x="485192" y="1280160"/>
          <a:ext cx="11364686" cy="4632960"/>
        </p:xfrm>
        <a:graphic>
          <a:graphicData uri="http://schemas.openxmlformats.org/drawingml/2006/table">
            <a:tbl>
              <a:tblPr/>
              <a:tblGrid>
                <a:gridCol w="2657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5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Paper Title (Year)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Methodology Used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Evaluation Metrics / Accuracy Reported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Gaps Identified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Beyond Fitzpatrick: Automated AI-Based Skin Tone Analysis in Dermatological Patients (2025)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Developed an AI algorithm to calculate the Individual Typology Angle (ITA) from CIELAB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colour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values extracted using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DensePose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(arm) and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OpenFace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(face) landmarks. ITA values were mapped to both Fitzpatrick and Monk skin tone scales. Validation was performed on 214 clinical 3D total-body photography scans and 551 AI-generated images.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Monk Scale: 89–92% accuracy (clinical), 84–89% (AI-generated). Fitzpatrick Scale: 0–20% accuracy (clinical), 10–67% (AI-generated). Balanced accuracy: 58–75% (Monk) vs 17–65% (Fitzpatrick).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Fitzpatrick skin tone prediction using ITA remains unreliable. Dataset is imbalanced toward medium skin tones. Validation is limited to 3D body photography and AI-generated images, with no testing on diverse real-world clinical datasets..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Evaluating </a:t>
                      </a:r>
                      <a:r>
                        <a:rPr lang="en-US" sz="1050" b="1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LingualAI</a:t>
                      </a: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: A Prospective Validation of AI-Based Real-Time Translation Against Certified Human Interpreters (2026)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Prospective within-subject validation study comparing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LingualAI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real-time speech translation with certified medical interpreters. Three scripted English–Spanish clinical scenarios were evaluated by 9 bilingual clinicians, who rated translations across 12 quality domains using a predefined non-inferiority margin.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Achieved non-inferiority for medical terminology accuracy (Δ = 0.07) and meaning preservation (Δ = 0.13). Failed to achieve non-inferiority for clarity (Δ = 0.50), fluency (Δ = 1.13), prosody (Δ = 0.59), pacing (Δ = 0.40), overall quality (Δ = 0.58), and clinical confidence (Δ = 0.61).</a:t>
                      </a:r>
                      <a:endParaRPr lang="en-US" sz="1000" b="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Limited to scripted scenarios, a single language pair (English–Spanish), one clinical specialty, and a small sample size (9 evaluators, 33 dialogue lines). No evaluation in real clinical environments.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Considerations for Specialized Health AI &amp; ML Modelling and Applications: Imaging—Through the Perspective of Dermatology (2024)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Narrative review discussing CNN-based deep learning techniques in dermatology, including image classification, lesion segmentation, dermatopathology, transfer learning, and architectures such as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ResNet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DenseNet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EfficientNet</a:t>
                      </a: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, and U-Net for whole-slide image analysis.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Reviews prior studies showing CNN-based melanoma classification performing at or above dermatologist level. Reports U-Net lesion segmentation achieving Jaccard Index up to 80.73%.</a:t>
                      </a:r>
                      <a:endParaRPr lang="en-US" sz="1000" b="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Provides a general overview of dermatology AI rather than personalized healthcare applications. Existing datasets suffer from demographic and imaging-device bias, and prospective clinical validation remains limited, with very few real-world trials..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45764D8F-0B2C-971F-907A-EC51D0E2F43C}"/>
              </a:ext>
            </a:extLst>
          </p:cNvPr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480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FAEE-4DD8-7E45-280F-B61FB37A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130E82-9AA3-CE03-B8C5-52AB179DAF33}"/>
              </a:ext>
            </a:extLst>
          </p:cNvPr>
          <p:cNvSpPr/>
          <p:nvPr/>
        </p:nvSpPr>
        <p:spPr>
          <a:xfrm>
            <a:off x="502920" y="292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Summary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80211-16A1-7B06-1A68-2507ADFACF3A}"/>
              </a:ext>
            </a:extLst>
          </p:cNvPr>
          <p:cNvSpPr/>
          <p:nvPr/>
        </p:nvSpPr>
        <p:spPr>
          <a:xfrm>
            <a:off x="502920" y="69494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Methodology, evaluation, and gaps across the reference papers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94F088-58B6-2CA8-390B-BFB62138CCE5}"/>
              </a:ext>
            </a:extLst>
          </p:cNvPr>
          <p:cNvSpPr/>
          <p:nvPr/>
        </p:nvSpPr>
        <p:spPr>
          <a:xfrm>
            <a:off x="502920" y="1115568"/>
            <a:ext cx="233172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B95772-7051-7D5F-FCCD-B22C7AF8BB38}"/>
              </a:ext>
            </a:extLst>
          </p:cNvPr>
          <p:cNvSpPr/>
          <p:nvPr/>
        </p:nvSpPr>
        <p:spPr>
          <a:xfrm>
            <a:off x="612648" y="111556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 (Year)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1F5C72-D082-5481-3AC0-C743B3020E89}"/>
              </a:ext>
            </a:extLst>
          </p:cNvPr>
          <p:cNvSpPr/>
          <p:nvPr/>
        </p:nvSpPr>
        <p:spPr>
          <a:xfrm>
            <a:off x="2834640" y="1115568"/>
            <a:ext cx="278892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8BCA8A-9581-5254-C46D-3717362D8DCB}"/>
              </a:ext>
            </a:extLst>
          </p:cNvPr>
          <p:cNvSpPr/>
          <p:nvPr/>
        </p:nvSpPr>
        <p:spPr>
          <a:xfrm>
            <a:off x="2944368" y="1115568"/>
            <a:ext cx="2569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Used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691BDA-D041-31C0-BEA3-A43D378E12D8}"/>
              </a:ext>
            </a:extLst>
          </p:cNvPr>
          <p:cNvSpPr/>
          <p:nvPr/>
        </p:nvSpPr>
        <p:spPr>
          <a:xfrm>
            <a:off x="5623560" y="1115568"/>
            <a:ext cx="288036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A7DDA3-1599-6A11-B5C9-521D668D3B27}"/>
              </a:ext>
            </a:extLst>
          </p:cNvPr>
          <p:cNvSpPr/>
          <p:nvPr/>
        </p:nvSpPr>
        <p:spPr>
          <a:xfrm>
            <a:off x="5733288" y="1115568"/>
            <a:ext cx="2660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/ Accuracy Reported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66FBA33-FFF4-3B81-F2C6-1F4574462B8F}"/>
              </a:ext>
            </a:extLst>
          </p:cNvPr>
          <p:cNvSpPr/>
          <p:nvPr/>
        </p:nvSpPr>
        <p:spPr>
          <a:xfrm>
            <a:off x="8503920" y="1115568"/>
            <a:ext cx="3154680" cy="411480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6264C5-6F0E-1D71-884E-81E6BECD800C}"/>
              </a:ext>
            </a:extLst>
          </p:cNvPr>
          <p:cNvSpPr/>
          <p:nvPr/>
        </p:nvSpPr>
        <p:spPr>
          <a:xfrm>
            <a:off x="8613648" y="1115568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E24E481-8276-6D7D-76AF-2B1DE5036D58}"/>
              </a:ext>
            </a:extLst>
          </p:cNvPr>
          <p:cNvSpPr/>
          <p:nvPr/>
        </p:nvSpPr>
        <p:spPr>
          <a:xfrm>
            <a:off x="502920" y="1527048"/>
            <a:ext cx="1115568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3A86315-E2F6-4991-B92D-49BA5FA32CA7}"/>
              </a:ext>
            </a:extLst>
          </p:cNvPr>
          <p:cNvSpPr/>
          <p:nvPr/>
        </p:nvSpPr>
        <p:spPr>
          <a:xfrm>
            <a:off x="612648" y="160020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latin typeface="Georgia" panose="02040502050405020303" pitchFamily="18" charset="0"/>
              </a:rPr>
              <a:t>Hybrid </a:t>
            </a:r>
            <a:r>
              <a:rPr lang="en-US" sz="1050" b="1" dirty="0" err="1">
                <a:latin typeface="Georgia" panose="02040502050405020303" pitchFamily="18" charset="0"/>
              </a:rPr>
              <a:t>Greylag</a:t>
            </a:r>
            <a:r>
              <a:rPr lang="en-US" sz="1050" b="1" dirty="0">
                <a:latin typeface="Georgia" panose="02040502050405020303" pitchFamily="18" charset="0"/>
              </a:rPr>
              <a:t> Goose Deep Learning for Women Nutrition Recommendation During Menstrual Cycle (2025) Logapriya et al., Scientific Reports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50EDA3-FCBF-F6E2-5B86-6456F6FCC498}"/>
              </a:ext>
            </a:extLst>
          </p:cNvPr>
          <p:cNvSpPr/>
          <p:nvPr/>
        </p:nvSpPr>
        <p:spPr>
          <a:xfrm>
            <a:off x="2834640" y="1600200"/>
            <a:ext cx="267919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Optimization Hybrid DL (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OdriHDL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missing-value imputation, Z-score normalization, one-hot encoding → Layered Sparse Autoencoder (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LSAENet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) feature extraction → Hybrid Attention-based 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BiConv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-GRU (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HABi-ConGRNet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) classifier → 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Greylag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Goose Optimization (GGOA) for hyperparameter tuning; 2,000 samples (expert consultation + open-source/Kaggle data); 80/20 train-test split.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D29190-C9B5-A91F-CA12-E4824F9024E2}"/>
              </a:ext>
            </a:extLst>
          </p:cNvPr>
          <p:cNvSpPr/>
          <p:nvPr/>
        </p:nvSpPr>
        <p:spPr>
          <a:xfrm>
            <a:off x="5733288" y="160020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Accuracy 97.52%, Precision 97.82%, Recall 96.91%, Specificity 97.41%, F1-score 97.36%; MAE 0.17, MSE 0.29, RMSE 0.5385, R² 0.96; outperforms RNN (89.42%), CNN-LSTM (92.34%), CNN-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BiLSTM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(95%), attention-GRU (96.23%)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3DA071-F259-57E5-CE99-D27806A2AFEC}"/>
              </a:ext>
            </a:extLst>
          </p:cNvPr>
          <p:cNvSpPr/>
          <p:nvPr/>
        </p:nvSpPr>
        <p:spPr>
          <a:xfrm>
            <a:off x="8613648" y="1655064"/>
            <a:ext cx="2751038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Reliance on a limited, curated dataset (2,000 samples) restricts generalizability across diverse users; high model complexity limits interpretability and real-world/everyday implementation</a:t>
            </a:r>
            <a:r>
              <a:rPr lang="en-US" sz="93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A687DC1-DE5C-A5FF-9206-960C8CE98643}"/>
              </a:ext>
            </a:extLst>
          </p:cNvPr>
          <p:cNvSpPr/>
          <p:nvPr/>
        </p:nvSpPr>
        <p:spPr>
          <a:xfrm>
            <a:off x="502920" y="303580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7E82252-9586-28C3-0B4F-AD67618A2EB8}"/>
              </a:ext>
            </a:extLst>
          </p:cNvPr>
          <p:cNvSpPr/>
          <p:nvPr/>
        </p:nvSpPr>
        <p:spPr>
          <a:xfrm>
            <a:off x="533400" y="3035808"/>
            <a:ext cx="11155680" cy="1508760"/>
          </a:xfrm>
          <a:prstGeom prst="rect">
            <a:avLst/>
          </a:prstGeom>
          <a:solidFill>
            <a:srgbClr val="F6F6F4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1AFEB2D-8651-2020-C63C-2180A8B183D3}"/>
              </a:ext>
            </a:extLst>
          </p:cNvPr>
          <p:cNvSpPr/>
          <p:nvPr/>
        </p:nvSpPr>
        <p:spPr>
          <a:xfrm>
            <a:off x="612648" y="310896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5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Effects of Menstrual Cycle Phase on Exercise Performance in Eumenorrheic Women (2020)McNulty et al., Sports Medicine</a:t>
            </a:r>
            <a:endParaRPr lang="en-US" sz="1050" b="1" dirty="0">
              <a:latin typeface="Georgia" panose="02040502050405020303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DC00043-37D5-3F05-A467-C1E213989A9C}"/>
              </a:ext>
            </a:extLst>
          </p:cNvPr>
          <p:cNvSpPr/>
          <p:nvPr/>
        </p:nvSpPr>
        <p:spPr>
          <a:xfrm>
            <a:off x="2852928" y="310896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PRISMA systematic review + Bayesian meta-analysis; 4 databases searched (to April 2020); pairwise meta-analysis (51 studies: early follicular vs. all other phases) plus network meta-analysis (73 studies, all 6 phases, direct + indirect comparisons); quality rated via modified Downs &amp; Black checklist + GRADE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523EDA-73F3-FBC4-92B9-FA9FF98B9D39}"/>
              </a:ext>
            </a:extLst>
          </p:cNvPr>
          <p:cNvSpPr/>
          <p:nvPr/>
        </p:nvSpPr>
        <p:spPr>
          <a:xfrm>
            <a:off x="5733288" y="310896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Pooled effect trivial: ES=−0.06 [95% 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CrI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−0.16, 0.04]; largest phase gap (early vs. late follicular) ES=−0.14 [−0.26, −0.03]; SUCRA 30% (early follicular) vs. 53–55% (other phases); evidence quality mostly "low" (only 8% high, 24% moderate)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EF39D9-F4CE-0C60-33C8-9BCA7FE640BF}"/>
              </a:ext>
            </a:extLst>
          </p:cNvPr>
          <p:cNvSpPr/>
          <p:nvPr/>
        </p:nvSpPr>
        <p:spPr>
          <a:xfrm>
            <a:off x="8613648" y="3108960"/>
            <a:ext cx="293522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Large between-study variance; most of the 78 studies inadequately verified MC phase (only 59% confirmed via serum hormones); highly heterogeneous participants (sedentary to elite) and outcome measures; effect too small/variable to support general guidelines</a:t>
            </a:r>
            <a:r>
              <a:rPr lang="en-US" sz="93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3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FCB2CFF-CD87-66E8-63E4-ACD28D7E8AD7}"/>
              </a:ext>
            </a:extLst>
          </p:cNvPr>
          <p:cNvSpPr/>
          <p:nvPr/>
        </p:nvSpPr>
        <p:spPr>
          <a:xfrm>
            <a:off x="502920" y="454456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C62DFC8-F4E2-C952-C15A-B0A678A2BEF3}"/>
              </a:ext>
            </a:extLst>
          </p:cNvPr>
          <p:cNvSpPr/>
          <p:nvPr/>
        </p:nvSpPr>
        <p:spPr>
          <a:xfrm>
            <a:off x="502920" y="4544568"/>
            <a:ext cx="1115568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FECE1CE-7F7D-1AA5-03B4-9AB23422850A}"/>
              </a:ext>
            </a:extLst>
          </p:cNvPr>
          <p:cNvSpPr/>
          <p:nvPr/>
        </p:nvSpPr>
        <p:spPr>
          <a:xfrm>
            <a:off x="612648" y="4617720"/>
            <a:ext cx="211226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50" b="1" dirty="0">
                <a:solidFill>
                  <a:srgbClr val="1C1C1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Evaluation of Menstrual Health Apps' Functionality, Inclusiveness, and Health Education Information (2025)Bucher et al., BMC Women's Health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A945B7-A192-70CB-2D09-24AEDFE489BA}"/>
              </a:ext>
            </a:extLst>
          </p:cNvPr>
          <p:cNvSpPr/>
          <p:nvPr/>
        </p:nvSpPr>
        <p:spPr>
          <a:xfrm>
            <a:off x="2834640" y="4617720"/>
            <a:ext cx="267919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Descriptive review; searched Apple/Google app stores (3 terms) → 60 apps → 14 met inclusion criteria; two reviewers independently scored each app on an adapted Mobile Application Rating Scale (</a:t>
            </a:r>
            <a:r>
              <a:rPr lang="en-US" sz="1000" dirty="0" err="1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mMARS</a:t>
            </a: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) across functionality, inclusiveness, and health-education domains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7FEC1E4-E355-9EF6-8DC7-0B1D3966549D}"/>
              </a:ext>
            </a:extLst>
          </p:cNvPr>
          <p:cNvSpPr/>
          <p:nvPr/>
        </p:nvSpPr>
        <p:spPr>
          <a:xfrm>
            <a:off x="5733288" y="4617720"/>
            <a:ext cx="266090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Mean score 35.93/59 (SD 9.35), top app (Period Tracker-Eve) scored 49/59; 100% had cycle/symptom tracking (mean 17.5 symptoms, SD 5.44); only 42.9% cited medical literature; 71.4% shared user data with third parties.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47B4CB5-24D4-FBA3-5397-AA824A6FC77B}"/>
              </a:ext>
            </a:extLst>
          </p:cNvPr>
          <p:cNvSpPr/>
          <p:nvPr/>
        </p:nvSpPr>
        <p:spPr>
          <a:xfrm>
            <a:off x="8613648" y="4617720"/>
            <a:ext cx="2935224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000" dirty="0"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Only 14 free, English-language, U.S.-store apps reviewed (limited scope); no healthcare professional involvement in app design; no app used validated symptom-measurement tools; privacy/data-sharing policies not always transparent despite high sharing rates; accessibility for users with disabilities and handling of cycle irregularity not evaluated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C683688-1A3A-C054-F2E9-463464B3D93A}"/>
              </a:ext>
            </a:extLst>
          </p:cNvPr>
          <p:cNvSpPr/>
          <p:nvPr/>
        </p:nvSpPr>
        <p:spPr>
          <a:xfrm>
            <a:off x="502920" y="6053328"/>
            <a:ext cx="11155680" cy="0"/>
          </a:xfrm>
          <a:prstGeom prst="line">
            <a:avLst/>
          </a:prstGeom>
          <a:noFill/>
          <a:ln w="9525">
            <a:solidFill>
              <a:srgbClr val="E3E3E0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3DA6CD5-03D0-A76B-ED70-F0A6A90F2CF9}"/>
              </a:ext>
            </a:extLst>
          </p:cNvPr>
          <p:cNvSpPr/>
          <p:nvPr/>
        </p:nvSpPr>
        <p:spPr>
          <a:xfrm>
            <a:off x="502920" y="1115568"/>
            <a:ext cx="11155680" cy="4937760"/>
          </a:xfrm>
          <a:prstGeom prst="rect">
            <a:avLst/>
          </a:prstGeom>
          <a:ln w="9525">
            <a:solidFill>
              <a:srgbClr val="E3E3E0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C6DCA2-7B2D-4CD7-DF15-D7C06B7EBBB7}"/>
              </a:ext>
            </a:extLst>
          </p:cNvPr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72842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1800</Words>
  <Application>Microsoft Office PowerPoint</Application>
  <PresentationFormat>Widescreen</PresentationFormat>
  <Paragraphs>84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Neha Jose</cp:lastModifiedBy>
  <cp:revision>5</cp:revision>
  <dcterms:created xsi:type="dcterms:W3CDTF">2026-07-28T03:11:21Z</dcterms:created>
  <dcterms:modified xsi:type="dcterms:W3CDTF">2026-07-28T07:48:15Z</dcterms:modified>
</cp:coreProperties>
</file>